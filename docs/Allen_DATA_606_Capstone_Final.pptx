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a74b49d-6048-1e04-a0d4-ea5f61dc3faf}">
          <p14:sldIdLst>
            <p14:sldId id="256"/>
            <p14:sldId id="257"/>
          </p14:sldIdLst>
        </p14:section>
        <p14:section name="HEAR" id="{3cce00cb-bc9b-6f8d-8c05-ef96c252374c}">
          <p14:sldIdLst>
            <p14:sldId id="258"/>
            <p14:sldId id="259"/>
            <p14:sldId id="260"/>
            <p14:sldId id="261"/>
          </p14:sldIdLst>
        </p14:section>
        <p14:section name="UNDERSTAND" id="{c106cc14-912d-2812-9613-40e77f07431d}">
          <p14:sldIdLst>
            <p14:sldId id="262"/>
            <p14:sldId id="263"/>
          </p14:sldIdLst>
        </p14:section>
        <p14:section name="COMPARE" id="{2151b12e-d61e-1a5a-9fee-a043b78e222f}">
          <p14:sldIdLst>
            <p14:sldId id="264"/>
            <p14:sldId id="265"/>
            <p14:sldId id="266"/>
            <p14:sldId id="267"/>
          </p14:sldIdLst>
        </p14:section>
        <p14:section name="ASSIST" id="{22267e25-c800-5772-55ea-1d0dc0d1ccf7}">
          <p14:sldIdLst>
            <p14:sldId id="268"/>
            <p14:sldId id="269"/>
          </p14:sldIdLst>
        </p14:section>
        <p14:section name="Wrap-up" id="{32637926-cefe-5de0-732a-6cce58a5cf52}">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Real (ATC-ASR-Dataset)</c:v>
                </c:pt>
              </c:strCache>
            </c:strRef>
          </c:tx>
          <c:spPr>
            <a:solidFill>
              <a:srgbClr val="0097A7"/>
            </a:solidFill>
            <a:effectLst/>
          </c:spPr>
          <c:invertIfNegative val="0"/>
          <c:dLbls>
            <c:numFmt formatCode="#,##0"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cat>
            <c:multiLvlStrRef>
              <c:f>Sheet1!$A$2:$A$3</c:f>
              <c:multiLvlStrCache>
                <c:ptCount val="2"/>
                <c:lvl>
                  <c:pt idx="0">
                    <c:v>Spectral centroid (Hz)</c:v>
                  </c:pt>
                  <c:pt idx="1">
                    <c:v>Spectral bandwidth (Hz)</c:v>
                  </c:pt>
                </c:lvl>
              </c:multiLvlStrCache>
            </c:multiLvlStrRef>
          </c:cat>
          <c:val>
            <c:numRef>
              <c:f>Sheet1!$B$2:$B$3</c:f>
              <c:numCache>
                <c:formatCode>General</c:formatCode>
                <c:ptCount val="2"/>
                <c:pt idx="0">
                  <c:v>1460</c:v>
                </c:pt>
                <c:pt idx="1">
                  <c:v>1087</c:v>
                </c:pt>
              </c:numCache>
            </c:numRef>
          </c:val>
        </c:ser>
        <c:ser>
          <c:idx val="1"/>
          <c:order val="1"/>
          <c:tx>
            <c:strRef>
              <c:f>Sheet1!$C$1</c:f>
              <c:strCache>
                <c:ptCount val="1"/>
                <c:pt idx="0">
                  <c:v>Simulated (ATCOSIM)</c:v>
                </c:pt>
              </c:strCache>
            </c:strRef>
          </c:tx>
          <c:spPr>
            <a:solidFill>
              <a:srgbClr val="8DA2B3"/>
            </a:solidFill>
            <a:effectLst/>
          </c:spPr>
          <c:invertIfNegative val="0"/>
          <c:dLbls>
            <c:numFmt formatCode="#,##0"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cat>
            <c:multiLvlStrRef>
              <c:f>Sheet1!$A$2:$A$3</c:f>
              <c:multiLvlStrCache>
                <c:ptCount val="2"/>
                <c:lvl>
                  <c:pt idx="0">
                    <c:v>Spectral centroid (Hz)</c:v>
                  </c:pt>
                  <c:pt idx="1">
                    <c:v>Spectral bandwidth (Hz)</c:v>
                  </c:pt>
                </c:lvl>
              </c:multiLvlStrCache>
            </c:multiLvlStrRef>
          </c:cat>
          <c:val>
            <c:numRef>
              <c:f>Sheet1!$C$2:$C$3</c:f>
              <c:numCache>
                <c:formatCode>General</c:formatCode>
                <c:ptCount val="2"/>
                <c:pt idx="0">
                  <c:v>2777</c:v>
                </c:pt>
                <c:pt idx="1">
                  <c:v>1657</c:v>
                </c:pt>
              </c:numCache>
            </c:numRef>
          </c:val>
        </c:ser>
        <c:dLbls>
          <c:numFmt formatCode="#,##0"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84957"/>
                </a:solidFill>
                <a:latin typeface="Arial"/>
              </a:defRPr>
            </a:pPr>
            <a:endParaRPr lang="en-US"/>
          </a:p>
        </c:txPr>
        <c:crossAx val="2094734552"/>
        <c:crosses val="autoZero"/>
        <c:auto val="1"/>
        <c:lblAlgn val="ctr"/>
        <c:noMultiLvlLbl val="1"/>
      </c:catAx>
      <c:valAx>
        <c:axId val="2094734552"/>
        <c:scaling>
          <c:orientation val="minMax"/>
          <c:max val="3200"/>
          <c:min val="0"/>
        </c:scaling>
        <c:delete val="0"/>
        <c:axPos val="l"/>
        <c:majorGridlines>
          <c:spPr>
            <a:ln w="6350" cap="flat">
              <a:solidFill>
                <a:srgbClr val="E3EA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B6B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84957"/>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Real (ATC-ASR-Dataset)</c:v>
                </c:pt>
              </c:strCache>
            </c:strRef>
          </c:tx>
          <c:spPr>
            <a:solidFill>
              <a:srgbClr val="0097A7"/>
            </a:solidFill>
            <a:effectLst/>
          </c:spPr>
          <c:invertIfNegative val="0"/>
          <c:dLbls>
            <c:numFmt formatCode="0.0&quot;%&quot;"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cat>
            <c:multiLvlStrRef>
              <c:f>Sheet1!$A$2:$A$3</c:f>
              <c:multiLvlStrCache>
                <c:ptCount val="2"/>
                <c:lvl>
                  <c:pt idx="0">
                    <c:v>Rows with a repeated transcript</c:v>
                  </c:pt>
                  <c:pt idx="1">
                    <c:v>Rows with no command verb</c:v>
                  </c:pt>
                </c:lvl>
              </c:multiLvlStrCache>
            </c:multiLvlStrRef>
          </c:cat>
          <c:val>
            <c:numRef>
              <c:f>Sheet1!$B$2:$B$3</c:f>
              <c:numCache>
                <c:formatCode>General</c:formatCode>
                <c:ptCount val="2"/>
                <c:pt idx="0">
                  <c:v>8.2</c:v>
                </c:pt>
                <c:pt idx="1">
                  <c:v>54.8</c:v>
                </c:pt>
              </c:numCache>
            </c:numRef>
          </c:val>
        </c:ser>
        <c:ser>
          <c:idx val="1"/>
          <c:order val="1"/>
          <c:tx>
            <c:strRef>
              <c:f>Sheet1!$C$1</c:f>
              <c:strCache>
                <c:ptCount val="1"/>
                <c:pt idx="0">
                  <c:v>Simulated (ATCOSIM)</c:v>
                </c:pt>
              </c:strCache>
            </c:strRef>
          </c:tx>
          <c:spPr>
            <a:solidFill>
              <a:srgbClr val="8DA2B3"/>
            </a:solidFill>
            <a:effectLst/>
          </c:spPr>
          <c:invertIfNegative val="0"/>
          <c:dLbls>
            <c:numFmt formatCode="0.0&quot;%&quot;"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cat>
            <c:multiLvlStrRef>
              <c:f>Sheet1!$A$2:$A$3</c:f>
              <c:multiLvlStrCache>
                <c:ptCount val="2"/>
                <c:lvl>
                  <c:pt idx="0">
                    <c:v>Rows with a repeated transcript</c:v>
                  </c:pt>
                  <c:pt idx="1">
                    <c:v>Rows with no command verb</c:v>
                  </c:pt>
                </c:lvl>
              </c:multiLvlStrCache>
            </c:multiLvlStrRef>
          </c:cat>
          <c:val>
            <c:numRef>
              <c:f>Sheet1!$C$2:$C$3</c:f>
              <c:numCache>
                <c:formatCode>General</c:formatCode>
                <c:ptCount val="2"/>
                <c:pt idx="0">
                  <c:v>31.6</c:v>
                </c:pt>
                <c:pt idx="1">
                  <c:v>25.7</c:v>
                </c:pt>
              </c:numCache>
            </c:numRef>
          </c:val>
        </c:ser>
        <c:dLbls>
          <c:numFmt formatCode="0.0&quot;%&quot;"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84957"/>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E3EAF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B6B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84957"/>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Real-audio WER (%)</c:v>
                </c:pt>
              </c:strCache>
            </c:strRef>
          </c:tx>
          <c:spPr>
            <a:solidFill>
              <a:srgbClr val="8DA2B3"/>
            </a:solidFill>
            <a:effectLst/>
          </c:spPr>
          <c:invertIfNegative val="0"/>
          <c:dLbls>
            <c:numFmt formatCode="0.0&quot;%&quot;"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dPt>
            <c:idx val="0"/>
            <c:invertIfNegative val="0"/>
            <c:bubble3D val="0"/>
            <c:spPr>
              <a:solidFill>
                <a:srgbClr val="8DA2B3"/>
              </a:solidFill>
              <a:effectLst/>
            </c:spPr>
          </c:dPt>
          <c:dPt>
            <c:idx val="1"/>
            <c:invertIfNegative val="0"/>
            <c:bubble3D val="0"/>
            <c:spPr>
              <a:solidFill>
                <a:srgbClr val="8DA2B3"/>
              </a:solidFill>
              <a:effectLst/>
            </c:spPr>
          </c:dPt>
          <c:dPt>
            <c:idx val="2"/>
            <c:invertIfNegative val="0"/>
            <c:bubble3D val="0"/>
            <c:spPr>
              <a:solidFill>
                <a:srgbClr val="8DA2B3"/>
              </a:solidFill>
              <a:effectLst/>
            </c:spPr>
          </c:dPt>
          <c:dPt>
            <c:idx val="3"/>
            <c:invertIfNegative val="0"/>
            <c:bubble3D val="0"/>
            <c:spPr>
              <a:solidFill>
                <a:srgbClr val="8DA2B3"/>
              </a:solidFill>
              <a:effectLst/>
            </c:spPr>
          </c:dPt>
          <c:dPt>
            <c:idx val="4"/>
            <c:invertIfNegative val="0"/>
            <c:bubble3D val="0"/>
            <c:spPr>
              <a:solidFill>
                <a:srgbClr val="8DA2B3"/>
              </a:solidFill>
              <a:effectLst/>
            </c:spPr>
          </c:dPt>
          <c:dPt>
            <c:idx val="5"/>
            <c:invertIfNegative val="0"/>
            <c:bubble3D val="0"/>
            <c:spPr>
              <a:solidFill>
                <a:srgbClr val="0097A7"/>
              </a:solidFill>
              <a:effectLst/>
            </c:spPr>
          </c:dPt>
          <c:cat>
            <c:multiLvlStrRef>
              <c:f>Sheet1!$A$2:$A$7</c:f>
              <c:multiLvlStrCache>
                <c:ptCount val="6"/>
                <c:lvl>
                  <c:pt idx="0">
                    <c:v>small.en zero-shot</c:v>
                  </c:pt>
                  <c:pt idx="1">
                    <c:v>medium.en zero-shot</c:v>
                  </c:pt>
                  <c:pt idx="2">
                    <c:v>Off-the-shelf ATC</c:v>
                  </c:pt>
                  <c:pt idx="3">
                    <c:v>small.en 3 ep</c:v>
                  </c:pt>
                  <c:pt idx="4">
                    <c:v>small.en 8 ep</c:v>
                  </c:pt>
                  <c:pt idx="5">
                    <c:v>medium.en + LoRA</c:v>
                  </c:pt>
                </c:lvl>
              </c:multiLvlStrCache>
            </c:multiLvlStrRef>
          </c:cat>
          <c:val>
            <c:numRef>
              <c:f>Sheet1!$B$2:$B$7</c:f>
              <c:numCache>
                <c:formatCode>General</c:formatCode>
                <c:ptCount val="6"/>
                <c:pt idx="0">
                  <c:v>61.3</c:v>
                </c:pt>
                <c:pt idx="1">
                  <c:v>53.6</c:v>
                </c:pt>
                <c:pt idx="2">
                  <c:v>9.1</c:v>
                </c:pt>
                <c:pt idx="3">
                  <c:v>10.9</c:v>
                </c:pt>
                <c:pt idx="4">
                  <c:v>9.7</c:v>
                </c:pt>
                <c:pt idx="5">
                  <c:v>7.5</c:v>
                </c:pt>
              </c:numCache>
            </c:numRef>
          </c:val>
        </c:ser>
        <c:dLbls>
          <c:numFmt formatCode="0.0&quot;%&quot;"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84957"/>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E3EAF0"/>
              </a:solidFill>
              <a:prstDash val="solid"/>
              <a:round/>
            </a:ln>
          </c:spPr>
        </c:majorGridlines>
        <c:title>
          <c:tx>
            <c:rich>
              <a:bodyPr/>
              <a:lstStyle/>
              <a:p>
                <a:pPr>
                  <a:defRPr sz="1000" b="0" i="0" u="none" strike="noStrike">
                    <a:solidFill>
                      <a:srgbClr val="5B6B78"/>
                    </a:solidFill>
                    <a:latin typeface="Arial"/>
                  </a:defRPr>
                </a:pPr>
                <a:r>
                  <a:rPr sz="1000" b="0" i="0" u="none" strike="noStrike">
                    <a:solidFill>
                      <a:srgbClr val="5B6B78"/>
                    </a:solidFill>
                    <a:latin typeface="Arial"/>
                  </a:rPr>
                  <a:t>Real-audio WER, 813 test utterances</a:t>
                </a:r>
              </a:p>
            </c:rich>
          </c:tx>
          <c:layout/>
          <c:overlay val="0"/>
        </c:title>
        <c:numFmt formatCode="0&quot;%&quot;" sourceLinked="0"/>
        <c:majorTickMark val="out"/>
        <c:minorTickMark val="none"/>
        <c:tickLblPos val="nextTo"/>
        <c:spPr>
          <a:ln w="12700" cap="flat">
            <a:noFill/>
            <a:prstDash val="solid"/>
            <a:round/>
          </a:ln>
        </c:spPr>
        <c:txPr>
          <a:bodyPr/>
          <a:lstStyle/>
          <a:p>
            <a:pPr>
              <a:defRPr sz="1000" b="0" i="0" u="none" strike="noStrike">
                <a:solidFill>
                  <a:srgbClr val="5B6B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B6B78"/>
                </a:solidFill>
                <a:latin typeface="Arial"/>
              </a:defRPr>
            </a:pPr>
            <a:r>
              <a:rPr sz="1100" b="0" i="0" u="none" strike="noStrike">
                <a:solidFill>
                  <a:srgbClr val="5B6B78"/>
                </a:solidFill>
                <a:latin typeface="Arial"/>
              </a:rPr>
              <a:t>Held-out span F1 by label (LLM teacher, n=100)</a:t>
            </a:r>
          </a:p>
        </c:rich>
      </c:tx>
      <c:layout/>
      <c:overlay val="0"/>
    </c:title>
    <c:autoTitleDeleted val="0"/>
    <c:plotArea>
      <c:layout/>
      <c:barChart>
        <c:barDir val="bar"/>
        <c:grouping val="clustered"/>
        <c:varyColors val="0"/>
        <c:ser>
          <c:idx val="0"/>
          <c:order val="0"/>
          <c:tx>
            <c:strRef>
              <c:f>Sheet1!$B$1</c:f>
              <c:strCache>
                <c:ptCount val="1"/>
                <c:pt idx="0">
                  <c:v>Held-out span F1</c:v>
                </c:pt>
              </c:strCache>
            </c:strRef>
          </c:tx>
          <c:spPr>
            <a:solidFill>
              <a:srgbClr val="0097A7"/>
            </a:solidFill>
            <a:effectLst/>
          </c:spPr>
          <c:invertIfNegative val="0"/>
          <c:dLbls>
            <c:numFmt formatCode="0.000"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dPt>
            <c:idx val="0"/>
            <c:invertIfNegative val="0"/>
            <c:bubble3D val="0"/>
            <c:spPr>
              <a:solidFill>
                <a:srgbClr val="0097A7"/>
              </a:solidFill>
              <a:effectLst/>
            </c:spPr>
          </c:dPt>
          <c:dPt>
            <c:idx val="1"/>
            <c:invertIfNegative val="0"/>
            <c:bubble3D val="0"/>
            <c:spPr>
              <a:solidFill>
                <a:srgbClr val="0097A7"/>
              </a:solidFill>
              <a:effectLst/>
            </c:spPr>
          </c:dPt>
          <c:dPt>
            <c:idx val="2"/>
            <c:invertIfNegative val="0"/>
            <c:bubble3D val="0"/>
            <c:spPr>
              <a:solidFill>
                <a:srgbClr val="0097A7"/>
              </a:solidFill>
              <a:effectLst/>
            </c:spPr>
          </c:dPt>
          <c:dPt>
            <c:idx val="3"/>
            <c:invertIfNegative val="0"/>
            <c:bubble3D val="0"/>
            <c:spPr>
              <a:solidFill>
                <a:srgbClr val="0097A7"/>
              </a:solidFill>
              <a:effectLst/>
            </c:spPr>
          </c:dPt>
          <c:dPt>
            <c:idx val="4"/>
            <c:invertIfNegative val="0"/>
            <c:bubble3D val="0"/>
            <c:spPr>
              <a:solidFill>
                <a:srgbClr val="8DA2B3"/>
              </a:solidFill>
              <a:effectLst/>
            </c:spPr>
          </c:dPt>
          <c:dPt>
            <c:idx val="5"/>
            <c:invertIfNegative val="0"/>
            <c:bubble3D val="0"/>
            <c:spPr>
              <a:solidFill>
                <a:srgbClr val="8DA2B3"/>
              </a:solidFill>
              <a:effectLst/>
            </c:spPr>
          </c:dPt>
          <c:dPt>
            <c:idx val="6"/>
            <c:invertIfNegative val="0"/>
            <c:bubble3D val="0"/>
            <c:spPr>
              <a:solidFill>
                <a:srgbClr val="8DA2B3"/>
              </a:solidFill>
              <a:effectLst/>
            </c:spPr>
          </c:dPt>
          <c:cat>
            <c:multiLvlStrRef>
              <c:f>Sheet1!$A$2:$A$8</c:f>
              <c:multiLvlStrCache>
                <c:ptCount val="7"/>
                <c:lvl>
                  <c:pt idx="0">
                    <c:v>RUNWAY</c:v>
                  </c:pt>
                  <c:pt idx="1">
                    <c:v>ALTITUDE</c:v>
                  </c:pt>
                  <c:pt idx="2">
                    <c:v>COMMAND</c:v>
                  </c:pt>
                  <c:pt idx="3">
                    <c:v>CALLSIGN</c:v>
                  </c:pt>
                  <c:pt idx="4">
                    <c:v>FACILITY</c:v>
                  </c:pt>
                  <c:pt idx="5">
                    <c:v>FREQUENCY</c:v>
                  </c:pt>
                  <c:pt idx="6">
                    <c:v>WAYPOINT</c:v>
                  </c:pt>
                </c:lvl>
              </c:multiLvlStrCache>
            </c:multiLvlStrRef>
          </c:cat>
          <c:val>
            <c:numRef>
              <c:f>Sheet1!$B$2:$B$8</c:f>
              <c:numCache>
                <c:formatCode>General</c:formatCode>
                <c:ptCount val="7"/>
                <c:pt idx="0">
                  <c:v>1</c:v>
                </c:pt>
                <c:pt idx="1">
                  <c:v>0.939</c:v>
                </c:pt>
                <c:pt idx="2">
                  <c:v>0.918</c:v>
                </c:pt>
                <c:pt idx="3">
                  <c:v>0.91</c:v>
                </c:pt>
                <c:pt idx="4">
                  <c:v>0.817</c:v>
                </c:pt>
                <c:pt idx="5">
                  <c:v>0.757</c:v>
                </c:pt>
                <c:pt idx="6">
                  <c:v>0.735</c:v>
                </c:pt>
              </c:numCache>
            </c:numRef>
          </c:val>
        </c:ser>
        <c:dLbls>
          <c:numFmt formatCode="0.000"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84957"/>
                </a:solidFill>
                <a:latin typeface="Arial"/>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B6B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medium.en + LoRA (selected)</c:v>
                </c:pt>
              </c:strCache>
            </c:strRef>
          </c:tx>
          <c:spPr>
            <a:solidFill>
              <a:srgbClr val="0097A7"/>
            </a:solidFill>
            <a:effectLst/>
          </c:spPr>
          <c:invertIfNegative val="0"/>
          <c:dLbls>
            <c:numFmt formatCode="0" sourceLinked="0"/>
            <c:txPr>
              <a:bodyPr/>
              <a:lstStyle/>
              <a:p>
                <a:pPr>
                  <a:defRPr b="0" i="0" strike="noStrike" sz="1000" u="none">
                    <a:solidFill>
                      <a:srgbClr val="384957"/>
                    </a:solidFill>
                    <a:latin typeface="Arial"/>
                  </a:defRPr>
                </a:pPr>
              </a:p>
            </c:txPr>
            <c:showLegendKey val="0"/>
            <c:showVal val="1"/>
            <c:showCatName val="0"/>
            <c:showSerName val="0"/>
            <c:showPercent val="0"/>
            <c:showBubbleSize val="0"/>
            <c:showLeaderLines val="0"/>
          </c:dLbls>
          <c:cat>
            <c:multiLvlStrRef>
              <c:f>Sheet1!$A$2:$A$6</c:f>
              <c:multiLvlStrCache>
                <c:ptCount val="5"/>
                <c:lvl>
                  <c:pt idx="0">
                    <c:v>CALLSIGN</c:v>
                  </c:pt>
                  <c:pt idx="1">
                    <c:v>COMMAND</c:v>
                  </c:pt>
                  <c:pt idx="2">
                    <c:v>ALTITUDE</c:v>
                  </c:pt>
                  <c:pt idx="3">
                    <c:v>FREQUENCY</c:v>
                  </c:pt>
                  <c:pt idx="4">
                    <c:v>WAYPOINT</c:v>
                  </c:pt>
                </c:lvl>
              </c:multiLvlStrCache>
            </c:multiLvlStrRef>
          </c:cat>
          <c:val>
            <c:numRef>
              <c:f>Sheet1!$B$2:$B$6</c:f>
              <c:numCache>
                <c:formatCode>General</c:formatCode>
                <c:ptCount val="5"/>
                <c:pt idx="0">
                  <c:v>88.6</c:v>
                </c:pt>
                <c:pt idx="1">
                  <c:v>97.2</c:v>
                </c:pt>
                <c:pt idx="2">
                  <c:v>96.4</c:v>
                </c:pt>
                <c:pt idx="3">
                  <c:v>93.7</c:v>
                </c:pt>
                <c:pt idx="4">
                  <c:v>92.8</c:v>
                </c:pt>
              </c:numCache>
            </c:numRef>
          </c:val>
        </c:ser>
        <c:ser>
          <c:idx val="1"/>
          <c:order val="1"/>
          <c:tx>
            <c:strRef>
              <c:f>Sheet1!$C$1</c:f>
              <c:strCache>
                <c:ptCount val="1"/>
                <c:pt idx="0">
                  <c:v>Off-the-shelf ATC model</c:v>
                </c:pt>
              </c:strCache>
            </c:strRef>
          </c:tx>
          <c:spPr>
            <a:solidFill>
              <a:srgbClr val="8DA2B3"/>
            </a:solidFill>
            <a:effectLst/>
          </c:spPr>
          <c:invertIfNegative val="0"/>
          <c:dLbls>
            <c:numFmt formatCode="0" sourceLinked="0"/>
            <c:txPr>
              <a:bodyPr/>
              <a:lstStyle/>
              <a:p>
                <a:pPr>
                  <a:defRPr b="0" i="0" strike="noStrike" sz="1000" u="none">
                    <a:solidFill>
                      <a:srgbClr val="384957"/>
                    </a:solidFill>
                    <a:latin typeface="Arial"/>
                  </a:defRPr>
                </a:pPr>
              </a:p>
            </c:txPr>
            <c:showLegendKey val="0"/>
            <c:showVal val="1"/>
            <c:showCatName val="0"/>
            <c:showSerName val="0"/>
            <c:showPercent val="0"/>
            <c:showBubbleSize val="0"/>
            <c:showLeaderLines val="0"/>
          </c:dLbls>
          <c:cat>
            <c:multiLvlStrRef>
              <c:f>Sheet1!$A$2:$A$6</c:f>
              <c:multiLvlStrCache>
                <c:ptCount val="5"/>
                <c:lvl>
                  <c:pt idx="0">
                    <c:v>CALLSIGN</c:v>
                  </c:pt>
                  <c:pt idx="1">
                    <c:v>COMMAND</c:v>
                  </c:pt>
                  <c:pt idx="2">
                    <c:v>ALTITUDE</c:v>
                  </c:pt>
                  <c:pt idx="3">
                    <c:v>FREQUENCY</c:v>
                  </c:pt>
                  <c:pt idx="4">
                    <c:v>WAYPOINT</c:v>
                  </c:pt>
                </c:lvl>
              </c:multiLvlStrCache>
            </c:multiLvlStrRef>
          </c:cat>
          <c:val>
            <c:numRef>
              <c:f>Sheet1!$C$2:$C$6</c:f>
              <c:numCache>
                <c:formatCode>General</c:formatCode>
                <c:ptCount val="5"/>
                <c:pt idx="0">
                  <c:v>55.7</c:v>
                </c:pt>
                <c:pt idx="1">
                  <c:v>95.2</c:v>
                </c:pt>
                <c:pt idx="2">
                  <c:v>92.6</c:v>
                </c:pt>
                <c:pt idx="3">
                  <c:v>73.7</c:v>
                </c:pt>
                <c:pt idx="4">
                  <c:v>25.2</c:v>
                </c:pt>
              </c:numCache>
            </c:numRef>
          </c:val>
        </c:ser>
        <c:dLbls>
          <c:numFmt formatCode="0" sourceLinked="0"/>
          <c:txPr>
            <a:bodyPr/>
            <a:lstStyle/>
            <a:p>
              <a:pPr>
                <a:defRPr b="0" i="0" strike="noStrike" sz="1000" u="none">
                  <a:solidFill>
                    <a:srgbClr val="38495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84957"/>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3EAF0"/>
              </a:solidFill>
              <a:prstDash val="solid"/>
              <a:round/>
            </a:ln>
          </c:spPr>
        </c:majorGridlines>
        <c:title>
          <c:tx>
            <c:rich>
              <a:bodyPr/>
              <a:lstStyle/>
              <a:p>
                <a:pPr>
                  <a:defRPr sz="1000" b="0" i="0" u="none" strike="noStrike">
                    <a:solidFill>
                      <a:srgbClr val="5B6B78"/>
                    </a:solidFill>
                    <a:latin typeface="Arial"/>
                  </a:defRPr>
                </a:pPr>
                <a:r>
                  <a:rPr sz="1000" b="0" i="0" u="none" strike="noStrike">
                    <a:solidFill>
                      <a:srgbClr val="5B6B78"/>
                    </a:solidFill>
                    <a:latin typeface="Arial"/>
                  </a:rPr>
                  <a:t>Entity recall (%)</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B6B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84957"/>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Real audio</c:v>
                </c:pt>
              </c:strCache>
            </c:strRef>
          </c:tx>
          <c:spPr>
            <a:solidFill>
              <a:srgbClr val="0097A7"/>
            </a:solidFill>
            <a:effectLst/>
          </c:spPr>
          <c:invertIfNegative val="0"/>
          <c:dLbls>
            <c:numFmt formatCode="0.0"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cat>
            <c:multiLvlStrRef>
              <c:f>Sheet1!$A$2:$A$6</c:f>
              <c:multiLvlStrCache>
                <c:ptCount val="5"/>
                <c:lvl>
                  <c:pt idx="0">
                    <c:v>&lt; 2 s</c:v>
                  </c:pt>
                  <c:pt idx="1">
                    <c:v>2–3 s</c:v>
                  </c:pt>
                  <c:pt idx="2">
                    <c:v>3–4 s</c:v>
                  </c:pt>
                  <c:pt idx="3">
                    <c:v>4–6 s</c:v>
                  </c:pt>
                  <c:pt idx="4">
                    <c:v>6 s +</c:v>
                  </c:pt>
                </c:lvl>
              </c:multiLvlStrCache>
            </c:multiLvlStrRef>
          </c:cat>
          <c:val>
            <c:numRef>
              <c:f>Sheet1!$B$2:$B$6</c:f>
              <c:numCache>
                <c:formatCode>General</c:formatCode>
                <c:ptCount val="5"/>
                <c:pt idx="0">
                  <c:v>14.6</c:v>
                </c:pt>
                <c:pt idx="1">
                  <c:v>9.7</c:v>
                </c:pt>
                <c:pt idx="2">
                  <c:v>5.9</c:v>
                </c:pt>
                <c:pt idx="3">
                  <c:v>6.1</c:v>
                </c:pt>
                <c:pt idx="4">
                  <c:v>6.4</c:v>
                </c:pt>
              </c:numCache>
            </c:numRef>
          </c:val>
        </c:ser>
        <c:ser>
          <c:idx val="1"/>
          <c:order val="1"/>
          <c:tx>
            <c:strRef>
              <c:f>Sheet1!$C$1</c:f>
              <c:strCache>
                <c:ptCount val="1"/>
                <c:pt idx="0">
                  <c:v>Simulated audio</c:v>
                </c:pt>
              </c:strCache>
            </c:strRef>
          </c:tx>
          <c:spPr>
            <a:solidFill>
              <a:srgbClr val="8DA2B3"/>
            </a:solidFill>
            <a:effectLst/>
          </c:spPr>
          <c:invertIfNegative val="0"/>
          <c:dLbls>
            <c:numFmt formatCode="0.0"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cat>
            <c:multiLvlStrRef>
              <c:f>Sheet1!$A$2:$A$6</c:f>
              <c:multiLvlStrCache>
                <c:ptCount val="5"/>
                <c:lvl>
                  <c:pt idx="0">
                    <c:v>&lt; 2 s</c:v>
                  </c:pt>
                  <c:pt idx="1">
                    <c:v>2–3 s</c:v>
                  </c:pt>
                  <c:pt idx="2">
                    <c:v>3–4 s</c:v>
                  </c:pt>
                  <c:pt idx="3">
                    <c:v>4–6 s</c:v>
                  </c:pt>
                  <c:pt idx="4">
                    <c:v>6 s +</c:v>
                  </c:pt>
                </c:lvl>
              </c:multiLvlStrCache>
            </c:multiLvlStrRef>
          </c:cat>
          <c:val>
            <c:numRef>
              <c:f>Sheet1!$C$2:$C$6</c:f>
              <c:numCache>
                <c:formatCode>General</c:formatCode>
                <c:ptCount val="5"/>
                <c:pt idx="0">
                  <c:v>5.1</c:v>
                </c:pt>
                <c:pt idx="1">
                  <c:v>1.8</c:v>
                </c:pt>
                <c:pt idx="2">
                  <c:v>0.5</c:v>
                </c:pt>
                <c:pt idx="3">
                  <c:v>1</c:v>
                </c:pt>
                <c:pt idx="4">
                  <c:v>2.5</c:v>
                </c:pt>
              </c:numCache>
            </c:numRef>
          </c:val>
        </c:ser>
        <c:dLbls>
          <c:numFmt formatCode="0.0" sourceLinked="0"/>
          <c:txPr>
            <a:bodyPr/>
            <a:lstStyle/>
            <a:p>
              <a:pPr>
                <a:defRPr b="0" i="0" strike="noStrike" sz="1050" u="none">
                  <a:solidFill>
                    <a:srgbClr val="38495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84957"/>
                </a:solidFill>
                <a:latin typeface="Arial"/>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6350" cap="flat">
              <a:solidFill>
                <a:srgbClr val="E3EAF0"/>
              </a:solidFill>
              <a:prstDash val="solid"/>
              <a:round/>
            </a:ln>
          </c:spPr>
        </c:majorGridlines>
        <c:title>
          <c:tx>
            <c:rich>
              <a:bodyPr/>
              <a:lstStyle/>
              <a:p>
                <a:pPr>
                  <a:defRPr sz="1000" b="0" i="0" u="none" strike="noStrike">
                    <a:solidFill>
                      <a:srgbClr val="5B6B78"/>
                    </a:solidFill>
                    <a:latin typeface="Arial"/>
                  </a:defRPr>
                </a:pPr>
                <a:r>
                  <a:rPr sz="1000" b="0" i="0" u="none" strike="noStrike">
                    <a:solidFill>
                      <a:srgbClr val="5B6B78"/>
                    </a:solidFill>
                    <a:latin typeface="Arial"/>
                  </a:rPr>
                  <a:t>WER (%) by utterance duration</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B6B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84957"/>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Introduce yourself and the project in one sentence: I built and evaluated a pipeline that turns air traffic control radio audio into text and then into structured clearance information, and wrapped it in a prototype application. The talk follows four verbs: HEAR the audio, UNDERSTAND the text, COMPARE the models, ASSIST with an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Walk the four stages left to right, then the three research questions. Key framing: ATC is safety critical, and a transcript that looks 'mostly right' can still get a callsign or an altitude digit wrong, which is why this project evaluates by aviation entities as well as WER.
Transition: 'Let's start with what we are listening to: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Two corpora on purpose: real radio audio is the hard, operationally relevant target; simulated audio supplies training volume. Emphasize the leakage decision: the first real source overlapped with the second, so it was replaced, and ATCOSIM was re-split by recording session. The test set is 1,909 utterances, scored once per model.
Transition: 'Before modeling, EDA asked how different those two worlds really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Finding 1 of 3. Real audio is much narrower-band: mean spectral centroid is 1,460 Hz versus 2,777 Hz, consistent with the VHF radio channel. Real recordings also vary far more in energy. Modeling implication: always report real and simulated performance separately, because aggregating them hides the domain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Findings 2 and 3. Simulated audio repeats its phraseology (31.6% of rows have a repeated transcript versus 8.2% for real) and almost always contains a command verb. Real traffic has nearly twice the type-token ratio. Together with the acoustics, all angles agree: real audio is the harder, more varied target.
Transition: 'So how well can a model hear the real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This is the headline ASR result. Zero-shot medium.en is at 53.6% WER on real audio; the selected medium.en + LoRA model, trained on the full train split, reaches 7.5% real and 3.8% overall, scored once on all 1,909 test utterances. It beats the off-the-shelf ATC model on real audio by 1.5 points with a paired confidence interval that excludes zero. Be upfront about the caveat: that model's real-audio number may be inflated by train/test overlap that cannot be verified.
Transition: 'A transcript is only useful if we can pull the operational facts out of it, so next,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datasets have no entity labels, so labels were produced in stages. An LLM teacher labeled the whole corpus; cheap signals flagged the doubtful third, which was kept out of training; humans adjudicated the disagreements between two annotators to make a frozen held-out set; and a small spaCy student was trained on the curated labels so the app can run entity extraction on a CPU in about a millisecond. Nine labels: callsign, command, facility, altitude, heading, frequency, waypoint, runway, squawk.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Held-out F1 for the LLM teacher is 0.878 overall; per label, runway, altitude, command and callsign are above 0.9. The spaCy student chosen for the app scores 0.861, within noise of the teacher. Error examples: frequencies spoken as bare digit strings are missed; command and facility boundaries are genuinely ambiguous, so even two independent annotators agreed exactly on only about 60% of utterances. Heading and squawk have too few held-out spans to say anything about.
Transition: 'Now let's put all the ASR models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One table, six models. Read it top to bottom: zero-shot models are poor on real audio; the off-the-shelf ATC model is good on real audio but weak on simulated and on entities; fine-tuning on the full train split removes most error; medium.en with LoRA adapters (4.3% of parameters trained) is best on every accuracy column, at the cost of 239 minutes of training on an 8 GB laptop GPU. Point to the entity F1 and callsign columns as the lead-in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This is the slide that justifies the project's premise. The off-the-shelf ATC model and the selected model are close on real-audio WER (9.1% vs 7.5%), yet entity F1 is 0.754 versus 0.935; callsign recall is 0.557 versus 0.886 and waypoint recall is 0.252 versus 0.928. A callsign or a waypoint is exactly the kind of word an operator cannot afford to lose. Caveat to mention if asked: the reference entities come from the NER model itself, so a systematic NER bias would not show up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Left: three failure modes from the error taxonomy. Hallucination is a documented Whisper failure that persisted after fine-tuning; callsign garbling is the most operationally costly; the niner/nine issue is a scoring artifact rather than a recognition error. Right: error propagation. The NER was trained on clean reference text but in the app receives ASR output, so a 7.5% word error rate on real audio becomes 0.856 entity F1, and the NER will confidently tag a wrong digit. This is why the app presents results as research output, not as authoritative clearances.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RQ3. Recording origin matters most (7.5% vs 1.2%), and within real audio the shortest clips are hardest: 14.6% under two seconds versus about 6% beyond three. Entity-dense transmissions are actually easier, mostly because they are longer and give the model more context. Per-utterance correlations are weak (|rho| at most 0.17), and fine-tuning weakened the dependence on length. Label this as exploratory: it is correlational and relies on heuristic features like the SNR proxy.
Transition: 'Now, how do we put all of this in someone's hands? ASSIST.'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LIVE DEMO ~3:00] Key engineering result: CTranslate2 int8 with dynamic encoder windows is about 3.6x faster than a fixed 30 s window and showed no measurable accuracy loss on 300 paired utterances (-0.25 points, CI -0.70 to +0.22), so the app runs the medium model at about 0.7 s per clip on a CPU in 2.2 GB. Then switch to the live demo: pick a labeled sample clip, press Analyze, show the live word-synchronized transcript, the clearance card with entities, the Evidence tab (WER and entity F1 against ground truth) and the Models tab. If the demo fails, advance to the hidden backup slide (next) that has the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BACKUP SLIDE. Use only if the live demo fails. Narrate the same path: choose a sample, analyze, read the transcript and clearance card, then show the Evidence and Models tabs and the research-prototype disclaimer. In slideshow mode this slide is skipped; press the slide number then Enter, or unhide it, to jump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BACKUP SLIDE. Use if someone asks what a metric means. Plain-English definitions of every metric used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Answer each research question in one sentence, explicitly. RQ1: yes, once adapted to the domain. RQ2: yes for well-structured labels, less so for ambiguous ones. RQ3: recording origin and very short clips matter most; the rest is weak and exploratory.
Transition: 'Which brings me to what this does 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Be direct about limits. Representativeness: two corpora, limited airspace, no accent or speaker labels, so accent effects are untested rather than measured. Error propagation: entities amplify word errors and the NER cannot detect them. And the clear statement: ClearanceIQ is an academic prototype, not validated or intended for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See docs/final_presentation_prep.md for prepared answers on scope, bias, leakage, metrics and operational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7333D"/>
        </a:solidFill>
      </p:bgPr>
    </p:bg>
    <p:spTree>
      <p:nvGrpSpPr>
        <p:cNvPr id="1" name=""/>
        <p:cNvGrpSpPr/>
        <p:nvPr/>
      </p:nvGrpSpPr>
      <p:grpSpPr>
        <a:xfrm>
          <a:off x="0" y="0"/>
          <a:ext cx="0" cy="0"/>
          <a:chOff x="0" y="0"/>
          <a:chExt cx="0" cy="0"/>
        </a:xfrm>
      </p:grpSpPr>
      <p:pic>
        <p:nvPicPr>
          <p:cNvPr id="2" name="Image 0" descr="/tmp/claude-1000/-home-ballen-GitHub/a60f4648-d0b2-4569-b604-766a812fc390/scratchpad/ref/pu/ppt/media/image1.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7333D">
              <a:alpha val="58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rgbClr val="27333D"/>
        </a:solidFill>
      </p:bgPr>
    </p:bg>
    <p:spTree>
      <p:nvGrpSpPr>
        <p:cNvPr id="1" name=""/>
        <p:cNvGrpSpPr/>
        <p:nvPr/>
      </p:nvGrpSpPr>
      <p:grpSpPr>
        <a:xfrm>
          <a:off x="0" y="0"/>
          <a:ext cx="0" cy="0"/>
          <a:chOff x="0" y="0"/>
          <a:chExt cx="0" cy="0"/>
        </a:xfrm>
      </p:grpSpPr>
      <p:pic>
        <p:nvPicPr>
          <p:cNvPr id="2" name="Image 0" descr="/tmp/claude-1000/-home-ballen-GitHub/a60f4648-d0b2-4569-b604-766a812fc390/scratchpad/ref/pu/ppt/media/image20.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7333D">
              <a:alpha val="80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5943600" cy="274320"/>
          </a:xfrm>
          <a:prstGeom prst="rect">
            <a:avLst/>
          </a:prstGeom>
          <a:noFill/>
          <a:ln/>
        </p:spPr>
        <p:txBody>
          <a:bodyPr wrap="square" lIns="0" tIns="0" rIns="0" bIns="0" rtlCol="0" anchor="ctr"/>
          <a:lstStyle/>
          <a:p>
            <a:pPr indent="0" marL="0">
              <a:buNone/>
            </a:pPr>
            <a:r>
              <a:rPr lang="en-US" sz="900" dirty="0">
                <a:solidFill>
                  <a:srgbClr val="5B6B78"/>
                </a:solidFill>
                <a:latin typeface="Arial" pitchFamily="34" charset="0"/>
                <a:ea typeface="Arial" pitchFamily="34" charset="-122"/>
                <a:cs typeface="Arial" pitchFamily="34" charset="-120"/>
              </a:rPr>
              <a:t>Brett Allen  |  DATA 606 Capstone Final Presentation  |  UMBC, Fall 2026</a:t>
            </a:r>
            <a:endParaRPr lang="en-US" sz="900" dirty="0"/>
          </a:p>
        </p:txBody>
      </p:sp>
      <p:sp>
        <p:nvSpPr>
          <p:cNvPr id="3" name="Text 1"/>
          <p:cNvSpPr/>
          <p:nvPr>
            <p:ph idx="101" type="title" hasCustomPrompt="1"/>
          </p:nvPr>
        </p:nvSpPr>
        <p:spPr>
          <a:xfrm>
            <a:off x="457200" y="457200"/>
            <a:ext cx="8229600" cy="548640"/>
          </a:xfrm>
          <a:prstGeom prst="rect">
            <a:avLst/>
          </a:prstGeom>
          <a:noFill/>
          <a:ln/>
        </p:spPr>
        <p:txBody>
          <a:bodyPr wrap="square" rtlCol="0"/>
          <a:lstStyle>
            <a:lvl1pPr indent="0" marL="0">
              <a:buNone/>
              <a:defRPr lang="en-US" sz="2400" b="1" dirty="0">
                <a:solidFill>
                  <a:srgbClr val="384957"/>
                </a:solidFill>
                <a:latin typeface="Arial" pitchFamily="34" charset="0"/>
                <a:ea typeface="Arial" pitchFamily="34" charset="-122"/>
                <a:cs typeface="Arial" pitchFamily="34" charset="-120"/>
              </a:defRPr>
            </a:lvl1pPr>
          </a:lstStyle>
          <a:p>
            <a:pPr indent="0" marL="0">
              <a:buNone/>
            </a:pPr>
            <a:endParaRPr lang="en-US" sz="24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8046720"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ATC COMMUNICATION INTELLIGENCE</a:t>
            </a:r>
            <a:endParaRPr lang="en-US" sz="3000" dirty="0"/>
          </a:p>
        </p:txBody>
      </p:sp>
      <p:sp>
        <p:nvSpPr>
          <p:cNvPr id="3" name="Text 1"/>
          <p:cNvSpPr txBox="1"/>
          <p:nvPr/>
        </p:nvSpPr>
        <p:spPr>
          <a:xfrm>
            <a:off x="548640" y="2103120"/>
            <a:ext cx="8046720" cy="411480"/>
          </a:xfrm>
          <a:prstGeom prst="rect">
            <a:avLst/>
          </a:prstGeom>
          <a:noFill/>
          <a:ln/>
        </p:spPr>
        <p:txBody>
          <a:bodyPr wrap="square" lIns="0" tIns="0" rIns="0" bIns="0" rtlCol="0" anchor="ctr"/>
          <a:lstStyle/>
          <a:p>
            <a:pPr indent="0" marL="0">
              <a:buNone/>
            </a:pPr>
            <a:r>
              <a:rPr lang="en-US" sz="1500" dirty="0">
                <a:solidFill>
                  <a:srgbClr val="DBEEFF"/>
                </a:solidFill>
                <a:latin typeface="Arial" pitchFamily="34" charset="0"/>
                <a:ea typeface="Arial" pitchFamily="34" charset="-122"/>
                <a:cs typeface="Arial" pitchFamily="34" charset="-120"/>
              </a:rPr>
              <a:t>Speech Recognition and Information Extraction for Aviation Safety</a:t>
            </a:r>
            <a:endParaRPr lang="en-US" sz="1500" dirty="0"/>
          </a:p>
        </p:txBody>
      </p:sp>
      <p:sp>
        <p:nvSpPr>
          <p:cNvPr id="4" name="Text 2"/>
          <p:cNvSpPr txBox="1"/>
          <p:nvPr/>
        </p:nvSpPr>
        <p:spPr>
          <a:xfrm>
            <a:off x="548640" y="2606040"/>
            <a:ext cx="8046720" cy="365760"/>
          </a:xfrm>
          <a:prstGeom prst="rect">
            <a:avLst/>
          </a:prstGeom>
          <a:noFill/>
          <a:ln/>
        </p:spPr>
        <p:txBody>
          <a:bodyPr wrap="square" lIns="0" tIns="0" rIns="0" bIns="0" rtlCol="0" anchor="ctr"/>
          <a:lstStyle/>
          <a:p>
            <a:pPr indent="0" marL="0">
              <a:buNone/>
            </a:pPr>
            <a:r>
              <a:rPr lang="en-US" sz="1250" b="1" spc="100" kern="0" dirty="0">
                <a:solidFill>
                  <a:srgbClr val="5FD4E3"/>
                </a:solidFill>
                <a:latin typeface="Arial" pitchFamily="34" charset="0"/>
                <a:ea typeface="Arial" pitchFamily="34" charset="-122"/>
                <a:cs typeface="Arial" pitchFamily="34" charset="-120"/>
              </a:rPr>
              <a:t>FINAL PRESENTATION  ·  HEAR → UNDERSTAND → COMPARE → ASSIST</a:t>
            </a:r>
            <a:endParaRPr lang="en-US" sz="1250" dirty="0"/>
          </a:p>
        </p:txBody>
      </p:sp>
      <p:sp>
        <p:nvSpPr>
          <p:cNvPr id="5" name="Text 3"/>
          <p:cNvSpPr txBox="1"/>
          <p:nvPr/>
        </p:nvSpPr>
        <p:spPr>
          <a:xfrm>
            <a:off x="640080" y="4343400"/>
            <a:ext cx="7589520" cy="2743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Brett Allen  |  DATA 606 Capstone  |  UMBC, Fall 2026</a:t>
            </a:r>
            <a:endParaRPr lang="en-US" sz="1200" dirty="0"/>
          </a:p>
        </p:txBody>
      </p:sp>
      <p:sp>
        <p:nvSpPr>
          <p:cNvPr id="6" name="Text 4"/>
          <p:cNvSpPr txBox="1"/>
          <p:nvPr/>
        </p:nvSpPr>
        <p:spPr>
          <a:xfrm>
            <a:off x="640080" y="4608576"/>
            <a:ext cx="7589520" cy="274320"/>
          </a:xfrm>
          <a:prstGeom prst="rect">
            <a:avLst/>
          </a:prstGeom>
          <a:noFill/>
          <a:ln/>
        </p:spPr>
        <p:txBody>
          <a:bodyPr wrap="square" lIns="0" tIns="0" rIns="0" bIns="0" rtlCol="0" anchor="ctr"/>
          <a:lstStyle/>
          <a:p>
            <a:pPr indent="0" marL="0">
              <a:buNone/>
            </a:pPr>
            <a:r>
              <a:rPr lang="en-US" sz="1100" dirty="0">
                <a:solidFill>
                  <a:srgbClr val="DBEEFF"/>
                </a:solidFill>
                <a:latin typeface="Arial" pitchFamily="34" charset="0"/>
                <a:ea typeface="Arial" pitchFamily="34" charset="-122"/>
                <a:cs typeface="Arial" pitchFamily="34" charset="-120"/>
              </a:rPr>
              <a:t>Advisor: Dr. Jay Wang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THE STORY</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From radio audio to a usable clearance</a:t>
            </a:r>
            <a:endParaRPr lang="en-US" sz="2400" dirty="0"/>
          </a:p>
        </p:txBody>
      </p:sp>
      <p:sp>
        <p:nvSpPr>
          <p:cNvPr id="4" name="Stage card HEAR"/>
          <p:cNvSpPr/>
          <p:nvPr/>
        </p:nvSpPr>
        <p:spPr>
          <a:xfrm>
            <a:off x="457200" y="1188720"/>
            <a:ext cx="1920240" cy="1783080"/>
          </a:xfrm>
          <a:prstGeom prst="roundRect">
            <a:avLst>
              <a:gd name="adj" fmla="val 4103"/>
            </a:avLst>
          </a:prstGeom>
          <a:solidFill>
            <a:srgbClr val="F3F8FC"/>
          </a:solidFill>
          <a:ln w="9525">
            <a:solidFill>
              <a:srgbClr val="D5E1EA"/>
            </a:solidFill>
            <a:prstDash val="solid"/>
          </a:ln>
        </p:spPr>
      </p:sp>
      <p:sp>
        <p:nvSpPr>
          <p:cNvPr id="5" name="HEAR icon circle"/>
          <p:cNvSpPr/>
          <p:nvPr/>
        </p:nvSpPr>
        <p:spPr>
          <a:xfrm>
            <a:off x="594360" y="1325880"/>
            <a:ext cx="502920" cy="502920"/>
          </a:xfrm>
          <a:prstGeom prst="ellipse">
            <a:avLst/>
          </a:prstGeom>
          <a:solidFill>
            <a:srgbClr val="0097A7"/>
          </a:solidFill>
          <a:ln w="12700">
            <a:solidFill>
              <a:srgbClr val="0097A7"/>
            </a:solidFill>
            <a:prstDash val="solid"/>
          </a:ln>
        </p:spPr>
      </p:sp>
      <p:pic>
        <p:nvPicPr>
          <p:cNvPr id="6" name="HEAR icon" descr="HEAR">    </p:cNvPr>
          <p:cNvPicPr>
            <a:picLocks noChangeAspect="1"/>
          </p:cNvPicPr>
          <p:nvPr/>
        </p:nvPicPr>
        <p:blipFill>
          <a:blip r:embed="rId1"/>
          <a:stretch>
            <a:fillRect/>
          </a:stretch>
        </p:blipFill>
        <p:spPr>
          <a:xfrm>
            <a:off x="720090" y="1451610"/>
            <a:ext cx="251460" cy="251460"/>
          </a:xfrm>
          <a:prstGeom prst="rect">
            <a:avLst/>
          </a:prstGeom>
        </p:spPr>
      </p:pic>
      <p:sp>
        <p:nvSpPr>
          <p:cNvPr id="7" name="Text 4"/>
          <p:cNvSpPr txBox="1"/>
          <p:nvPr/>
        </p:nvSpPr>
        <p:spPr>
          <a:xfrm>
            <a:off x="594360" y="1920240"/>
            <a:ext cx="1645920" cy="274320"/>
          </a:xfrm>
          <a:prstGeom prst="rect">
            <a:avLst/>
          </a:prstGeom>
          <a:noFill/>
          <a:ln/>
        </p:spPr>
        <p:txBody>
          <a:bodyPr wrap="square" lIns="0" tIns="0" rIns="0" bIns="0" rtlCol="0" anchor="ctr"/>
          <a:lstStyle/>
          <a:p>
            <a:pPr indent="0" marL="0">
              <a:buNone/>
            </a:pPr>
            <a:r>
              <a:rPr lang="en-US" sz="1500" b="1" dirty="0">
                <a:solidFill>
                  <a:srgbClr val="384957"/>
                </a:solidFill>
                <a:latin typeface="Arial" pitchFamily="34" charset="0"/>
                <a:ea typeface="Arial" pitchFamily="34" charset="-122"/>
                <a:cs typeface="Arial" pitchFamily="34" charset="-120"/>
              </a:rPr>
              <a:t>HEAR</a:t>
            </a:r>
            <a:endParaRPr lang="en-US" sz="1500" dirty="0"/>
          </a:p>
        </p:txBody>
      </p:sp>
      <p:sp>
        <p:nvSpPr>
          <p:cNvPr id="8" name="Text 5"/>
          <p:cNvSpPr txBox="1"/>
          <p:nvPr/>
        </p:nvSpPr>
        <p:spPr>
          <a:xfrm>
            <a:off x="594360" y="2212848"/>
            <a:ext cx="1664208" cy="68580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Fine-tune Whisper to transcribe real ATC radio</a:t>
            </a:r>
            <a:endParaRPr lang="en-US" sz="1200" dirty="0"/>
          </a:p>
        </p:txBody>
      </p:sp>
      <p:sp>
        <p:nvSpPr>
          <p:cNvPr id="9" name="Stage card UNDERSTAND"/>
          <p:cNvSpPr/>
          <p:nvPr/>
        </p:nvSpPr>
        <p:spPr>
          <a:xfrm>
            <a:off x="2560320" y="1188720"/>
            <a:ext cx="1920240" cy="1783080"/>
          </a:xfrm>
          <a:prstGeom prst="roundRect">
            <a:avLst>
              <a:gd name="adj" fmla="val 4103"/>
            </a:avLst>
          </a:prstGeom>
          <a:solidFill>
            <a:srgbClr val="F3F8FC"/>
          </a:solidFill>
          <a:ln w="9525">
            <a:solidFill>
              <a:srgbClr val="D5E1EA"/>
            </a:solidFill>
            <a:prstDash val="solid"/>
          </a:ln>
        </p:spPr>
      </p:sp>
      <p:sp>
        <p:nvSpPr>
          <p:cNvPr id="10" name="UNDERSTAND icon circle"/>
          <p:cNvSpPr/>
          <p:nvPr/>
        </p:nvSpPr>
        <p:spPr>
          <a:xfrm>
            <a:off x="2697480" y="1325880"/>
            <a:ext cx="502920" cy="502920"/>
          </a:xfrm>
          <a:prstGeom prst="ellipse">
            <a:avLst/>
          </a:prstGeom>
          <a:solidFill>
            <a:srgbClr val="0097A7"/>
          </a:solidFill>
          <a:ln w="12700">
            <a:solidFill>
              <a:srgbClr val="0097A7"/>
            </a:solidFill>
            <a:prstDash val="solid"/>
          </a:ln>
        </p:spPr>
      </p:sp>
      <p:pic>
        <p:nvPicPr>
          <p:cNvPr id="11" name="UNDERSTAND icon" descr="UNDERSTAND">    </p:cNvPr>
          <p:cNvPicPr>
            <a:picLocks noChangeAspect="1"/>
          </p:cNvPicPr>
          <p:nvPr/>
        </p:nvPicPr>
        <p:blipFill>
          <a:blip r:embed="rId2"/>
          <a:stretch>
            <a:fillRect/>
          </a:stretch>
        </p:blipFill>
        <p:spPr>
          <a:xfrm>
            <a:off x="2823210" y="1451610"/>
            <a:ext cx="251460" cy="251460"/>
          </a:xfrm>
          <a:prstGeom prst="rect">
            <a:avLst/>
          </a:prstGeom>
        </p:spPr>
      </p:pic>
      <p:sp>
        <p:nvSpPr>
          <p:cNvPr id="12" name="Text 8"/>
          <p:cNvSpPr txBox="1"/>
          <p:nvPr/>
        </p:nvSpPr>
        <p:spPr>
          <a:xfrm>
            <a:off x="2697480" y="1920240"/>
            <a:ext cx="1645920" cy="274320"/>
          </a:xfrm>
          <a:prstGeom prst="rect">
            <a:avLst/>
          </a:prstGeom>
          <a:noFill/>
          <a:ln/>
        </p:spPr>
        <p:txBody>
          <a:bodyPr wrap="square" lIns="0" tIns="0" rIns="0" bIns="0" rtlCol="0" anchor="ctr"/>
          <a:lstStyle/>
          <a:p>
            <a:pPr indent="0" marL="0">
              <a:buNone/>
            </a:pPr>
            <a:r>
              <a:rPr lang="en-US" sz="1500" b="1" dirty="0">
                <a:solidFill>
                  <a:srgbClr val="384957"/>
                </a:solidFill>
                <a:latin typeface="Arial" pitchFamily="34" charset="0"/>
                <a:ea typeface="Arial" pitchFamily="34" charset="-122"/>
                <a:cs typeface="Arial" pitchFamily="34" charset="-120"/>
              </a:rPr>
              <a:t>UNDERSTAND</a:t>
            </a:r>
            <a:endParaRPr lang="en-US" sz="1500" dirty="0"/>
          </a:p>
        </p:txBody>
      </p:sp>
      <p:sp>
        <p:nvSpPr>
          <p:cNvPr id="13" name="Text 9"/>
          <p:cNvSpPr txBox="1"/>
          <p:nvPr/>
        </p:nvSpPr>
        <p:spPr>
          <a:xfrm>
            <a:off x="2697480" y="2212848"/>
            <a:ext cx="1664208" cy="68580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Extract nine aviation entity types from the transcript</a:t>
            </a:r>
            <a:endParaRPr lang="en-US" sz="1200" dirty="0"/>
          </a:p>
        </p:txBody>
      </p:sp>
      <p:sp>
        <p:nvSpPr>
          <p:cNvPr id="14" name="Stage card COMPARE"/>
          <p:cNvSpPr/>
          <p:nvPr/>
        </p:nvSpPr>
        <p:spPr>
          <a:xfrm>
            <a:off x="4663440" y="1188720"/>
            <a:ext cx="1920240" cy="1783080"/>
          </a:xfrm>
          <a:prstGeom prst="roundRect">
            <a:avLst>
              <a:gd name="adj" fmla="val 4103"/>
            </a:avLst>
          </a:prstGeom>
          <a:solidFill>
            <a:srgbClr val="F3F8FC"/>
          </a:solidFill>
          <a:ln w="9525">
            <a:solidFill>
              <a:srgbClr val="D5E1EA"/>
            </a:solidFill>
            <a:prstDash val="solid"/>
          </a:ln>
        </p:spPr>
      </p:sp>
      <p:sp>
        <p:nvSpPr>
          <p:cNvPr id="15" name="COMPARE icon circle"/>
          <p:cNvSpPr/>
          <p:nvPr/>
        </p:nvSpPr>
        <p:spPr>
          <a:xfrm>
            <a:off x="4800600" y="1325880"/>
            <a:ext cx="502920" cy="502920"/>
          </a:xfrm>
          <a:prstGeom prst="ellipse">
            <a:avLst/>
          </a:prstGeom>
          <a:solidFill>
            <a:srgbClr val="0097A7"/>
          </a:solidFill>
          <a:ln w="12700">
            <a:solidFill>
              <a:srgbClr val="0097A7"/>
            </a:solidFill>
            <a:prstDash val="solid"/>
          </a:ln>
        </p:spPr>
      </p:sp>
      <p:pic>
        <p:nvPicPr>
          <p:cNvPr id="16" name="COMPARE icon" descr="COMPARE">    </p:cNvPr>
          <p:cNvPicPr>
            <a:picLocks noChangeAspect="1"/>
          </p:cNvPicPr>
          <p:nvPr/>
        </p:nvPicPr>
        <p:blipFill>
          <a:blip r:embed="rId3"/>
          <a:stretch>
            <a:fillRect/>
          </a:stretch>
        </p:blipFill>
        <p:spPr>
          <a:xfrm>
            <a:off x="4926330" y="1451610"/>
            <a:ext cx="251460" cy="251460"/>
          </a:xfrm>
          <a:prstGeom prst="rect">
            <a:avLst/>
          </a:prstGeom>
        </p:spPr>
      </p:pic>
      <p:sp>
        <p:nvSpPr>
          <p:cNvPr id="17" name="Text 12"/>
          <p:cNvSpPr txBox="1"/>
          <p:nvPr/>
        </p:nvSpPr>
        <p:spPr>
          <a:xfrm>
            <a:off x="4800600" y="1920240"/>
            <a:ext cx="1645920" cy="274320"/>
          </a:xfrm>
          <a:prstGeom prst="rect">
            <a:avLst/>
          </a:prstGeom>
          <a:noFill/>
          <a:ln/>
        </p:spPr>
        <p:txBody>
          <a:bodyPr wrap="square" lIns="0" tIns="0" rIns="0" bIns="0" rtlCol="0" anchor="ctr"/>
          <a:lstStyle/>
          <a:p>
            <a:pPr indent="0" marL="0">
              <a:buNone/>
            </a:pPr>
            <a:r>
              <a:rPr lang="en-US" sz="1500" b="1" dirty="0">
                <a:solidFill>
                  <a:srgbClr val="384957"/>
                </a:solidFill>
                <a:latin typeface="Arial" pitchFamily="34" charset="0"/>
                <a:ea typeface="Arial" pitchFamily="34" charset="-122"/>
                <a:cs typeface="Arial" pitchFamily="34" charset="-120"/>
              </a:rPr>
              <a:t>COMPARE</a:t>
            </a:r>
            <a:endParaRPr lang="en-US" sz="1500" dirty="0"/>
          </a:p>
        </p:txBody>
      </p:sp>
      <p:sp>
        <p:nvSpPr>
          <p:cNvPr id="18" name="Text 13"/>
          <p:cNvSpPr txBox="1"/>
          <p:nvPr/>
        </p:nvSpPr>
        <p:spPr>
          <a:xfrm>
            <a:off x="4800600" y="2212848"/>
            <a:ext cx="1664208" cy="68580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Judge models by aviation entities, not only WER</a:t>
            </a:r>
            <a:endParaRPr lang="en-US" sz="1200" dirty="0"/>
          </a:p>
        </p:txBody>
      </p:sp>
      <p:sp>
        <p:nvSpPr>
          <p:cNvPr id="19" name="Stage card ASSIST"/>
          <p:cNvSpPr/>
          <p:nvPr/>
        </p:nvSpPr>
        <p:spPr>
          <a:xfrm>
            <a:off x="6766560" y="1188720"/>
            <a:ext cx="1920240" cy="1783080"/>
          </a:xfrm>
          <a:prstGeom prst="roundRect">
            <a:avLst>
              <a:gd name="adj" fmla="val 4103"/>
            </a:avLst>
          </a:prstGeom>
          <a:solidFill>
            <a:srgbClr val="F3F8FC"/>
          </a:solidFill>
          <a:ln w="9525">
            <a:solidFill>
              <a:srgbClr val="D5E1EA"/>
            </a:solidFill>
            <a:prstDash val="solid"/>
          </a:ln>
        </p:spPr>
      </p:sp>
      <p:sp>
        <p:nvSpPr>
          <p:cNvPr id="20" name="ASSIST icon circle"/>
          <p:cNvSpPr/>
          <p:nvPr/>
        </p:nvSpPr>
        <p:spPr>
          <a:xfrm>
            <a:off x="6903720" y="1325880"/>
            <a:ext cx="502920" cy="502920"/>
          </a:xfrm>
          <a:prstGeom prst="ellipse">
            <a:avLst/>
          </a:prstGeom>
          <a:solidFill>
            <a:srgbClr val="0097A7"/>
          </a:solidFill>
          <a:ln w="12700">
            <a:solidFill>
              <a:srgbClr val="0097A7"/>
            </a:solidFill>
            <a:prstDash val="solid"/>
          </a:ln>
        </p:spPr>
      </p:sp>
      <p:pic>
        <p:nvPicPr>
          <p:cNvPr id="21" name="ASSIST icon" descr="ASSIST">    </p:cNvPr>
          <p:cNvPicPr>
            <a:picLocks noChangeAspect="1"/>
          </p:cNvPicPr>
          <p:nvPr/>
        </p:nvPicPr>
        <p:blipFill>
          <a:blip r:embed="rId4"/>
          <a:stretch>
            <a:fillRect/>
          </a:stretch>
        </p:blipFill>
        <p:spPr>
          <a:xfrm>
            <a:off x="7029450" y="1451610"/>
            <a:ext cx="251460" cy="251460"/>
          </a:xfrm>
          <a:prstGeom prst="rect">
            <a:avLst/>
          </a:prstGeom>
        </p:spPr>
      </p:pic>
      <p:sp>
        <p:nvSpPr>
          <p:cNvPr id="22" name="Text 16"/>
          <p:cNvSpPr txBox="1"/>
          <p:nvPr/>
        </p:nvSpPr>
        <p:spPr>
          <a:xfrm>
            <a:off x="6903720" y="1920240"/>
            <a:ext cx="1645920" cy="274320"/>
          </a:xfrm>
          <a:prstGeom prst="rect">
            <a:avLst/>
          </a:prstGeom>
          <a:noFill/>
          <a:ln/>
        </p:spPr>
        <p:txBody>
          <a:bodyPr wrap="square" lIns="0" tIns="0" rIns="0" bIns="0" rtlCol="0" anchor="ctr"/>
          <a:lstStyle/>
          <a:p>
            <a:pPr indent="0" marL="0">
              <a:buNone/>
            </a:pPr>
            <a:r>
              <a:rPr lang="en-US" sz="1500" b="1" dirty="0">
                <a:solidFill>
                  <a:srgbClr val="384957"/>
                </a:solidFill>
                <a:latin typeface="Arial" pitchFamily="34" charset="0"/>
                <a:ea typeface="Arial" pitchFamily="34" charset="-122"/>
                <a:cs typeface="Arial" pitchFamily="34" charset="-120"/>
              </a:rPr>
              <a:t>ASSIST</a:t>
            </a:r>
            <a:endParaRPr lang="en-US" sz="1500" dirty="0"/>
          </a:p>
        </p:txBody>
      </p:sp>
      <p:sp>
        <p:nvSpPr>
          <p:cNvPr id="23" name="Text 17"/>
          <p:cNvSpPr txBox="1"/>
          <p:nvPr/>
        </p:nvSpPr>
        <p:spPr>
          <a:xfrm>
            <a:off x="6903720" y="2212848"/>
            <a:ext cx="1664208" cy="68580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ClearanceIQ: a CPU-only research prototype</a:t>
            </a:r>
            <a:endParaRPr lang="en-US" sz="1200" dirty="0"/>
          </a:p>
        </p:txBody>
      </p:sp>
      <p:sp>
        <p:nvSpPr>
          <p:cNvPr id="24" name="Text 18"/>
          <p:cNvSpPr txBox="1"/>
          <p:nvPr/>
        </p:nvSpPr>
        <p:spPr>
          <a:xfrm>
            <a:off x="457200" y="3291840"/>
            <a:ext cx="2560320" cy="274320"/>
          </a:xfrm>
          <a:prstGeom prst="rect">
            <a:avLst/>
          </a:prstGeom>
          <a:noFill/>
          <a:ln/>
        </p:spPr>
        <p:txBody>
          <a:bodyPr wrap="square" lIns="0" tIns="0" rIns="0" bIns="0" rtlCol="0" anchor="ctr"/>
          <a:lstStyle/>
          <a:p>
            <a:pPr indent="0" marL="0">
              <a:buNone/>
            </a:pPr>
            <a:r>
              <a:rPr lang="en-US" sz="1400" b="1" dirty="0">
                <a:solidFill>
                  <a:srgbClr val="0097A7"/>
                </a:solidFill>
                <a:latin typeface="Arial" pitchFamily="34" charset="0"/>
                <a:ea typeface="Arial" pitchFamily="34" charset="-122"/>
                <a:cs typeface="Arial" pitchFamily="34" charset="-120"/>
              </a:rPr>
              <a:t>RQ1</a:t>
            </a:r>
            <a:endParaRPr lang="en-US" sz="1400" dirty="0"/>
          </a:p>
        </p:txBody>
      </p:sp>
      <p:sp>
        <p:nvSpPr>
          <p:cNvPr id="25" name="Text 19"/>
          <p:cNvSpPr txBox="1"/>
          <p:nvPr/>
        </p:nvSpPr>
        <p:spPr>
          <a:xfrm>
            <a:off x="457200" y="3584448"/>
            <a:ext cx="2606040" cy="822960"/>
          </a:xfrm>
          <a:prstGeom prst="rect">
            <a:avLst/>
          </a:prstGeom>
          <a:noFill/>
          <a:ln/>
        </p:spPr>
        <p:txBody>
          <a:bodyPr wrap="square" lIns="0" tIns="0" rIns="0" bIns="0" rtlCol="0" anchor="t"/>
          <a:lstStyle/>
          <a:p>
            <a:pPr indent="0" marL="0">
              <a:buNone/>
            </a:pPr>
            <a:r>
              <a:rPr lang="en-US" sz="1300" dirty="0">
                <a:solidFill>
                  <a:srgbClr val="384957"/>
                </a:solidFill>
                <a:latin typeface="Arial" pitchFamily="34" charset="0"/>
                <a:ea typeface="Arial" pitchFamily="34" charset="-122"/>
                <a:cs typeface="Arial" pitchFamily="34" charset="-120"/>
              </a:rPr>
              <a:t>How accurately can domain-adapted ASR transcribe ATC speech?</a:t>
            </a:r>
            <a:endParaRPr lang="en-US" sz="1300" dirty="0"/>
          </a:p>
        </p:txBody>
      </p:sp>
      <p:sp>
        <p:nvSpPr>
          <p:cNvPr id="26" name="Text 20"/>
          <p:cNvSpPr txBox="1"/>
          <p:nvPr/>
        </p:nvSpPr>
        <p:spPr>
          <a:xfrm>
            <a:off x="3291840" y="3291840"/>
            <a:ext cx="2560320" cy="274320"/>
          </a:xfrm>
          <a:prstGeom prst="rect">
            <a:avLst/>
          </a:prstGeom>
          <a:noFill/>
          <a:ln/>
        </p:spPr>
        <p:txBody>
          <a:bodyPr wrap="square" lIns="0" tIns="0" rIns="0" bIns="0" rtlCol="0" anchor="ctr"/>
          <a:lstStyle/>
          <a:p>
            <a:pPr indent="0" marL="0">
              <a:buNone/>
            </a:pPr>
            <a:r>
              <a:rPr lang="en-US" sz="1400" b="1" dirty="0">
                <a:solidFill>
                  <a:srgbClr val="0097A7"/>
                </a:solidFill>
                <a:latin typeface="Arial" pitchFamily="34" charset="0"/>
                <a:ea typeface="Arial" pitchFamily="34" charset="-122"/>
                <a:cs typeface="Arial" pitchFamily="34" charset="-120"/>
              </a:rPr>
              <a:t>RQ2</a:t>
            </a:r>
            <a:endParaRPr lang="en-US" sz="1400" dirty="0"/>
          </a:p>
        </p:txBody>
      </p:sp>
      <p:sp>
        <p:nvSpPr>
          <p:cNvPr id="27" name="Text 21"/>
          <p:cNvSpPr txBox="1"/>
          <p:nvPr/>
        </p:nvSpPr>
        <p:spPr>
          <a:xfrm>
            <a:off x="3291840" y="3584448"/>
            <a:ext cx="2606040" cy="822960"/>
          </a:xfrm>
          <a:prstGeom prst="rect">
            <a:avLst/>
          </a:prstGeom>
          <a:noFill/>
          <a:ln/>
        </p:spPr>
        <p:txBody>
          <a:bodyPr wrap="square" lIns="0" tIns="0" rIns="0" bIns="0" rtlCol="0" anchor="t"/>
          <a:lstStyle/>
          <a:p>
            <a:pPr indent="0" marL="0">
              <a:buNone/>
            </a:pPr>
            <a:r>
              <a:rPr lang="en-US" sz="1300" dirty="0">
                <a:solidFill>
                  <a:srgbClr val="384957"/>
                </a:solidFill>
                <a:latin typeface="Arial" pitchFamily="34" charset="0"/>
                <a:ea typeface="Arial" pitchFamily="34" charset="-122"/>
                <a:cs typeface="Arial" pitchFamily="34" charset="-120"/>
              </a:rPr>
              <a:t>Can NLP reliably extract operational information from transcripts?</a:t>
            </a:r>
            <a:endParaRPr lang="en-US" sz="1300" dirty="0"/>
          </a:p>
        </p:txBody>
      </p:sp>
      <p:sp>
        <p:nvSpPr>
          <p:cNvPr id="28" name="Text 22"/>
          <p:cNvSpPr txBox="1"/>
          <p:nvPr/>
        </p:nvSpPr>
        <p:spPr>
          <a:xfrm>
            <a:off x="6126480" y="3291840"/>
            <a:ext cx="2560320" cy="274320"/>
          </a:xfrm>
          <a:prstGeom prst="rect">
            <a:avLst/>
          </a:prstGeom>
          <a:noFill/>
          <a:ln/>
        </p:spPr>
        <p:txBody>
          <a:bodyPr wrap="square" lIns="0" tIns="0" rIns="0" bIns="0" rtlCol="0" anchor="ctr"/>
          <a:lstStyle/>
          <a:p>
            <a:pPr indent="0" marL="0">
              <a:buNone/>
            </a:pPr>
            <a:r>
              <a:rPr lang="en-US" sz="1400" b="1" dirty="0">
                <a:solidFill>
                  <a:srgbClr val="0097A7"/>
                </a:solidFill>
                <a:latin typeface="Arial" pitchFamily="34" charset="0"/>
                <a:ea typeface="Arial" pitchFamily="34" charset="-122"/>
                <a:cs typeface="Arial" pitchFamily="34" charset="-120"/>
              </a:rPr>
              <a:t>RQ3</a:t>
            </a:r>
            <a:endParaRPr lang="en-US" sz="1400" dirty="0"/>
          </a:p>
        </p:txBody>
      </p:sp>
      <p:sp>
        <p:nvSpPr>
          <p:cNvPr id="29" name="Text 23"/>
          <p:cNvSpPr txBox="1"/>
          <p:nvPr/>
        </p:nvSpPr>
        <p:spPr>
          <a:xfrm>
            <a:off x="6126480" y="3584448"/>
            <a:ext cx="2606040" cy="822960"/>
          </a:xfrm>
          <a:prstGeom prst="rect">
            <a:avLst/>
          </a:prstGeom>
          <a:noFill/>
          <a:ln/>
        </p:spPr>
        <p:txBody>
          <a:bodyPr wrap="square" lIns="0" tIns="0" rIns="0" bIns="0" rtlCol="0" anchor="t"/>
          <a:lstStyle/>
          <a:p>
            <a:pPr indent="0" marL="0">
              <a:buNone/>
            </a:pPr>
            <a:r>
              <a:rPr lang="en-US" sz="1300" dirty="0">
                <a:solidFill>
                  <a:srgbClr val="384957"/>
                </a:solidFill>
                <a:latin typeface="Arial" pitchFamily="34" charset="0"/>
                <a:ea typeface="Arial" pitchFamily="34" charset="-122"/>
                <a:cs typeface="Arial" pitchFamily="34" charset="-120"/>
              </a:rPr>
              <a:t>Which acoustic and linguistic traits are linked to ASR errors?</a:t>
            </a:r>
            <a:endParaRPr lang="en-US" sz="13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HEAR  ·  THE DATA</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Two corpora, one leakage-safe test set</a:t>
            </a:r>
            <a:endParaRPr lang="en-US" sz="2400" dirty="0"/>
          </a:p>
        </p:txBody>
      </p:sp>
      <p:sp>
        <p:nvSpPr>
          <p:cNvPr id="4" name="Stat card 1"/>
          <p:cNvSpPr/>
          <p:nvPr/>
        </p:nvSpPr>
        <p:spPr>
          <a:xfrm>
            <a:off x="457200" y="1188720"/>
            <a:ext cx="1920240" cy="2468880"/>
          </a:xfrm>
          <a:prstGeom prst="roundRect">
            <a:avLst>
              <a:gd name="adj" fmla="val 3810"/>
            </a:avLst>
          </a:prstGeom>
          <a:solidFill>
            <a:srgbClr val="F3F8FC"/>
          </a:solidFill>
          <a:ln w="9525">
            <a:solidFill>
              <a:srgbClr val="D5E1EA"/>
            </a:solidFill>
            <a:prstDash val="solid"/>
          </a:ln>
        </p:spPr>
      </p:sp>
      <p:sp>
        <p:nvSpPr>
          <p:cNvPr id="5" name="17,681 icon circle"/>
          <p:cNvSpPr/>
          <p:nvPr/>
        </p:nvSpPr>
        <p:spPr>
          <a:xfrm>
            <a:off x="1106424" y="1371600"/>
            <a:ext cx="621792" cy="621792"/>
          </a:xfrm>
          <a:prstGeom prst="ellipse">
            <a:avLst/>
          </a:prstGeom>
          <a:solidFill>
            <a:srgbClr val="0097A7"/>
          </a:solidFill>
          <a:ln w="12700">
            <a:solidFill>
              <a:srgbClr val="0097A7"/>
            </a:solidFill>
            <a:prstDash val="solid"/>
          </a:ln>
        </p:spPr>
      </p:sp>
      <p:pic>
        <p:nvPicPr>
          <p:cNvPr id="6" name="17,681 icon" descr="17,681">    </p:cNvPr>
          <p:cNvPicPr>
            <a:picLocks noChangeAspect="1"/>
          </p:cNvPicPr>
          <p:nvPr/>
        </p:nvPicPr>
        <p:blipFill>
          <a:blip r:embed="rId1"/>
          <a:stretch>
            <a:fillRect/>
          </a:stretch>
        </p:blipFill>
        <p:spPr>
          <a:xfrm>
            <a:off x="1261872" y="1527048"/>
            <a:ext cx="310896" cy="310896"/>
          </a:xfrm>
          <a:prstGeom prst="rect">
            <a:avLst/>
          </a:prstGeom>
        </p:spPr>
      </p:pic>
      <p:sp>
        <p:nvSpPr>
          <p:cNvPr id="7" name="Text 4"/>
          <p:cNvSpPr txBox="1"/>
          <p:nvPr/>
        </p:nvSpPr>
        <p:spPr>
          <a:xfrm>
            <a:off x="457200" y="2103120"/>
            <a:ext cx="1920240" cy="548640"/>
          </a:xfrm>
          <a:prstGeom prst="rect">
            <a:avLst/>
          </a:prstGeom>
          <a:noFill/>
          <a:ln/>
        </p:spPr>
        <p:txBody>
          <a:bodyPr wrap="square" lIns="0" tIns="0" rIns="0" bIns="0" rtlCol="0" anchor="ctr"/>
          <a:lstStyle/>
          <a:p>
            <a:pPr algn="ctr" indent="0" marL="0">
              <a:buNone/>
            </a:pPr>
            <a:r>
              <a:rPr lang="en-US" sz="2800" b="1" dirty="0">
                <a:solidFill>
                  <a:srgbClr val="384957"/>
                </a:solidFill>
                <a:latin typeface="Arial" pitchFamily="34" charset="0"/>
                <a:ea typeface="Arial" pitchFamily="34" charset="-122"/>
                <a:cs typeface="Arial" pitchFamily="34" charset="-120"/>
              </a:rPr>
              <a:t>17,681</a:t>
            </a:r>
            <a:endParaRPr lang="en-US" sz="2800" dirty="0"/>
          </a:p>
        </p:txBody>
      </p:sp>
      <p:sp>
        <p:nvSpPr>
          <p:cNvPr id="8" name="Text 5"/>
          <p:cNvSpPr txBox="1"/>
          <p:nvPr/>
        </p:nvSpPr>
        <p:spPr>
          <a:xfrm>
            <a:off x="594360" y="2697480"/>
            <a:ext cx="1645920" cy="868680"/>
          </a:xfrm>
          <a:prstGeom prst="rect">
            <a:avLst/>
          </a:prstGeom>
          <a:noFill/>
          <a:ln/>
        </p:spPr>
        <p:txBody>
          <a:bodyPr wrap="square" lIns="0" tIns="0" rIns="0" bIns="0" rtlCol="0" anchor="t"/>
          <a:lstStyle/>
          <a:p>
            <a:pPr algn="ctr" indent="0" marL="0">
              <a:buNone/>
            </a:pPr>
            <a:r>
              <a:rPr lang="en-US" sz="1200" dirty="0">
                <a:solidFill>
                  <a:srgbClr val="5B6B78"/>
                </a:solidFill>
                <a:latin typeface="Arial" pitchFamily="34" charset="0"/>
                <a:ea typeface="Arial" pitchFamily="34" charset="-122"/>
                <a:cs typeface="Arial" pitchFamily="34" charset="-120"/>
              </a:rPr>
              <a:t>utterances across both corpora</a:t>
            </a:r>
            <a:endParaRPr lang="en-US" sz="1200" dirty="0"/>
          </a:p>
        </p:txBody>
      </p:sp>
      <p:sp>
        <p:nvSpPr>
          <p:cNvPr id="9" name="Stat card 2"/>
          <p:cNvSpPr/>
          <p:nvPr/>
        </p:nvSpPr>
        <p:spPr>
          <a:xfrm>
            <a:off x="2560320" y="1188720"/>
            <a:ext cx="1920240" cy="2468880"/>
          </a:xfrm>
          <a:prstGeom prst="roundRect">
            <a:avLst>
              <a:gd name="adj" fmla="val 3810"/>
            </a:avLst>
          </a:prstGeom>
          <a:solidFill>
            <a:srgbClr val="F3F8FC"/>
          </a:solidFill>
          <a:ln w="9525">
            <a:solidFill>
              <a:srgbClr val="D5E1EA"/>
            </a:solidFill>
            <a:prstDash val="solid"/>
          </a:ln>
        </p:spPr>
      </p:sp>
      <p:sp>
        <p:nvSpPr>
          <p:cNvPr id="10" name="17.9 hrs icon circle"/>
          <p:cNvSpPr/>
          <p:nvPr/>
        </p:nvSpPr>
        <p:spPr>
          <a:xfrm>
            <a:off x="3209544" y="1371600"/>
            <a:ext cx="621792" cy="621792"/>
          </a:xfrm>
          <a:prstGeom prst="ellipse">
            <a:avLst/>
          </a:prstGeom>
          <a:solidFill>
            <a:srgbClr val="0097A7"/>
          </a:solidFill>
          <a:ln w="12700">
            <a:solidFill>
              <a:srgbClr val="0097A7"/>
            </a:solidFill>
            <a:prstDash val="solid"/>
          </a:ln>
        </p:spPr>
      </p:sp>
      <p:pic>
        <p:nvPicPr>
          <p:cNvPr id="11" name="17.9 hrs icon" descr="17.9 hrs">    </p:cNvPr>
          <p:cNvPicPr>
            <a:picLocks noChangeAspect="1"/>
          </p:cNvPicPr>
          <p:nvPr/>
        </p:nvPicPr>
        <p:blipFill>
          <a:blip r:embed="rId2"/>
          <a:stretch>
            <a:fillRect/>
          </a:stretch>
        </p:blipFill>
        <p:spPr>
          <a:xfrm>
            <a:off x="3364992" y="1527048"/>
            <a:ext cx="310896" cy="310896"/>
          </a:xfrm>
          <a:prstGeom prst="rect">
            <a:avLst/>
          </a:prstGeom>
        </p:spPr>
      </p:pic>
      <p:sp>
        <p:nvSpPr>
          <p:cNvPr id="12" name="Text 8"/>
          <p:cNvSpPr txBox="1"/>
          <p:nvPr/>
        </p:nvSpPr>
        <p:spPr>
          <a:xfrm>
            <a:off x="2560320" y="2103120"/>
            <a:ext cx="1920240" cy="548640"/>
          </a:xfrm>
          <a:prstGeom prst="rect">
            <a:avLst/>
          </a:prstGeom>
          <a:noFill/>
          <a:ln/>
        </p:spPr>
        <p:txBody>
          <a:bodyPr wrap="square" lIns="0" tIns="0" rIns="0" bIns="0" rtlCol="0" anchor="ctr"/>
          <a:lstStyle/>
          <a:p>
            <a:pPr algn="ctr" indent="0" marL="0">
              <a:buNone/>
            </a:pPr>
            <a:r>
              <a:rPr lang="en-US" sz="2800" b="1" dirty="0">
                <a:solidFill>
                  <a:srgbClr val="384957"/>
                </a:solidFill>
                <a:latin typeface="Arial" pitchFamily="34" charset="0"/>
                <a:ea typeface="Arial" pitchFamily="34" charset="-122"/>
                <a:cs typeface="Arial" pitchFamily="34" charset="-120"/>
              </a:rPr>
              <a:t>17.9 hrs</a:t>
            </a:r>
            <a:endParaRPr lang="en-US" sz="2800" dirty="0"/>
          </a:p>
        </p:txBody>
      </p:sp>
      <p:sp>
        <p:nvSpPr>
          <p:cNvPr id="13" name="Text 9"/>
          <p:cNvSpPr txBox="1"/>
          <p:nvPr/>
        </p:nvSpPr>
        <p:spPr>
          <a:xfrm>
            <a:off x="2697480" y="2697480"/>
            <a:ext cx="1645920" cy="868680"/>
          </a:xfrm>
          <a:prstGeom prst="rect">
            <a:avLst/>
          </a:prstGeom>
          <a:noFill/>
          <a:ln/>
        </p:spPr>
        <p:txBody>
          <a:bodyPr wrap="square" lIns="0" tIns="0" rIns="0" bIns="0" rtlCol="0" anchor="t"/>
          <a:lstStyle/>
          <a:p>
            <a:pPr algn="ctr" indent="0" marL="0">
              <a:buNone/>
            </a:pPr>
            <a:r>
              <a:rPr lang="en-US" sz="1200" dirty="0">
                <a:solidFill>
                  <a:srgbClr val="5B6B78"/>
                </a:solidFill>
                <a:latin typeface="Arial" pitchFamily="34" charset="0"/>
                <a:ea typeface="Arial" pitchFamily="34" charset="-122"/>
                <a:cs typeface="Arial" pitchFamily="34" charset="-120"/>
              </a:rPr>
              <a:t>of ATC audio, resampled to 16 kHz</a:t>
            </a:r>
            <a:endParaRPr lang="en-US" sz="1200" dirty="0"/>
          </a:p>
        </p:txBody>
      </p:sp>
      <p:sp>
        <p:nvSpPr>
          <p:cNvPr id="14" name="Stat card 3"/>
          <p:cNvSpPr/>
          <p:nvPr/>
        </p:nvSpPr>
        <p:spPr>
          <a:xfrm>
            <a:off x="4663440" y="1188720"/>
            <a:ext cx="1920240" cy="2468880"/>
          </a:xfrm>
          <a:prstGeom prst="roundRect">
            <a:avLst>
              <a:gd name="adj" fmla="val 3810"/>
            </a:avLst>
          </a:prstGeom>
          <a:solidFill>
            <a:srgbClr val="F3F8FC"/>
          </a:solidFill>
          <a:ln w="9525">
            <a:solidFill>
              <a:srgbClr val="D5E1EA"/>
            </a:solidFill>
            <a:prstDash val="solid"/>
          </a:ln>
        </p:spPr>
      </p:sp>
      <p:sp>
        <p:nvSpPr>
          <p:cNvPr id="15" name="2 icon circle"/>
          <p:cNvSpPr/>
          <p:nvPr/>
        </p:nvSpPr>
        <p:spPr>
          <a:xfrm>
            <a:off x="5312664" y="1371600"/>
            <a:ext cx="621792" cy="621792"/>
          </a:xfrm>
          <a:prstGeom prst="ellipse">
            <a:avLst/>
          </a:prstGeom>
          <a:solidFill>
            <a:srgbClr val="0097A7"/>
          </a:solidFill>
          <a:ln w="12700">
            <a:solidFill>
              <a:srgbClr val="0097A7"/>
            </a:solidFill>
            <a:prstDash val="solid"/>
          </a:ln>
        </p:spPr>
      </p:sp>
      <p:pic>
        <p:nvPicPr>
          <p:cNvPr id="16" name="2 icon" descr="2">    </p:cNvPr>
          <p:cNvPicPr>
            <a:picLocks noChangeAspect="1"/>
          </p:cNvPicPr>
          <p:nvPr/>
        </p:nvPicPr>
        <p:blipFill>
          <a:blip r:embed="rId3"/>
          <a:stretch>
            <a:fillRect/>
          </a:stretch>
        </p:blipFill>
        <p:spPr>
          <a:xfrm>
            <a:off x="5468112" y="1527048"/>
            <a:ext cx="310896" cy="310896"/>
          </a:xfrm>
          <a:prstGeom prst="rect">
            <a:avLst/>
          </a:prstGeom>
        </p:spPr>
      </p:pic>
      <p:sp>
        <p:nvSpPr>
          <p:cNvPr id="17" name="Text 12"/>
          <p:cNvSpPr txBox="1"/>
          <p:nvPr/>
        </p:nvSpPr>
        <p:spPr>
          <a:xfrm>
            <a:off x="4663440" y="2103120"/>
            <a:ext cx="1920240" cy="548640"/>
          </a:xfrm>
          <a:prstGeom prst="rect">
            <a:avLst/>
          </a:prstGeom>
          <a:noFill/>
          <a:ln/>
        </p:spPr>
        <p:txBody>
          <a:bodyPr wrap="square" lIns="0" tIns="0" rIns="0" bIns="0" rtlCol="0" anchor="ctr"/>
          <a:lstStyle/>
          <a:p>
            <a:pPr algn="ctr" indent="0" marL="0">
              <a:buNone/>
            </a:pPr>
            <a:r>
              <a:rPr lang="en-US" sz="2800" b="1" dirty="0">
                <a:solidFill>
                  <a:srgbClr val="384957"/>
                </a:solidFill>
                <a:latin typeface="Arial" pitchFamily="34" charset="0"/>
                <a:ea typeface="Arial" pitchFamily="34" charset="-122"/>
                <a:cs typeface="Arial" pitchFamily="34" charset="-120"/>
              </a:rPr>
              <a:t>2</a:t>
            </a:r>
            <a:endParaRPr lang="en-US" sz="2800" dirty="0"/>
          </a:p>
        </p:txBody>
      </p:sp>
      <p:sp>
        <p:nvSpPr>
          <p:cNvPr id="18" name="Text 13"/>
          <p:cNvSpPr txBox="1"/>
          <p:nvPr/>
        </p:nvSpPr>
        <p:spPr>
          <a:xfrm>
            <a:off x="4800600" y="2697480"/>
            <a:ext cx="1645920" cy="868680"/>
          </a:xfrm>
          <a:prstGeom prst="rect">
            <a:avLst/>
          </a:prstGeom>
          <a:noFill/>
          <a:ln/>
        </p:spPr>
        <p:txBody>
          <a:bodyPr wrap="square" lIns="0" tIns="0" rIns="0" bIns="0" rtlCol="0" anchor="t"/>
          <a:lstStyle/>
          <a:p>
            <a:pPr algn="ctr" indent="0" marL="0">
              <a:buNone/>
            </a:pPr>
            <a:r>
              <a:rPr lang="en-US" sz="1200" dirty="0">
                <a:solidFill>
                  <a:srgbClr val="5B6B78"/>
                </a:solidFill>
                <a:latin typeface="Arial" pitchFamily="34" charset="0"/>
                <a:ea typeface="Arial" pitchFamily="34" charset="-122"/>
                <a:cs typeface="Arial" pitchFamily="34" charset="-120"/>
              </a:rPr>
              <a:t>sources: real radio (8,122) and simulated (9,559)</a:t>
            </a:r>
            <a:endParaRPr lang="en-US" sz="1200" dirty="0"/>
          </a:p>
        </p:txBody>
      </p:sp>
      <p:sp>
        <p:nvSpPr>
          <p:cNvPr id="19" name="Stat card 4"/>
          <p:cNvSpPr/>
          <p:nvPr/>
        </p:nvSpPr>
        <p:spPr>
          <a:xfrm>
            <a:off x="6766560" y="1188720"/>
            <a:ext cx="1920240" cy="2468880"/>
          </a:xfrm>
          <a:prstGeom prst="roundRect">
            <a:avLst>
              <a:gd name="adj" fmla="val 3810"/>
            </a:avLst>
          </a:prstGeom>
          <a:solidFill>
            <a:srgbClr val="F3F8FC"/>
          </a:solidFill>
          <a:ln w="9525">
            <a:solidFill>
              <a:srgbClr val="D5E1EA"/>
            </a:solidFill>
            <a:prstDash val="solid"/>
          </a:ln>
        </p:spPr>
      </p:sp>
      <p:sp>
        <p:nvSpPr>
          <p:cNvPr id="20" name="1,909 icon circle"/>
          <p:cNvSpPr/>
          <p:nvPr/>
        </p:nvSpPr>
        <p:spPr>
          <a:xfrm>
            <a:off x="7415784" y="1371600"/>
            <a:ext cx="621792" cy="621792"/>
          </a:xfrm>
          <a:prstGeom prst="ellipse">
            <a:avLst/>
          </a:prstGeom>
          <a:solidFill>
            <a:srgbClr val="0097A7"/>
          </a:solidFill>
          <a:ln w="12700">
            <a:solidFill>
              <a:srgbClr val="0097A7"/>
            </a:solidFill>
            <a:prstDash val="solid"/>
          </a:ln>
        </p:spPr>
      </p:sp>
      <p:pic>
        <p:nvPicPr>
          <p:cNvPr id="21" name="1,909 icon" descr="1,909">    </p:cNvPr>
          <p:cNvPicPr>
            <a:picLocks noChangeAspect="1"/>
          </p:cNvPicPr>
          <p:nvPr/>
        </p:nvPicPr>
        <p:blipFill>
          <a:blip r:embed="rId4"/>
          <a:stretch>
            <a:fillRect/>
          </a:stretch>
        </p:blipFill>
        <p:spPr>
          <a:xfrm>
            <a:off x="7571232" y="1527048"/>
            <a:ext cx="310896" cy="310896"/>
          </a:xfrm>
          <a:prstGeom prst="rect">
            <a:avLst/>
          </a:prstGeom>
        </p:spPr>
      </p:pic>
      <p:sp>
        <p:nvSpPr>
          <p:cNvPr id="22" name="Text 16"/>
          <p:cNvSpPr txBox="1"/>
          <p:nvPr/>
        </p:nvSpPr>
        <p:spPr>
          <a:xfrm>
            <a:off x="6766560" y="2103120"/>
            <a:ext cx="1920240" cy="548640"/>
          </a:xfrm>
          <a:prstGeom prst="rect">
            <a:avLst/>
          </a:prstGeom>
          <a:noFill/>
          <a:ln/>
        </p:spPr>
        <p:txBody>
          <a:bodyPr wrap="square" lIns="0" tIns="0" rIns="0" bIns="0" rtlCol="0" anchor="ctr"/>
          <a:lstStyle/>
          <a:p>
            <a:pPr algn="ctr" indent="0" marL="0">
              <a:buNone/>
            </a:pPr>
            <a:r>
              <a:rPr lang="en-US" sz="2800" b="1" dirty="0">
                <a:solidFill>
                  <a:srgbClr val="384957"/>
                </a:solidFill>
                <a:latin typeface="Arial" pitchFamily="34" charset="0"/>
                <a:ea typeface="Arial" pitchFamily="34" charset="-122"/>
                <a:cs typeface="Arial" pitchFamily="34" charset="-120"/>
              </a:rPr>
              <a:t>1,909</a:t>
            </a:r>
            <a:endParaRPr lang="en-US" sz="2800" dirty="0"/>
          </a:p>
        </p:txBody>
      </p:sp>
      <p:sp>
        <p:nvSpPr>
          <p:cNvPr id="23" name="Text 17"/>
          <p:cNvSpPr txBox="1"/>
          <p:nvPr/>
        </p:nvSpPr>
        <p:spPr>
          <a:xfrm>
            <a:off x="6903720" y="2697480"/>
            <a:ext cx="1645920" cy="868680"/>
          </a:xfrm>
          <a:prstGeom prst="rect">
            <a:avLst/>
          </a:prstGeom>
          <a:noFill/>
          <a:ln/>
        </p:spPr>
        <p:txBody>
          <a:bodyPr wrap="square" lIns="0" tIns="0" rIns="0" bIns="0" rtlCol="0" anchor="t"/>
          <a:lstStyle/>
          <a:p>
            <a:pPr algn="ctr" indent="0" marL="0">
              <a:buNone/>
            </a:pPr>
            <a:r>
              <a:rPr lang="en-US" sz="1200" dirty="0">
                <a:solidFill>
                  <a:srgbClr val="5B6B78"/>
                </a:solidFill>
                <a:latin typeface="Arial" pitchFamily="34" charset="0"/>
                <a:ea typeface="Arial" pitchFamily="34" charset="-122"/>
                <a:cs typeface="Arial" pitchFamily="34" charset="-120"/>
              </a:rPr>
              <a:t>held-out test utterances, scored once per model</a:t>
            </a:r>
            <a:endParaRPr lang="en-US" sz="1200" dirty="0"/>
          </a:p>
        </p:txBody>
      </p:sp>
      <p:sp>
        <p:nvSpPr>
          <p:cNvPr id="24" name="Text 18"/>
          <p:cNvSpPr txBox="1"/>
          <p:nvPr/>
        </p:nvSpPr>
        <p:spPr>
          <a:xfrm>
            <a:off x="457200" y="3840480"/>
            <a:ext cx="8229600" cy="685800"/>
          </a:xfrm>
          <a:prstGeom prst="rect">
            <a:avLst/>
          </a:prstGeom>
          <a:noFill/>
          <a:ln/>
        </p:spPr>
        <p:txBody>
          <a:bodyPr wrap="square" lIns="0" tIns="0" rIns="0" bIns="0" rtlCol="0" anchor="t"/>
          <a:lstStyle/>
          <a:p>
            <a:pPr indent="0" marL="0">
              <a:buNone/>
            </a:pPr>
            <a:r>
              <a:rPr lang="en-US" sz="1250" dirty="0">
                <a:solidFill>
                  <a:srgbClr val="384957"/>
                </a:solidFill>
                <a:latin typeface="Arial" pitchFamily="34" charset="0"/>
                <a:ea typeface="Arial" pitchFamily="34" charset="-122"/>
                <a:cs typeface="Arial" pitchFamily="34" charset="-120"/>
              </a:rPr>
              <a:t>Real = ATC-ASR-Dataset (UWB corpus + ATCO2 test subset). Simulated = ATCOSIM. An overlapping ATCO2 mirror was dropped and ATCOSIM was split by recording session, so no session or recording crosses a split.</a:t>
            </a:r>
            <a:endParaRPr lang="en-US" sz="125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HEAR  ·  EDA FINDING 1</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Real ATC audio is narrowband radio speech</a:t>
            </a:r>
            <a:endParaRPr lang="en-US" sz="2400" dirty="0"/>
          </a:p>
        </p:txBody>
      </p:sp>
      <p:graphicFrame>
        <p:nvGraphicFramePr>
          <p:cNvPr id="4" name="Chart 0" descr=""/>
          <p:cNvGraphicFramePr/>
          <p:nvPr/>
        </p:nvGraphicFramePr>
        <p:xfrm>
          <a:off x="457200" y="1188720"/>
          <a:ext cx="5029200" cy="29260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760720" y="1188720"/>
            <a:ext cx="2926080" cy="365760"/>
          </a:xfrm>
          <a:prstGeom prst="rect">
            <a:avLst/>
          </a:prstGeom>
          <a:noFill/>
          <a:ln/>
        </p:spPr>
        <p:txBody>
          <a:bodyPr wrap="square" lIns="0" tIns="0" rIns="0" bIns="0" rtlCol="0" anchor="ctr"/>
          <a:lstStyle/>
          <a:p>
            <a:pPr indent="0" marL="0">
              <a:buNone/>
            </a:pPr>
            <a:r>
              <a:rPr lang="en-US" sz="2000" b="1" dirty="0">
                <a:solidFill>
                  <a:srgbClr val="0097A7"/>
                </a:solidFill>
                <a:latin typeface="Arial" pitchFamily="34" charset="0"/>
                <a:ea typeface="Arial" pitchFamily="34" charset="-122"/>
                <a:cs typeface="Arial" pitchFamily="34" charset="-120"/>
              </a:rPr>
              <a:t>0.135 vs 0.283</a:t>
            </a:r>
            <a:endParaRPr lang="en-US" sz="2000" dirty="0"/>
          </a:p>
        </p:txBody>
      </p:sp>
      <p:sp>
        <p:nvSpPr>
          <p:cNvPr id="6" name="Text 3"/>
          <p:cNvSpPr txBox="1"/>
          <p:nvPr/>
        </p:nvSpPr>
        <p:spPr>
          <a:xfrm>
            <a:off x="5760720" y="1554480"/>
            <a:ext cx="2926080" cy="41148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zero-crossing rate, real vs. simulated (see note)</a:t>
            </a:r>
            <a:endParaRPr lang="en-US" sz="1200" dirty="0"/>
          </a:p>
        </p:txBody>
      </p:sp>
      <p:sp>
        <p:nvSpPr>
          <p:cNvPr id="7" name="Text 4"/>
          <p:cNvSpPr txBox="1"/>
          <p:nvPr/>
        </p:nvSpPr>
        <p:spPr>
          <a:xfrm>
            <a:off x="5760720" y="2057400"/>
            <a:ext cx="2926080" cy="365760"/>
          </a:xfrm>
          <a:prstGeom prst="rect">
            <a:avLst/>
          </a:prstGeom>
          <a:noFill/>
          <a:ln/>
        </p:spPr>
        <p:txBody>
          <a:bodyPr wrap="square" lIns="0" tIns="0" rIns="0" bIns="0" rtlCol="0" anchor="ctr"/>
          <a:lstStyle/>
          <a:p>
            <a:pPr indent="0" marL="0">
              <a:buNone/>
            </a:pPr>
            <a:r>
              <a:rPr lang="en-US" sz="2000" b="1" dirty="0">
                <a:solidFill>
                  <a:srgbClr val="0097A7"/>
                </a:solidFill>
                <a:latin typeface="Arial" pitchFamily="34" charset="0"/>
                <a:ea typeface="Arial" pitchFamily="34" charset="-122"/>
                <a:cs typeface="Arial" pitchFamily="34" charset="-120"/>
              </a:rPr>
              <a:t>0.045 vs 0.011</a:t>
            </a:r>
            <a:endParaRPr lang="en-US" sz="2000" dirty="0"/>
          </a:p>
        </p:txBody>
      </p:sp>
      <p:sp>
        <p:nvSpPr>
          <p:cNvPr id="8" name="Text 5"/>
          <p:cNvSpPr txBox="1"/>
          <p:nvPr/>
        </p:nvSpPr>
        <p:spPr>
          <a:xfrm>
            <a:off x="5760720" y="2423160"/>
            <a:ext cx="2926080" cy="41148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RMS-energy spread: uncontrolled real recordings</a:t>
            </a:r>
            <a:endParaRPr lang="en-US" sz="1200" dirty="0"/>
          </a:p>
        </p:txBody>
      </p:sp>
      <p:sp>
        <p:nvSpPr>
          <p:cNvPr id="9" name="Text 6"/>
          <p:cNvSpPr txBox="1"/>
          <p:nvPr/>
        </p:nvSpPr>
        <p:spPr>
          <a:xfrm>
            <a:off x="5760720" y="2926080"/>
            <a:ext cx="2926080" cy="365760"/>
          </a:xfrm>
          <a:prstGeom prst="rect">
            <a:avLst/>
          </a:prstGeom>
          <a:noFill/>
          <a:ln/>
        </p:spPr>
        <p:txBody>
          <a:bodyPr wrap="square" lIns="0" tIns="0" rIns="0" bIns="0" rtlCol="0" anchor="ctr"/>
          <a:lstStyle/>
          <a:p>
            <a:pPr indent="0" marL="0">
              <a:buNone/>
            </a:pPr>
            <a:r>
              <a:rPr lang="en-US" sz="2000" b="1" dirty="0">
                <a:solidFill>
                  <a:srgbClr val="0097A7"/>
                </a:solidFill>
                <a:latin typeface="Arial" pitchFamily="34" charset="0"/>
                <a:ea typeface="Arial" pitchFamily="34" charset="-122"/>
                <a:cs typeface="Arial" pitchFamily="34" charset="-120"/>
              </a:rPr>
              <a:t>300–3,400 Hz</a:t>
            </a:r>
            <a:endParaRPr lang="en-US" sz="2000" dirty="0"/>
          </a:p>
        </p:txBody>
      </p:sp>
      <p:sp>
        <p:nvSpPr>
          <p:cNvPr id="10" name="Text 7"/>
          <p:cNvSpPr txBox="1"/>
          <p:nvPr/>
        </p:nvSpPr>
        <p:spPr>
          <a:xfrm>
            <a:off x="5760720" y="3291840"/>
            <a:ext cx="2926080" cy="41148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traditional VHF voice band that filters out high frequencies</a:t>
            </a:r>
            <a:endParaRPr lang="en-US" sz="1200" dirty="0"/>
          </a:p>
        </p:txBody>
      </p:sp>
      <p:sp>
        <p:nvSpPr>
          <p:cNvPr id="11" name="Text 8"/>
          <p:cNvSpPr txBox="1"/>
          <p:nvPr/>
        </p:nvSpPr>
        <p:spPr>
          <a:xfrm>
            <a:off x="457200" y="4160520"/>
            <a:ext cx="5029200" cy="548640"/>
          </a:xfrm>
          <a:prstGeom prst="rect">
            <a:avLst/>
          </a:prstGeom>
          <a:noFill/>
          <a:ln/>
        </p:spPr>
        <p:txBody>
          <a:bodyPr wrap="square" lIns="0" tIns="0" rIns="0" bIns="0" rtlCol="0" anchor="t"/>
          <a:lstStyle/>
          <a:p>
            <a:pPr indent="0" marL="0">
              <a:buNone/>
            </a:pPr>
            <a:r>
              <a:rPr lang="en-US" sz="1050" dirty="0">
                <a:solidFill>
                  <a:srgbClr val="5B6B78"/>
                </a:solidFill>
                <a:latin typeface="Arial" pitchFamily="34" charset="0"/>
                <a:ea typeface="Arial" pitchFamily="34" charset="-122"/>
                <a:cs typeface="Arial" pitchFamily="34" charset="-120"/>
              </a:rPr>
              <a:t>Spectral centroid = the average frequency of the sound (its “brightness”); bandwidth = how widely the frequencies spread. Zero-crossing rate = how often the waveform flips sign, a noisiness proxy.</a:t>
            </a:r>
            <a:endParaRPr lang="en-US" sz="1050" dirty="0"/>
          </a:p>
        </p:txBody>
      </p:sp>
      <p:sp>
        <p:nvSpPr>
          <p:cNvPr id="12" name="Implication card"/>
          <p:cNvSpPr/>
          <p:nvPr/>
        </p:nvSpPr>
        <p:spPr>
          <a:xfrm>
            <a:off x="5760720" y="3794760"/>
            <a:ext cx="2926080" cy="777240"/>
          </a:xfrm>
          <a:prstGeom prst="roundRect">
            <a:avLst>
              <a:gd name="adj" fmla="val 9412"/>
            </a:avLst>
          </a:prstGeom>
          <a:solidFill>
            <a:srgbClr val="27333D"/>
          </a:solidFill>
          <a:ln w="9525">
            <a:solidFill>
              <a:srgbClr val="27333D"/>
            </a:solidFill>
            <a:prstDash val="solid"/>
          </a:ln>
        </p:spPr>
      </p:sp>
      <p:sp>
        <p:nvSpPr>
          <p:cNvPr id="13" name="Text 10"/>
          <p:cNvSpPr txBox="1"/>
          <p:nvPr/>
        </p:nvSpPr>
        <p:spPr>
          <a:xfrm>
            <a:off x="5870448" y="3840480"/>
            <a:ext cx="2706624" cy="6858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 model trained mostly on simulated audio meets a different signal in deployment.</a:t>
            </a:r>
            <a:endParaRPr lang="en-US" sz="12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HEAR  ·  EDA FINDINGS 2 AND 3</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Real traffic varies; simulation is scripted</a:t>
            </a:r>
            <a:endParaRPr lang="en-US" sz="2400" dirty="0"/>
          </a:p>
        </p:txBody>
      </p:sp>
      <p:graphicFrame>
        <p:nvGraphicFramePr>
          <p:cNvPr id="4" name="Chart 0" descr=""/>
          <p:cNvGraphicFramePr/>
          <p:nvPr/>
        </p:nvGraphicFramePr>
        <p:xfrm>
          <a:off x="457200" y="1188720"/>
          <a:ext cx="502920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760720" y="1188720"/>
            <a:ext cx="2926080" cy="365760"/>
          </a:xfrm>
          <a:prstGeom prst="rect">
            <a:avLst/>
          </a:prstGeom>
          <a:noFill/>
          <a:ln/>
        </p:spPr>
        <p:txBody>
          <a:bodyPr wrap="square" lIns="0" tIns="0" rIns="0" bIns="0" rtlCol="0" anchor="ctr"/>
          <a:lstStyle/>
          <a:p>
            <a:pPr indent="0" marL="0">
              <a:buNone/>
            </a:pPr>
            <a:r>
              <a:rPr lang="en-US" sz="2000" b="1" dirty="0">
                <a:solidFill>
                  <a:srgbClr val="0097A7"/>
                </a:solidFill>
                <a:latin typeface="Arial" pitchFamily="34" charset="0"/>
                <a:ea typeface="Arial" pitchFamily="34" charset="-122"/>
                <a:cs typeface="Arial" pitchFamily="34" charset="-120"/>
              </a:rPr>
              <a:t>0.0141 vs 0.0077</a:t>
            </a:r>
            <a:endParaRPr lang="en-US" sz="2000" dirty="0"/>
          </a:p>
        </p:txBody>
      </p:sp>
      <p:sp>
        <p:nvSpPr>
          <p:cNvPr id="6" name="Text 3"/>
          <p:cNvSpPr txBox="1"/>
          <p:nvPr/>
        </p:nvSpPr>
        <p:spPr>
          <a:xfrm>
            <a:off x="5760720" y="1554480"/>
            <a:ext cx="2926080" cy="41148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type-token ratio (distinct ÷ total words); real is ~2x richer</a:t>
            </a:r>
            <a:endParaRPr lang="en-US" sz="1200" dirty="0"/>
          </a:p>
        </p:txBody>
      </p:sp>
      <p:sp>
        <p:nvSpPr>
          <p:cNvPr id="7" name="Text 4"/>
          <p:cNvSpPr txBox="1"/>
          <p:nvPr/>
        </p:nvSpPr>
        <p:spPr>
          <a:xfrm>
            <a:off x="5760720" y="2057400"/>
            <a:ext cx="2926080" cy="365760"/>
          </a:xfrm>
          <a:prstGeom prst="rect">
            <a:avLst/>
          </a:prstGeom>
          <a:noFill/>
          <a:ln/>
        </p:spPr>
        <p:txBody>
          <a:bodyPr wrap="square" lIns="0" tIns="0" rIns="0" bIns="0" rtlCol="0" anchor="ctr"/>
          <a:lstStyle/>
          <a:p>
            <a:pPr indent="0" marL="0">
              <a:buNone/>
            </a:pPr>
            <a:r>
              <a:rPr lang="en-US" sz="2000" b="1" dirty="0">
                <a:solidFill>
                  <a:srgbClr val="0097A7"/>
                </a:solidFill>
                <a:latin typeface="Arial" pitchFamily="34" charset="0"/>
                <a:ea typeface="Arial" pitchFamily="34" charset="-122"/>
                <a:cs typeface="Arial" pitchFamily="34" charset="-120"/>
              </a:rPr>
              <a:t>1,167 vs 830</a:t>
            </a:r>
            <a:endParaRPr lang="en-US" sz="2000" dirty="0"/>
          </a:p>
        </p:txBody>
      </p:sp>
      <p:sp>
        <p:nvSpPr>
          <p:cNvPr id="8" name="Text 5"/>
          <p:cNvSpPr txBox="1"/>
          <p:nvPr/>
        </p:nvSpPr>
        <p:spPr>
          <a:xfrm>
            <a:off x="5760720" y="2423160"/>
            <a:ext cx="2926080" cy="41148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distinct word types, real vs. simulated</a:t>
            </a:r>
            <a:endParaRPr lang="en-US" sz="1200" dirty="0"/>
          </a:p>
        </p:txBody>
      </p:sp>
      <p:sp>
        <p:nvSpPr>
          <p:cNvPr id="9" name="Takeaway card"/>
          <p:cNvSpPr/>
          <p:nvPr/>
        </p:nvSpPr>
        <p:spPr>
          <a:xfrm>
            <a:off x="5760720" y="3017520"/>
            <a:ext cx="2926080" cy="1554480"/>
          </a:xfrm>
          <a:prstGeom prst="roundRect">
            <a:avLst>
              <a:gd name="adj" fmla="val 4706"/>
            </a:avLst>
          </a:prstGeom>
          <a:solidFill>
            <a:srgbClr val="27333D"/>
          </a:solidFill>
          <a:ln w="9525">
            <a:solidFill>
              <a:srgbClr val="27333D"/>
            </a:solidFill>
            <a:prstDash val="solid"/>
          </a:ln>
        </p:spPr>
      </p:sp>
      <p:sp>
        <p:nvSpPr>
          <p:cNvPr id="10" name="Text 7"/>
          <p:cNvSpPr txBox="1"/>
          <p:nvPr/>
        </p:nvSpPr>
        <p:spPr>
          <a:xfrm>
            <a:off x="5897880" y="3108960"/>
            <a:ext cx="2651760" cy="137160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Simulation leans on a small set of standard instructions. Real traffic mixes short acknowledgements with a wider vocabulary, so it is the better test.</a:t>
            </a:r>
            <a:endParaRPr lang="en-US" sz="125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HEAR  ·  ASR RESULTS</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Fine-tuning cut real-audio WER to 7.5%</a:t>
            </a:r>
            <a:endParaRPr lang="en-US" sz="2400" dirty="0"/>
          </a:p>
        </p:txBody>
      </p:sp>
      <p:graphicFrame>
        <p:nvGraphicFramePr>
          <p:cNvPr id="4" name="Chart 0" descr=""/>
          <p:cNvGraphicFramePr/>
          <p:nvPr/>
        </p:nvGraphicFramePr>
        <p:xfrm>
          <a:off x="457200" y="1188720"/>
          <a:ext cx="5394960" cy="2971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126480" y="1188720"/>
            <a:ext cx="2560320" cy="457200"/>
          </a:xfrm>
          <a:prstGeom prst="rect">
            <a:avLst/>
          </a:prstGeom>
          <a:noFill/>
          <a:ln/>
        </p:spPr>
        <p:txBody>
          <a:bodyPr wrap="square" lIns="0" tIns="0" rIns="0" bIns="0" rtlCol="0" anchor="ctr"/>
          <a:lstStyle/>
          <a:p>
            <a:pPr indent="0" marL="0">
              <a:buNone/>
            </a:pPr>
            <a:r>
              <a:rPr lang="en-US" sz="2800" b="1" dirty="0">
                <a:solidFill>
                  <a:srgbClr val="0097A7"/>
                </a:solidFill>
                <a:latin typeface="Arial" pitchFamily="34" charset="0"/>
                <a:ea typeface="Arial" pitchFamily="34" charset="-122"/>
                <a:cs typeface="Arial" pitchFamily="34" charset="-120"/>
              </a:rPr>
              <a:t>3.8%</a:t>
            </a:r>
            <a:endParaRPr lang="en-US" sz="2800" dirty="0"/>
          </a:p>
        </p:txBody>
      </p:sp>
      <p:sp>
        <p:nvSpPr>
          <p:cNvPr id="6" name="Text 3"/>
          <p:cNvSpPr txBox="1"/>
          <p:nvPr/>
        </p:nvSpPr>
        <p:spPr>
          <a:xfrm>
            <a:off x="6126480" y="1645920"/>
            <a:ext cx="2560320" cy="54864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overall WER (95% CI 3.4–4.3), 1.2% on simulated audio</a:t>
            </a:r>
            <a:endParaRPr lang="en-US" sz="1200" dirty="0"/>
          </a:p>
        </p:txBody>
      </p:sp>
      <p:sp>
        <p:nvSpPr>
          <p:cNvPr id="7" name="Text 4"/>
          <p:cNvSpPr txBox="1"/>
          <p:nvPr/>
        </p:nvSpPr>
        <p:spPr>
          <a:xfrm>
            <a:off x="6126480" y="2240280"/>
            <a:ext cx="2560320" cy="457200"/>
          </a:xfrm>
          <a:prstGeom prst="rect">
            <a:avLst/>
          </a:prstGeom>
          <a:noFill/>
          <a:ln/>
        </p:spPr>
        <p:txBody>
          <a:bodyPr wrap="square" lIns="0" tIns="0" rIns="0" bIns="0" rtlCol="0" anchor="ctr"/>
          <a:lstStyle/>
          <a:p>
            <a:pPr indent="0" marL="0">
              <a:buNone/>
            </a:pPr>
            <a:r>
              <a:rPr lang="en-US" sz="2800" b="1" dirty="0">
                <a:solidFill>
                  <a:srgbClr val="0097A7"/>
                </a:solidFill>
                <a:latin typeface="Arial" pitchFamily="34" charset="0"/>
                <a:ea typeface="Arial" pitchFamily="34" charset="-122"/>
                <a:cs typeface="Arial" pitchFamily="34" charset="-120"/>
              </a:rPr>
              <a:t>−1.5 pts</a:t>
            </a:r>
            <a:endParaRPr lang="en-US" sz="2800" dirty="0"/>
          </a:p>
        </p:txBody>
      </p:sp>
      <p:sp>
        <p:nvSpPr>
          <p:cNvPr id="8" name="Text 5"/>
          <p:cNvSpPr txBox="1"/>
          <p:nvPr/>
        </p:nvSpPr>
        <p:spPr>
          <a:xfrm>
            <a:off x="6126480" y="2697480"/>
            <a:ext cx="2560320" cy="54864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vs. the off-the-shelf ATC model on real audio (CI −2.4 to −0.6)</a:t>
            </a:r>
            <a:endParaRPr lang="en-US" sz="1200" dirty="0"/>
          </a:p>
        </p:txBody>
      </p:sp>
      <p:sp>
        <p:nvSpPr>
          <p:cNvPr id="9" name="Text 6"/>
          <p:cNvSpPr txBox="1"/>
          <p:nvPr/>
        </p:nvSpPr>
        <p:spPr>
          <a:xfrm>
            <a:off x="457200" y="4206240"/>
            <a:ext cx="5394960" cy="457200"/>
          </a:xfrm>
          <a:prstGeom prst="rect">
            <a:avLst/>
          </a:prstGeom>
          <a:noFill/>
          <a:ln/>
        </p:spPr>
        <p:txBody>
          <a:bodyPr wrap="square" lIns="0" tIns="0" rIns="0" bIns="0" rtlCol="0" anchor="t"/>
          <a:lstStyle/>
          <a:p>
            <a:pPr indent="0" marL="0">
              <a:buNone/>
            </a:pPr>
            <a:r>
              <a:rPr lang="en-US" sz="1050" dirty="0">
                <a:solidFill>
                  <a:srgbClr val="5B6B78"/>
                </a:solidFill>
                <a:latin typeface="Arial" pitchFamily="34" charset="0"/>
                <a:ea typeface="Arial" pitchFamily="34" charset="-122"/>
                <a:cs typeface="Arial" pitchFamily="34" charset="-120"/>
              </a:rPr>
              <a:t>WER (word error rate) = the share of words the model gets wrong; lower is better. CI = 95% confidence interval, the plausible range.</a:t>
            </a:r>
            <a:endParaRPr lang="en-US" sz="1050" dirty="0"/>
          </a:p>
        </p:txBody>
      </p:sp>
      <p:sp>
        <p:nvSpPr>
          <p:cNvPr id="10" name="Text 7"/>
          <p:cNvSpPr txBox="1"/>
          <p:nvPr/>
        </p:nvSpPr>
        <p:spPr>
          <a:xfrm>
            <a:off x="6126480" y="3383280"/>
            <a:ext cx="2560320" cy="822960"/>
          </a:xfrm>
          <a:prstGeom prst="rect">
            <a:avLst/>
          </a:prstGeom>
          <a:noFill/>
          <a:ln/>
        </p:spPr>
        <p:txBody>
          <a:bodyPr wrap="square" lIns="0" tIns="0" rIns="0" bIns="0" rtlCol="0" anchor="t"/>
          <a:lstStyle/>
          <a:p>
            <a:pPr indent="0" marL="0">
              <a:buNone/>
            </a:pPr>
            <a:r>
              <a:rPr lang="en-US" sz="1100" dirty="0">
                <a:solidFill>
                  <a:srgbClr val="5B6B78"/>
                </a:solidFill>
                <a:latin typeface="Arial" pitchFamily="34" charset="0"/>
                <a:ea typeface="Arial" pitchFamily="34" charset="-122"/>
                <a:cs typeface="Arial" pitchFamily="34" charset="-120"/>
              </a:rPr>
              <a:t>That model may have seen part of the test audio during its own training, so its number carries a leakage caveat.</a:t>
            </a:r>
            <a:endParaRPr lang="en-US" sz="11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UNDERSTAND  ·  ENTITY EXTRACTION</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An LLM teaches a small, fast model</a:t>
            </a:r>
            <a:endParaRPr lang="en-US" sz="2400" dirty="0"/>
          </a:p>
        </p:txBody>
      </p:sp>
      <p:sp>
        <p:nvSpPr>
          <p:cNvPr id="4" name="Flow card LLM teacher"/>
          <p:cNvSpPr/>
          <p:nvPr/>
        </p:nvSpPr>
        <p:spPr>
          <a:xfrm>
            <a:off x="457200" y="1188720"/>
            <a:ext cx="1828800" cy="2057400"/>
          </a:xfrm>
          <a:prstGeom prst="roundRect">
            <a:avLst>
              <a:gd name="adj" fmla="val 4000"/>
            </a:avLst>
          </a:prstGeom>
          <a:solidFill>
            <a:srgbClr val="F3F8FC"/>
          </a:solidFill>
          <a:ln w="9525">
            <a:solidFill>
              <a:srgbClr val="D5E1EA"/>
            </a:solidFill>
            <a:prstDash val="solid"/>
          </a:ln>
        </p:spPr>
      </p:sp>
      <p:sp>
        <p:nvSpPr>
          <p:cNvPr id="5" name="LLM teacher icon circle"/>
          <p:cNvSpPr/>
          <p:nvPr/>
        </p:nvSpPr>
        <p:spPr>
          <a:xfrm>
            <a:off x="594360" y="1325880"/>
            <a:ext cx="502920" cy="502920"/>
          </a:xfrm>
          <a:prstGeom prst="ellipse">
            <a:avLst/>
          </a:prstGeom>
          <a:solidFill>
            <a:srgbClr val="0097A7"/>
          </a:solidFill>
          <a:ln w="12700">
            <a:solidFill>
              <a:srgbClr val="0097A7"/>
            </a:solidFill>
            <a:prstDash val="solid"/>
          </a:ln>
        </p:spPr>
      </p:sp>
      <p:pic>
        <p:nvPicPr>
          <p:cNvPr id="6" name="LLM teacher icon" descr="LLM teacher">    </p:cNvPr>
          <p:cNvPicPr>
            <a:picLocks noChangeAspect="1"/>
          </p:cNvPicPr>
          <p:nvPr/>
        </p:nvPicPr>
        <p:blipFill>
          <a:blip r:embed="rId1"/>
          <a:stretch>
            <a:fillRect/>
          </a:stretch>
        </p:blipFill>
        <p:spPr>
          <a:xfrm>
            <a:off x="720090" y="1451610"/>
            <a:ext cx="251460" cy="251460"/>
          </a:xfrm>
          <a:prstGeom prst="rect">
            <a:avLst/>
          </a:prstGeom>
        </p:spPr>
      </p:pic>
      <p:sp>
        <p:nvSpPr>
          <p:cNvPr id="7" name="Text 4"/>
          <p:cNvSpPr txBox="1"/>
          <p:nvPr/>
        </p:nvSpPr>
        <p:spPr>
          <a:xfrm>
            <a:off x="594360" y="1920240"/>
            <a:ext cx="1554480" cy="274320"/>
          </a:xfrm>
          <a:prstGeom prst="rect">
            <a:avLst/>
          </a:prstGeom>
          <a:noFill/>
          <a:ln/>
        </p:spPr>
        <p:txBody>
          <a:bodyPr wrap="square" lIns="0" tIns="0" rIns="0" bIns="0" rtlCol="0" anchor="ctr"/>
          <a:lstStyle/>
          <a:p>
            <a:pPr indent="0" marL="0">
              <a:buNone/>
            </a:pPr>
            <a:r>
              <a:rPr lang="en-US" sz="1400" b="1" dirty="0">
                <a:solidFill>
                  <a:srgbClr val="384957"/>
                </a:solidFill>
                <a:latin typeface="Arial" pitchFamily="34" charset="0"/>
                <a:ea typeface="Arial" pitchFamily="34" charset="-122"/>
                <a:cs typeface="Arial" pitchFamily="34" charset="-120"/>
              </a:rPr>
              <a:t>LLM teacher</a:t>
            </a:r>
            <a:endParaRPr lang="en-US" sz="1400" dirty="0"/>
          </a:p>
        </p:txBody>
      </p:sp>
      <p:sp>
        <p:nvSpPr>
          <p:cNvPr id="8" name="Text 5"/>
          <p:cNvSpPr txBox="1"/>
          <p:nvPr/>
        </p:nvSpPr>
        <p:spPr>
          <a:xfrm>
            <a:off x="594360" y="2240280"/>
            <a:ext cx="1572768" cy="96012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Qwen3.5-9B labeled 15,083 utterances: 42,915 spans in 12.5 h</a:t>
            </a:r>
            <a:endParaRPr lang="en-US" sz="1200" dirty="0"/>
          </a:p>
        </p:txBody>
      </p:sp>
      <p:sp>
        <p:nvSpPr>
          <p:cNvPr id="9" name="Flow arrow 1"/>
          <p:cNvSpPr/>
          <p:nvPr/>
        </p:nvSpPr>
        <p:spPr>
          <a:xfrm>
            <a:off x="2322576" y="2057400"/>
            <a:ext cx="228600" cy="228600"/>
          </a:xfrm>
          <a:prstGeom prst="rightArrow">
            <a:avLst/>
          </a:prstGeom>
          <a:solidFill>
            <a:srgbClr val="0097A7"/>
          </a:solidFill>
          <a:ln w="12700">
            <a:solidFill>
              <a:srgbClr val="0097A7"/>
            </a:solidFill>
            <a:prstDash val="solid"/>
          </a:ln>
        </p:spPr>
      </p:sp>
      <p:sp>
        <p:nvSpPr>
          <p:cNvPr id="10" name="Flow card Curate"/>
          <p:cNvSpPr/>
          <p:nvPr/>
        </p:nvSpPr>
        <p:spPr>
          <a:xfrm>
            <a:off x="2587752" y="1188720"/>
            <a:ext cx="1828800" cy="2057400"/>
          </a:xfrm>
          <a:prstGeom prst="roundRect">
            <a:avLst>
              <a:gd name="adj" fmla="val 4000"/>
            </a:avLst>
          </a:prstGeom>
          <a:solidFill>
            <a:srgbClr val="F3F8FC"/>
          </a:solidFill>
          <a:ln w="9525">
            <a:solidFill>
              <a:srgbClr val="D5E1EA"/>
            </a:solidFill>
            <a:prstDash val="solid"/>
          </a:ln>
        </p:spPr>
      </p:sp>
      <p:sp>
        <p:nvSpPr>
          <p:cNvPr id="11" name="Curate icon circle"/>
          <p:cNvSpPr/>
          <p:nvPr/>
        </p:nvSpPr>
        <p:spPr>
          <a:xfrm>
            <a:off x="2724912" y="1325880"/>
            <a:ext cx="502920" cy="502920"/>
          </a:xfrm>
          <a:prstGeom prst="ellipse">
            <a:avLst/>
          </a:prstGeom>
          <a:solidFill>
            <a:srgbClr val="0097A7"/>
          </a:solidFill>
          <a:ln w="12700">
            <a:solidFill>
              <a:srgbClr val="0097A7"/>
            </a:solidFill>
            <a:prstDash val="solid"/>
          </a:ln>
        </p:spPr>
      </p:sp>
      <p:pic>
        <p:nvPicPr>
          <p:cNvPr id="12" name="Curate icon" descr="Curate">    </p:cNvPr>
          <p:cNvPicPr>
            <a:picLocks noChangeAspect="1"/>
          </p:cNvPicPr>
          <p:nvPr/>
        </p:nvPicPr>
        <p:blipFill>
          <a:blip r:embed="rId2"/>
          <a:stretch>
            <a:fillRect/>
          </a:stretch>
        </p:blipFill>
        <p:spPr>
          <a:xfrm>
            <a:off x="2850642" y="1451610"/>
            <a:ext cx="251460" cy="251460"/>
          </a:xfrm>
          <a:prstGeom prst="rect">
            <a:avLst/>
          </a:prstGeom>
        </p:spPr>
      </p:pic>
      <p:sp>
        <p:nvSpPr>
          <p:cNvPr id="13" name="Text 9"/>
          <p:cNvSpPr txBox="1"/>
          <p:nvPr/>
        </p:nvSpPr>
        <p:spPr>
          <a:xfrm>
            <a:off x="2724912" y="1920240"/>
            <a:ext cx="1554480" cy="274320"/>
          </a:xfrm>
          <a:prstGeom prst="rect">
            <a:avLst/>
          </a:prstGeom>
          <a:noFill/>
          <a:ln/>
        </p:spPr>
        <p:txBody>
          <a:bodyPr wrap="square" lIns="0" tIns="0" rIns="0" bIns="0" rtlCol="0" anchor="ctr"/>
          <a:lstStyle/>
          <a:p>
            <a:pPr indent="0" marL="0">
              <a:buNone/>
            </a:pPr>
            <a:r>
              <a:rPr lang="en-US" sz="1400" b="1" dirty="0">
                <a:solidFill>
                  <a:srgbClr val="384957"/>
                </a:solidFill>
                <a:latin typeface="Arial" pitchFamily="34" charset="0"/>
                <a:ea typeface="Arial" pitchFamily="34" charset="-122"/>
                <a:cs typeface="Arial" pitchFamily="34" charset="-120"/>
              </a:rPr>
              <a:t>Curate</a:t>
            </a:r>
            <a:endParaRPr lang="en-US" sz="1400" dirty="0"/>
          </a:p>
        </p:txBody>
      </p:sp>
      <p:sp>
        <p:nvSpPr>
          <p:cNvPr id="14" name="Text 10"/>
          <p:cNvSpPr txBox="1"/>
          <p:nvPr/>
        </p:nvSpPr>
        <p:spPr>
          <a:xfrm>
            <a:off x="2724912" y="2240280"/>
            <a:ext cx="1572768" cy="96012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33% of labels were flagged as doubtful and held out of training</a:t>
            </a:r>
            <a:endParaRPr lang="en-US" sz="1200" dirty="0"/>
          </a:p>
        </p:txBody>
      </p:sp>
      <p:sp>
        <p:nvSpPr>
          <p:cNvPr id="15" name="Flow arrow 2"/>
          <p:cNvSpPr/>
          <p:nvPr/>
        </p:nvSpPr>
        <p:spPr>
          <a:xfrm>
            <a:off x="4453128" y="2057400"/>
            <a:ext cx="228600" cy="228600"/>
          </a:xfrm>
          <a:prstGeom prst="rightArrow">
            <a:avLst/>
          </a:prstGeom>
          <a:solidFill>
            <a:srgbClr val="0097A7"/>
          </a:solidFill>
          <a:ln w="12700">
            <a:solidFill>
              <a:srgbClr val="0097A7"/>
            </a:solidFill>
            <a:prstDash val="solid"/>
          </a:ln>
        </p:spPr>
      </p:sp>
      <p:sp>
        <p:nvSpPr>
          <p:cNvPr id="16" name="Flow card Verify"/>
          <p:cNvSpPr/>
          <p:nvPr/>
        </p:nvSpPr>
        <p:spPr>
          <a:xfrm>
            <a:off x="4718304" y="1188720"/>
            <a:ext cx="1828800" cy="2057400"/>
          </a:xfrm>
          <a:prstGeom prst="roundRect">
            <a:avLst>
              <a:gd name="adj" fmla="val 4000"/>
            </a:avLst>
          </a:prstGeom>
          <a:solidFill>
            <a:srgbClr val="F3F8FC"/>
          </a:solidFill>
          <a:ln w="9525">
            <a:solidFill>
              <a:srgbClr val="D5E1EA"/>
            </a:solidFill>
            <a:prstDash val="solid"/>
          </a:ln>
        </p:spPr>
      </p:sp>
      <p:sp>
        <p:nvSpPr>
          <p:cNvPr id="17" name="Verify icon circle"/>
          <p:cNvSpPr/>
          <p:nvPr/>
        </p:nvSpPr>
        <p:spPr>
          <a:xfrm>
            <a:off x="4855464" y="1325880"/>
            <a:ext cx="502920" cy="502920"/>
          </a:xfrm>
          <a:prstGeom prst="ellipse">
            <a:avLst/>
          </a:prstGeom>
          <a:solidFill>
            <a:srgbClr val="0097A7"/>
          </a:solidFill>
          <a:ln w="12700">
            <a:solidFill>
              <a:srgbClr val="0097A7"/>
            </a:solidFill>
            <a:prstDash val="solid"/>
          </a:ln>
        </p:spPr>
      </p:sp>
      <p:pic>
        <p:nvPicPr>
          <p:cNvPr id="18" name="Verify icon" descr="Verify">    </p:cNvPr>
          <p:cNvPicPr>
            <a:picLocks noChangeAspect="1"/>
          </p:cNvPicPr>
          <p:nvPr/>
        </p:nvPicPr>
        <p:blipFill>
          <a:blip r:embed="rId3"/>
          <a:stretch>
            <a:fillRect/>
          </a:stretch>
        </p:blipFill>
        <p:spPr>
          <a:xfrm>
            <a:off x="4981194" y="1451610"/>
            <a:ext cx="251460" cy="251460"/>
          </a:xfrm>
          <a:prstGeom prst="rect">
            <a:avLst/>
          </a:prstGeom>
        </p:spPr>
      </p:pic>
      <p:sp>
        <p:nvSpPr>
          <p:cNvPr id="19" name="Text 14"/>
          <p:cNvSpPr txBox="1"/>
          <p:nvPr/>
        </p:nvSpPr>
        <p:spPr>
          <a:xfrm>
            <a:off x="4855464" y="1920240"/>
            <a:ext cx="1554480" cy="274320"/>
          </a:xfrm>
          <a:prstGeom prst="rect">
            <a:avLst/>
          </a:prstGeom>
          <a:noFill/>
          <a:ln/>
        </p:spPr>
        <p:txBody>
          <a:bodyPr wrap="square" lIns="0" tIns="0" rIns="0" bIns="0" rtlCol="0" anchor="ctr"/>
          <a:lstStyle/>
          <a:p>
            <a:pPr indent="0" marL="0">
              <a:buNone/>
            </a:pPr>
            <a:r>
              <a:rPr lang="en-US" sz="1400" b="1" dirty="0">
                <a:solidFill>
                  <a:srgbClr val="384957"/>
                </a:solidFill>
                <a:latin typeface="Arial" pitchFamily="34" charset="0"/>
                <a:ea typeface="Arial" pitchFamily="34" charset="-122"/>
                <a:cs typeface="Arial" pitchFamily="34" charset="-120"/>
              </a:rPr>
              <a:t>Verify</a:t>
            </a:r>
            <a:endParaRPr lang="en-US" sz="1400" dirty="0"/>
          </a:p>
        </p:txBody>
      </p:sp>
      <p:sp>
        <p:nvSpPr>
          <p:cNvPr id="20" name="Text 15"/>
          <p:cNvSpPr txBox="1"/>
          <p:nvPr/>
        </p:nvSpPr>
        <p:spPr>
          <a:xfrm>
            <a:off x="4855464" y="2240280"/>
            <a:ext cx="1572768" cy="96012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Humans adjudicated disagreements to build a frozen held-out set</a:t>
            </a:r>
            <a:endParaRPr lang="en-US" sz="1200" dirty="0"/>
          </a:p>
        </p:txBody>
      </p:sp>
      <p:sp>
        <p:nvSpPr>
          <p:cNvPr id="21" name="Flow arrow 3"/>
          <p:cNvSpPr/>
          <p:nvPr/>
        </p:nvSpPr>
        <p:spPr>
          <a:xfrm>
            <a:off x="6583680" y="2057400"/>
            <a:ext cx="228600" cy="228600"/>
          </a:xfrm>
          <a:prstGeom prst="rightArrow">
            <a:avLst/>
          </a:prstGeom>
          <a:solidFill>
            <a:srgbClr val="0097A7"/>
          </a:solidFill>
          <a:ln w="12700">
            <a:solidFill>
              <a:srgbClr val="0097A7"/>
            </a:solidFill>
            <a:prstDash val="solid"/>
          </a:ln>
        </p:spPr>
      </p:sp>
      <p:sp>
        <p:nvSpPr>
          <p:cNvPr id="22" name="Flow card Student"/>
          <p:cNvSpPr/>
          <p:nvPr/>
        </p:nvSpPr>
        <p:spPr>
          <a:xfrm>
            <a:off x="6848856" y="1188720"/>
            <a:ext cx="1828800" cy="2057400"/>
          </a:xfrm>
          <a:prstGeom prst="roundRect">
            <a:avLst>
              <a:gd name="adj" fmla="val 4000"/>
            </a:avLst>
          </a:prstGeom>
          <a:solidFill>
            <a:srgbClr val="F3F8FC"/>
          </a:solidFill>
          <a:ln w="9525">
            <a:solidFill>
              <a:srgbClr val="D5E1EA"/>
            </a:solidFill>
            <a:prstDash val="solid"/>
          </a:ln>
        </p:spPr>
      </p:sp>
      <p:sp>
        <p:nvSpPr>
          <p:cNvPr id="23" name="Student icon circle"/>
          <p:cNvSpPr/>
          <p:nvPr/>
        </p:nvSpPr>
        <p:spPr>
          <a:xfrm>
            <a:off x="6986016" y="1325880"/>
            <a:ext cx="502920" cy="502920"/>
          </a:xfrm>
          <a:prstGeom prst="ellipse">
            <a:avLst/>
          </a:prstGeom>
          <a:solidFill>
            <a:srgbClr val="0097A7"/>
          </a:solidFill>
          <a:ln w="12700">
            <a:solidFill>
              <a:srgbClr val="0097A7"/>
            </a:solidFill>
            <a:prstDash val="solid"/>
          </a:ln>
        </p:spPr>
      </p:sp>
      <p:pic>
        <p:nvPicPr>
          <p:cNvPr id="24" name="Student icon" descr="Student">    </p:cNvPr>
          <p:cNvPicPr>
            <a:picLocks noChangeAspect="1"/>
          </p:cNvPicPr>
          <p:nvPr/>
        </p:nvPicPr>
        <p:blipFill>
          <a:blip r:embed="rId4"/>
          <a:stretch>
            <a:fillRect/>
          </a:stretch>
        </p:blipFill>
        <p:spPr>
          <a:xfrm>
            <a:off x="7111746" y="1451610"/>
            <a:ext cx="251460" cy="251460"/>
          </a:xfrm>
          <a:prstGeom prst="rect">
            <a:avLst/>
          </a:prstGeom>
        </p:spPr>
      </p:pic>
      <p:sp>
        <p:nvSpPr>
          <p:cNvPr id="25" name="Text 19"/>
          <p:cNvSpPr txBox="1"/>
          <p:nvPr/>
        </p:nvSpPr>
        <p:spPr>
          <a:xfrm>
            <a:off x="6986016" y="1920240"/>
            <a:ext cx="1554480" cy="274320"/>
          </a:xfrm>
          <a:prstGeom prst="rect">
            <a:avLst/>
          </a:prstGeom>
          <a:noFill/>
          <a:ln/>
        </p:spPr>
        <p:txBody>
          <a:bodyPr wrap="square" lIns="0" tIns="0" rIns="0" bIns="0" rtlCol="0" anchor="ctr"/>
          <a:lstStyle/>
          <a:p>
            <a:pPr indent="0" marL="0">
              <a:buNone/>
            </a:pPr>
            <a:r>
              <a:rPr lang="en-US" sz="1400" b="1" dirty="0">
                <a:solidFill>
                  <a:srgbClr val="384957"/>
                </a:solidFill>
                <a:latin typeface="Arial" pitchFamily="34" charset="0"/>
                <a:ea typeface="Arial" pitchFamily="34" charset="-122"/>
                <a:cs typeface="Arial" pitchFamily="34" charset="-120"/>
              </a:rPr>
              <a:t>Student</a:t>
            </a:r>
            <a:endParaRPr lang="en-US" sz="1400" dirty="0"/>
          </a:p>
        </p:txBody>
      </p:sp>
      <p:sp>
        <p:nvSpPr>
          <p:cNvPr id="26" name="Text 20"/>
          <p:cNvSpPr txBox="1"/>
          <p:nvPr/>
        </p:nvSpPr>
        <p:spPr>
          <a:xfrm>
            <a:off x="6986016" y="2240280"/>
            <a:ext cx="1572768" cy="96012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spaCy NER: about 4 MB and 3,700 utterances/s on a CPU</a:t>
            </a:r>
            <a:endParaRPr lang="en-US" sz="1200" dirty="0"/>
          </a:p>
        </p:txBody>
      </p:sp>
      <p:sp>
        <p:nvSpPr>
          <p:cNvPr id="27" name="Text 21"/>
          <p:cNvSpPr txBox="1"/>
          <p:nvPr/>
        </p:nvSpPr>
        <p:spPr>
          <a:xfrm>
            <a:off x="457200" y="3474720"/>
            <a:ext cx="8229600" cy="228600"/>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NINE LABELS</a:t>
            </a:r>
            <a:endParaRPr lang="en-US" sz="1050" dirty="0"/>
          </a:p>
        </p:txBody>
      </p:sp>
      <p:sp>
        <p:nvSpPr>
          <p:cNvPr id="28" name="Label chip CALLSIGN"/>
          <p:cNvSpPr/>
          <p:nvPr/>
        </p:nvSpPr>
        <p:spPr>
          <a:xfrm>
            <a:off x="457200" y="3794760"/>
            <a:ext cx="868680" cy="365760"/>
          </a:xfrm>
          <a:prstGeom prst="roundRect">
            <a:avLst>
              <a:gd name="adj" fmla="val 20000"/>
            </a:avLst>
          </a:prstGeom>
          <a:solidFill>
            <a:srgbClr val="DBEEFF"/>
          </a:solidFill>
          <a:ln w="12700">
            <a:solidFill>
              <a:srgbClr val="DBEEFF"/>
            </a:solidFill>
            <a:prstDash val="solid"/>
          </a:ln>
        </p:spPr>
      </p:sp>
      <p:sp>
        <p:nvSpPr>
          <p:cNvPr id="29" name="Text 23"/>
          <p:cNvSpPr txBox="1"/>
          <p:nvPr/>
        </p:nvSpPr>
        <p:spPr>
          <a:xfrm>
            <a:off x="457200" y="3794760"/>
            <a:ext cx="868680" cy="365760"/>
          </a:xfrm>
          <a:prstGeom prst="rect">
            <a:avLst/>
          </a:prstGeom>
          <a:noFill/>
          <a:ln/>
        </p:spPr>
        <p:txBody>
          <a:bodyPr wrap="square" lIns="0" tIns="0" rIns="0" bIns="0" rtlCol="0" anchor="ctr"/>
          <a:lstStyle/>
          <a:p>
            <a:pPr algn="ctr" indent="0" marL="0">
              <a:buNone/>
            </a:pPr>
            <a:r>
              <a:rPr lang="en-US" sz="1000" b="1" dirty="0">
                <a:solidFill>
                  <a:srgbClr val="384957"/>
                </a:solidFill>
                <a:latin typeface="Arial" pitchFamily="34" charset="0"/>
                <a:ea typeface="Arial" pitchFamily="34" charset="-122"/>
                <a:cs typeface="Arial" pitchFamily="34" charset="-120"/>
              </a:rPr>
              <a:t>CALLSIGN</a:t>
            </a:r>
            <a:endParaRPr lang="en-US" sz="1000" dirty="0"/>
          </a:p>
        </p:txBody>
      </p:sp>
      <p:sp>
        <p:nvSpPr>
          <p:cNvPr id="30" name="Label chip COMMAND"/>
          <p:cNvSpPr/>
          <p:nvPr/>
        </p:nvSpPr>
        <p:spPr>
          <a:xfrm>
            <a:off x="1417320" y="3794760"/>
            <a:ext cx="868680" cy="365760"/>
          </a:xfrm>
          <a:prstGeom prst="roundRect">
            <a:avLst>
              <a:gd name="adj" fmla="val 20000"/>
            </a:avLst>
          </a:prstGeom>
          <a:solidFill>
            <a:srgbClr val="DBEEFF"/>
          </a:solidFill>
          <a:ln w="12700">
            <a:solidFill>
              <a:srgbClr val="DBEEFF"/>
            </a:solidFill>
            <a:prstDash val="solid"/>
          </a:ln>
        </p:spPr>
      </p:sp>
      <p:sp>
        <p:nvSpPr>
          <p:cNvPr id="31" name="Text 25"/>
          <p:cNvSpPr txBox="1"/>
          <p:nvPr/>
        </p:nvSpPr>
        <p:spPr>
          <a:xfrm>
            <a:off x="1417320" y="3794760"/>
            <a:ext cx="868680" cy="365760"/>
          </a:xfrm>
          <a:prstGeom prst="rect">
            <a:avLst/>
          </a:prstGeom>
          <a:noFill/>
          <a:ln/>
        </p:spPr>
        <p:txBody>
          <a:bodyPr wrap="square" lIns="0" tIns="0" rIns="0" bIns="0" rtlCol="0" anchor="ctr"/>
          <a:lstStyle/>
          <a:p>
            <a:pPr algn="ctr" indent="0" marL="0">
              <a:buNone/>
            </a:pPr>
            <a:r>
              <a:rPr lang="en-US" sz="1000" b="1" dirty="0">
                <a:solidFill>
                  <a:srgbClr val="384957"/>
                </a:solidFill>
                <a:latin typeface="Arial" pitchFamily="34" charset="0"/>
                <a:ea typeface="Arial" pitchFamily="34" charset="-122"/>
                <a:cs typeface="Arial" pitchFamily="34" charset="-120"/>
              </a:rPr>
              <a:t>COMMAND</a:t>
            </a:r>
            <a:endParaRPr lang="en-US" sz="1000" dirty="0"/>
          </a:p>
        </p:txBody>
      </p:sp>
      <p:sp>
        <p:nvSpPr>
          <p:cNvPr id="32" name="Label chip FACILITY"/>
          <p:cNvSpPr/>
          <p:nvPr/>
        </p:nvSpPr>
        <p:spPr>
          <a:xfrm>
            <a:off x="2377440" y="3794760"/>
            <a:ext cx="822960" cy="365760"/>
          </a:xfrm>
          <a:prstGeom prst="roundRect">
            <a:avLst>
              <a:gd name="adj" fmla="val 20000"/>
            </a:avLst>
          </a:prstGeom>
          <a:solidFill>
            <a:srgbClr val="DBEEFF"/>
          </a:solidFill>
          <a:ln w="12700">
            <a:solidFill>
              <a:srgbClr val="DBEEFF"/>
            </a:solidFill>
            <a:prstDash val="solid"/>
          </a:ln>
        </p:spPr>
      </p:sp>
      <p:sp>
        <p:nvSpPr>
          <p:cNvPr id="33" name="Text 27"/>
          <p:cNvSpPr txBox="1"/>
          <p:nvPr/>
        </p:nvSpPr>
        <p:spPr>
          <a:xfrm>
            <a:off x="2377440" y="3794760"/>
            <a:ext cx="822960" cy="365760"/>
          </a:xfrm>
          <a:prstGeom prst="rect">
            <a:avLst/>
          </a:prstGeom>
          <a:noFill/>
          <a:ln/>
        </p:spPr>
        <p:txBody>
          <a:bodyPr wrap="square" lIns="0" tIns="0" rIns="0" bIns="0" rtlCol="0" anchor="ctr"/>
          <a:lstStyle/>
          <a:p>
            <a:pPr algn="ctr" indent="0" marL="0">
              <a:buNone/>
            </a:pPr>
            <a:r>
              <a:rPr lang="en-US" sz="1000" b="1" dirty="0">
                <a:solidFill>
                  <a:srgbClr val="384957"/>
                </a:solidFill>
                <a:latin typeface="Arial" pitchFamily="34" charset="0"/>
                <a:ea typeface="Arial" pitchFamily="34" charset="-122"/>
                <a:cs typeface="Arial" pitchFamily="34" charset="-120"/>
              </a:rPr>
              <a:t>FACILITY</a:t>
            </a:r>
            <a:endParaRPr lang="en-US" sz="1000" dirty="0"/>
          </a:p>
        </p:txBody>
      </p:sp>
      <p:sp>
        <p:nvSpPr>
          <p:cNvPr id="34" name="Label chip ALTITUDE"/>
          <p:cNvSpPr/>
          <p:nvPr/>
        </p:nvSpPr>
        <p:spPr>
          <a:xfrm>
            <a:off x="3291840" y="3794760"/>
            <a:ext cx="822960" cy="365760"/>
          </a:xfrm>
          <a:prstGeom prst="roundRect">
            <a:avLst>
              <a:gd name="adj" fmla="val 20000"/>
            </a:avLst>
          </a:prstGeom>
          <a:solidFill>
            <a:srgbClr val="DBEEFF"/>
          </a:solidFill>
          <a:ln w="12700">
            <a:solidFill>
              <a:srgbClr val="DBEEFF"/>
            </a:solidFill>
            <a:prstDash val="solid"/>
          </a:ln>
        </p:spPr>
      </p:sp>
      <p:sp>
        <p:nvSpPr>
          <p:cNvPr id="35" name="Text 29"/>
          <p:cNvSpPr txBox="1"/>
          <p:nvPr/>
        </p:nvSpPr>
        <p:spPr>
          <a:xfrm>
            <a:off x="3291840" y="3794760"/>
            <a:ext cx="822960" cy="365760"/>
          </a:xfrm>
          <a:prstGeom prst="rect">
            <a:avLst/>
          </a:prstGeom>
          <a:noFill/>
          <a:ln/>
        </p:spPr>
        <p:txBody>
          <a:bodyPr wrap="square" lIns="0" tIns="0" rIns="0" bIns="0" rtlCol="0" anchor="ctr"/>
          <a:lstStyle/>
          <a:p>
            <a:pPr algn="ctr" indent="0" marL="0">
              <a:buNone/>
            </a:pPr>
            <a:r>
              <a:rPr lang="en-US" sz="1000" b="1" dirty="0">
                <a:solidFill>
                  <a:srgbClr val="384957"/>
                </a:solidFill>
                <a:latin typeface="Arial" pitchFamily="34" charset="0"/>
                <a:ea typeface="Arial" pitchFamily="34" charset="-122"/>
                <a:cs typeface="Arial" pitchFamily="34" charset="-120"/>
              </a:rPr>
              <a:t>ALTITUDE</a:t>
            </a:r>
            <a:endParaRPr lang="en-US" sz="1000" dirty="0"/>
          </a:p>
        </p:txBody>
      </p:sp>
      <p:sp>
        <p:nvSpPr>
          <p:cNvPr id="36" name="Label chip HEADING"/>
          <p:cNvSpPr/>
          <p:nvPr/>
        </p:nvSpPr>
        <p:spPr>
          <a:xfrm>
            <a:off x="4206240" y="3794760"/>
            <a:ext cx="777240" cy="365760"/>
          </a:xfrm>
          <a:prstGeom prst="roundRect">
            <a:avLst>
              <a:gd name="adj" fmla="val 20000"/>
            </a:avLst>
          </a:prstGeom>
          <a:solidFill>
            <a:srgbClr val="DBEEFF"/>
          </a:solidFill>
          <a:ln w="12700">
            <a:solidFill>
              <a:srgbClr val="DBEEFF"/>
            </a:solidFill>
            <a:prstDash val="solid"/>
          </a:ln>
        </p:spPr>
      </p:sp>
      <p:sp>
        <p:nvSpPr>
          <p:cNvPr id="37" name="Text 31"/>
          <p:cNvSpPr txBox="1"/>
          <p:nvPr/>
        </p:nvSpPr>
        <p:spPr>
          <a:xfrm>
            <a:off x="4206240" y="3794760"/>
            <a:ext cx="777240" cy="365760"/>
          </a:xfrm>
          <a:prstGeom prst="rect">
            <a:avLst/>
          </a:prstGeom>
          <a:noFill/>
          <a:ln/>
        </p:spPr>
        <p:txBody>
          <a:bodyPr wrap="square" lIns="0" tIns="0" rIns="0" bIns="0" rtlCol="0" anchor="ctr"/>
          <a:lstStyle/>
          <a:p>
            <a:pPr algn="ctr" indent="0" marL="0">
              <a:buNone/>
            </a:pPr>
            <a:r>
              <a:rPr lang="en-US" sz="1000" b="1" dirty="0">
                <a:solidFill>
                  <a:srgbClr val="384957"/>
                </a:solidFill>
                <a:latin typeface="Arial" pitchFamily="34" charset="0"/>
                <a:ea typeface="Arial" pitchFamily="34" charset="-122"/>
                <a:cs typeface="Arial" pitchFamily="34" charset="-120"/>
              </a:rPr>
              <a:t>HEADING</a:t>
            </a:r>
            <a:endParaRPr lang="en-US" sz="1000" dirty="0"/>
          </a:p>
        </p:txBody>
      </p:sp>
      <p:sp>
        <p:nvSpPr>
          <p:cNvPr id="38" name="Label chip FREQUENCY"/>
          <p:cNvSpPr/>
          <p:nvPr/>
        </p:nvSpPr>
        <p:spPr>
          <a:xfrm>
            <a:off x="5074920" y="3794760"/>
            <a:ext cx="960120" cy="365760"/>
          </a:xfrm>
          <a:prstGeom prst="roundRect">
            <a:avLst>
              <a:gd name="adj" fmla="val 20000"/>
            </a:avLst>
          </a:prstGeom>
          <a:solidFill>
            <a:srgbClr val="DBEEFF"/>
          </a:solidFill>
          <a:ln w="12700">
            <a:solidFill>
              <a:srgbClr val="DBEEFF"/>
            </a:solidFill>
            <a:prstDash val="solid"/>
          </a:ln>
        </p:spPr>
      </p:sp>
      <p:sp>
        <p:nvSpPr>
          <p:cNvPr id="39" name="Text 33"/>
          <p:cNvSpPr txBox="1"/>
          <p:nvPr/>
        </p:nvSpPr>
        <p:spPr>
          <a:xfrm>
            <a:off x="5074920" y="3794760"/>
            <a:ext cx="960120" cy="365760"/>
          </a:xfrm>
          <a:prstGeom prst="rect">
            <a:avLst/>
          </a:prstGeom>
          <a:noFill/>
          <a:ln/>
        </p:spPr>
        <p:txBody>
          <a:bodyPr wrap="square" lIns="0" tIns="0" rIns="0" bIns="0" rtlCol="0" anchor="ctr"/>
          <a:lstStyle/>
          <a:p>
            <a:pPr algn="ctr" indent="0" marL="0">
              <a:buNone/>
            </a:pPr>
            <a:r>
              <a:rPr lang="en-US" sz="1000" b="1" dirty="0">
                <a:solidFill>
                  <a:srgbClr val="384957"/>
                </a:solidFill>
                <a:latin typeface="Arial" pitchFamily="34" charset="0"/>
                <a:ea typeface="Arial" pitchFamily="34" charset="-122"/>
                <a:cs typeface="Arial" pitchFamily="34" charset="-120"/>
              </a:rPr>
              <a:t>FREQUENCY</a:t>
            </a:r>
            <a:endParaRPr lang="en-US" sz="1000" dirty="0"/>
          </a:p>
        </p:txBody>
      </p:sp>
      <p:sp>
        <p:nvSpPr>
          <p:cNvPr id="40" name="Label chip WAYPOINT"/>
          <p:cNvSpPr/>
          <p:nvPr/>
        </p:nvSpPr>
        <p:spPr>
          <a:xfrm>
            <a:off x="6126480" y="3794760"/>
            <a:ext cx="914400" cy="365760"/>
          </a:xfrm>
          <a:prstGeom prst="roundRect">
            <a:avLst>
              <a:gd name="adj" fmla="val 20000"/>
            </a:avLst>
          </a:prstGeom>
          <a:solidFill>
            <a:srgbClr val="DBEEFF"/>
          </a:solidFill>
          <a:ln w="12700">
            <a:solidFill>
              <a:srgbClr val="DBEEFF"/>
            </a:solidFill>
            <a:prstDash val="solid"/>
          </a:ln>
        </p:spPr>
      </p:sp>
      <p:sp>
        <p:nvSpPr>
          <p:cNvPr id="41" name="Text 35"/>
          <p:cNvSpPr txBox="1"/>
          <p:nvPr/>
        </p:nvSpPr>
        <p:spPr>
          <a:xfrm>
            <a:off x="6126480" y="3794760"/>
            <a:ext cx="914400" cy="365760"/>
          </a:xfrm>
          <a:prstGeom prst="rect">
            <a:avLst/>
          </a:prstGeom>
          <a:noFill/>
          <a:ln/>
        </p:spPr>
        <p:txBody>
          <a:bodyPr wrap="square" lIns="0" tIns="0" rIns="0" bIns="0" rtlCol="0" anchor="ctr"/>
          <a:lstStyle/>
          <a:p>
            <a:pPr algn="ctr" indent="0" marL="0">
              <a:buNone/>
            </a:pPr>
            <a:r>
              <a:rPr lang="en-US" sz="1000" b="1" dirty="0">
                <a:solidFill>
                  <a:srgbClr val="384957"/>
                </a:solidFill>
                <a:latin typeface="Arial" pitchFamily="34" charset="0"/>
                <a:ea typeface="Arial" pitchFamily="34" charset="-122"/>
                <a:cs typeface="Arial" pitchFamily="34" charset="-120"/>
              </a:rPr>
              <a:t>WAYPOINT</a:t>
            </a:r>
            <a:endParaRPr lang="en-US" sz="1000" dirty="0"/>
          </a:p>
        </p:txBody>
      </p:sp>
      <p:sp>
        <p:nvSpPr>
          <p:cNvPr id="42" name="Label chip RUNWAY"/>
          <p:cNvSpPr/>
          <p:nvPr/>
        </p:nvSpPr>
        <p:spPr>
          <a:xfrm>
            <a:off x="7132320" y="3794760"/>
            <a:ext cx="731520" cy="365760"/>
          </a:xfrm>
          <a:prstGeom prst="roundRect">
            <a:avLst>
              <a:gd name="adj" fmla="val 20000"/>
            </a:avLst>
          </a:prstGeom>
          <a:solidFill>
            <a:srgbClr val="DBEEFF"/>
          </a:solidFill>
          <a:ln w="12700">
            <a:solidFill>
              <a:srgbClr val="DBEEFF"/>
            </a:solidFill>
            <a:prstDash val="solid"/>
          </a:ln>
        </p:spPr>
      </p:sp>
      <p:sp>
        <p:nvSpPr>
          <p:cNvPr id="43" name="Text 37"/>
          <p:cNvSpPr txBox="1"/>
          <p:nvPr/>
        </p:nvSpPr>
        <p:spPr>
          <a:xfrm>
            <a:off x="7132320" y="3794760"/>
            <a:ext cx="731520" cy="365760"/>
          </a:xfrm>
          <a:prstGeom prst="rect">
            <a:avLst/>
          </a:prstGeom>
          <a:noFill/>
          <a:ln/>
        </p:spPr>
        <p:txBody>
          <a:bodyPr wrap="square" lIns="0" tIns="0" rIns="0" bIns="0" rtlCol="0" anchor="ctr"/>
          <a:lstStyle/>
          <a:p>
            <a:pPr algn="ctr" indent="0" marL="0">
              <a:buNone/>
            </a:pPr>
            <a:r>
              <a:rPr lang="en-US" sz="1000" b="1" dirty="0">
                <a:solidFill>
                  <a:srgbClr val="384957"/>
                </a:solidFill>
                <a:latin typeface="Arial" pitchFamily="34" charset="0"/>
                <a:ea typeface="Arial" pitchFamily="34" charset="-122"/>
                <a:cs typeface="Arial" pitchFamily="34" charset="-120"/>
              </a:rPr>
              <a:t>RUNWAY</a:t>
            </a:r>
            <a:endParaRPr lang="en-US" sz="1000" dirty="0"/>
          </a:p>
        </p:txBody>
      </p:sp>
      <p:sp>
        <p:nvSpPr>
          <p:cNvPr id="44" name="Label chip SQUAWK"/>
          <p:cNvSpPr/>
          <p:nvPr/>
        </p:nvSpPr>
        <p:spPr>
          <a:xfrm>
            <a:off x="7955280" y="3794760"/>
            <a:ext cx="731520" cy="365760"/>
          </a:xfrm>
          <a:prstGeom prst="roundRect">
            <a:avLst>
              <a:gd name="adj" fmla="val 20000"/>
            </a:avLst>
          </a:prstGeom>
          <a:solidFill>
            <a:srgbClr val="DBEEFF"/>
          </a:solidFill>
          <a:ln w="12700">
            <a:solidFill>
              <a:srgbClr val="DBEEFF"/>
            </a:solidFill>
            <a:prstDash val="solid"/>
          </a:ln>
        </p:spPr>
      </p:sp>
      <p:sp>
        <p:nvSpPr>
          <p:cNvPr id="45" name="Text 39"/>
          <p:cNvSpPr txBox="1"/>
          <p:nvPr/>
        </p:nvSpPr>
        <p:spPr>
          <a:xfrm>
            <a:off x="7955280" y="3794760"/>
            <a:ext cx="731520" cy="365760"/>
          </a:xfrm>
          <a:prstGeom prst="rect">
            <a:avLst/>
          </a:prstGeom>
          <a:noFill/>
          <a:ln/>
        </p:spPr>
        <p:txBody>
          <a:bodyPr wrap="square" lIns="0" tIns="0" rIns="0" bIns="0" rtlCol="0" anchor="ctr"/>
          <a:lstStyle/>
          <a:p>
            <a:pPr algn="ctr" indent="0" marL="0">
              <a:buNone/>
            </a:pPr>
            <a:r>
              <a:rPr lang="en-US" sz="1000" b="1" dirty="0">
                <a:solidFill>
                  <a:srgbClr val="384957"/>
                </a:solidFill>
                <a:latin typeface="Arial" pitchFamily="34" charset="0"/>
                <a:ea typeface="Arial" pitchFamily="34" charset="-122"/>
                <a:cs typeface="Arial" pitchFamily="34" charset="-120"/>
              </a:rPr>
              <a:t>SQUAWK</a:t>
            </a:r>
            <a:endParaRPr lang="en-US" sz="10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UNDERSTAND  ·  NER RESULTS</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NER is strong on structure, weaker on ambiguity</a:t>
            </a:r>
            <a:endParaRPr lang="en-US" sz="2400" dirty="0"/>
          </a:p>
        </p:txBody>
      </p:sp>
      <p:graphicFrame>
        <p:nvGraphicFramePr>
          <p:cNvPr id="4" name="Chart 0" descr=""/>
          <p:cNvGraphicFramePr/>
          <p:nvPr/>
        </p:nvGraphicFramePr>
        <p:xfrm>
          <a:off x="457200" y="1188720"/>
          <a:ext cx="457200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303520" y="1188720"/>
            <a:ext cx="3383280" cy="201168"/>
          </a:xfrm>
          <a:prstGeom prst="rect">
            <a:avLst/>
          </a:prstGeom>
          <a:noFill/>
          <a:ln/>
        </p:spPr>
        <p:txBody>
          <a:bodyPr wrap="square" lIns="0" tIns="0" rIns="0" bIns="0" rtlCol="0" anchor="ctr"/>
          <a:lstStyle/>
          <a:p>
            <a:pPr indent="0" marL="0">
              <a:buNone/>
            </a:pPr>
            <a:r>
              <a:rPr lang="en-US" sz="1000" b="1" spc="100" kern="0" dirty="0">
                <a:solidFill>
                  <a:srgbClr val="0097A7"/>
                </a:solidFill>
                <a:latin typeface="Arial" pitchFamily="34" charset="0"/>
                <a:ea typeface="Arial" pitchFamily="34" charset="-122"/>
                <a:cs typeface="Arial" pitchFamily="34" charset="-120"/>
              </a:rPr>
              <a:t>SPAN F1 SCORE  ·  0 TO 1, HIGHER IS BETTER</a:t>
            </a:r>
            <a:endParaRPr lang="en-US" sz="1000" dirty="0"/>
          </a:p>
        </p:txBody>
      </p:sp>
      <p:sp>
        <p:nvSpPr>
          <p:cNvPr id="6" name="Text 3"/>
          <p:cNvSpPr txBox="1"/>
          <p:nvPr/>
        </p:nvSpPr>
        <p:spPr>
          <a:xfrm>
            <a:off x="5303520" y="1417320"/>
            <a:ext cx="3383280" cy="457200"/>
          </a:xfrm>
          <a:prstGeom prst="rect">
            <a:avLst/>
          </a:prstGeom>
          <a:noFill/>
          <a:ln/>
        </p:spPr>
        <p:txBody>
          <a:bodyPr wrap="square" lIns="0" tIns="0" rIns="0" bIns="0" rtlCol="0" anchor="ctr"/>
          <a:lstStyle/>
          <a:p>
            <a:pPr indent="0" marL="0">
              <a:buNone/>
            </a:pPr>
            <a:r>
              <a:rPr lang="en-US" sz="2800" b="1" dirty="0">
                <a:solidFill>
                  <a:srgbClr val="0097A7"/>
                </a:solidFill>
                <a:latin typeface="Arial" pitchFamily="34" charset="0"/>
                <a:ea typeface="Arial" pitchFamily="34" charset="-122"/>
                <a:cs typeface="Arial" pitchFamily="34" charset="-120"/>
              </a:rPr>
              <a:t>0.861 vs 0.878</a:t>
            </a:r>
            <a:endParaRPr lang="en-US" sz="2800" dirty="0"/>
          </a:p>
        </p:txBody>
      </p:sp>
      <p:sp>
        <p:nvSpPr>
          <p:cNvPr id="7" name="Text 4"/>
          <p:cNvSpPr txBox="1"/>
          <p:nvPr/>
        </p:nvSpPr>
        <p:spPr>
          <a:xfrm>
            <a:off x="5303520" y="1920240"/>
            <a:ext cx="3383280" cy="105156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spaCy student vs. LLM teacher on 100 human-verified utterances. F1 balances precision and recall; a span counts only if label and exact text match. The gap is within noise (CI −0.047 to +0.013).</a:t>
            </a:r>
            <a:endParaRPr lang="en-US" sz="1200" dirty="0"/>
          </a:p>
        </p:txBody>
      </p:sp>
      <p:sp>
        <p:nvSpPr>
          <p:cNvPr id="8" name="Text 5"/>
          <p:cNvSpPr txBox="1"/>
          <p:nvPr/>
        </p:nvSpPr>
        <p:spPr>
          <a:xfrm>
            <a:off x="5303520" y="3063240"/>
            <a:ext cx="3383280" cy="228600"/>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WHERE IT SLIPS</a:t>
            </a:r>
            <a:endParaRPr lang="en-US" sz="1050" dirty="0"/>
          </a:p>
        </p:txBody>
      </p:sp>
      <p:sp>
        <p:nvSpPr>
          <p:cNvPr id="9" name="Text 6"/>
          <p:cNvSpPr txBox="1"/>
          <p:nvPr/>
        </p:nvSpPr>
        <p:spPr>
          <a:xfrm>
            <a:off x="5303520" y="3337560"/>
            <a:ext cx="3383280" cy="1325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384957"/>
                </a:solidFill>
                <a:latin typeface="Arial" pitchFamily="34" charset="0"/>
                <a:ea typeface="Arial" pitchFamily="34" charset="-122"/>
                <a:cs typeface="Arial" pitchFamily="34" charset="-120"/>
              </a:rPr>
              <a:t>FREQUENCY: digit-only shorthand is missed (61% found)</a:t>
            </a:r>
            <a:endParaRPr lang="en-US" sz="1200" dirty="0"/>
          </a:p>
          <a:p>
            <a:pPr marL="342900" indent="-342900">
              <a:spcAft>
                <a:spcPts val="400"/>
              </a:spcAft>
              <a:buSzPct val="100000"/>
              <a:buChar char="•"/>
            </a:pPr>
            <a:r>
              <a:rPr lang="en-US" sz="1200" dirty="0">
                <a:solidFill>
                  <a:srgbClr val="384957"/>
                </a:solidFill>
                <a:latin typeface="Arial" pitchFamily="34" charset="0"/>
                <a:ea typeface="Arial" pitchFamily="34" charset="-122"/>
                <a:cs typeface="Arial" pitchFamily="34" charset="-120"/>
              </a:rPr>
              <a:t>COMMAND / FACILITY: ambiguous boundaries; annotators agreed exactly on only 60–62%</a:t>
            </a:r>
            <a:endParaRPr lang="en-US" sz="1200" dirty="0"/>
          </a:p>
          <a:p>
            <a:pPr marL="342900" indent="-342900">
              <a:spcAft>
                <a:spcPts val="400"/>
              </a:spcAft>
              <a:buSzPct val="100000"/>
              <a:buChar char="•"/>
            </a:pPr>
            <a:r>
              <a:rPr lang="en-US" sz="1200" dirty="0">
                <a:solidFill>
                  <a:srgbClr val="384957"/>
                </a:solidFill>
                <a:latin typeface="Arial" pitchFamily="34" charset="0"/>
                <a:ea typeface="Arial" pitchFamily="34" charset="-122"/>
                <a:cs typeface="Arial" pitchFamily="34" charset="-120"/>
              </a:rPr>
              <a:t>HEADING, SQUAWK: too few held-out spans to score</a:t>
            </a:r>
            <a:endParaRPr lang="en-US" sz="12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COMPARE  ·  MODEL COMPARISON</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Medium + LoRA wins on every accuracy metric</a:t>
            </a:r>
            <a:endParaRPr lang="en-US" sz="2400" dirty="0"/>
          </a:p>
        </p:txBody>
      </p:sp>
      <p:graphicFrame>
        <p:nvGraphicFramePr>
          <p:cNvPr id="10" name="Model 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651760"/>
                <a:gridCol w="868680"/>
                <a:gridCol w="868680"/>
                <a:gridCol w="960120"/>
                <a:gridCol w="777240"/>
                <a:gridCol w="1097280"/>
                <a:gridCol w="1005840"/>
              </a:tblGrid>
              <a:tr h="50292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Model</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3849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Overall WER</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3849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Real WER</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3849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Simulated WER</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3849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Entity F1</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3849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Callsign recall</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384957"/>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Train time</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384957"/>
                    </a:solidFill>
                  </a:tcPr>
                </a:tc>
              </a:tr>
              <a:tr h="384048">
                <a:tc>
                  <a:txBody>
                    <a:bodyPr/>
                    <a:lstStyle/>
                    <a:p>
                      <a:pPr algn="l" indent="0" marL="0">
                        <a:buNone/>
                      </a:pPr>
                      <a:r>
                        <a:rPr lang="en-US" sz="1150" dirty="0">
                          <a:solidFill>
                            <a:srgbClr val="384957"/>
                          </a:solidFill>
                          <a:latin typeface="Arial" pitchFamily="34" charset="0"/>
                          <a:ea typeface="Arial" pitchFamily="34" charset="-122"/>
                          <a:cs typeface="Arial" pitchFamily="34" charset="-120"/>
                        </a:rPr>
                        <a:t>small.en, zero-shot</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42.2%</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61.3%</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28.8%</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0.445</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0.231</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n/a</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384957"/>
                          </a:solidFill>
                          <a:latin typeface="Arial" pitchFamily="34" charset="0"/>
                          <a:ea typeface="Arial" pitchFamily="34" charset="-122"/>
                          <a:cs typeface="Arial" pitchFamily="34" charset="-120"/>
                        </a:rPr>
                        <a:t>medium.en, zero-shot</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35.7%</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53.6%</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23.1%</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0.513</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0.286</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n/a</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r>
              <a:tr h="384048">
                <a:tc>
                  <a:txBody>
                    <a:bodyPr/>
                    <a:lstStyle/>
                    <a:p>
                      <a:pPr algn="l" indent="0" marL="0">
                        <a:buNone/>
                      </a:pPr>
                      <a:r>
                        <a:rPr lang="en-US" sz="1150" dirty="0">
                          <a:solidFill>
                            <a:srgbClr val="384957"/>
                          </a:solidFill>
                          <a:latin typeface="Arial" pitchFamily="34" charset="0"/>
                          <a:ea typeface="Arial" pitchFamily="34" charset="-122"/>
                          <a:cs typeface="Arial" pitchFamily="34" charset="-120"/>
                        </a:rPr>
                        <a:t>Off-the-shelf ATC medium.en</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12.4%</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9.1%*</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14.8%</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0.754</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0.557</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n/a</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r>
              <a:tr h="384048">
                <a:tc>
                  <a:txBody>
                    <a:bodyPr/>
                    <a:lstStyle/>
                    <a:p>
                      <a:pPr algn="l" indent="0" marL="0">
                        <a:buNone/>
                      </a:pPr>
                      <a:r>
                        <a:rPr lang="en-US" sz="1150" dirty="0">
                          <a:solidFill>
                            <a:srgbClr val="384957"/>
                          </a:solidFill>
                          <a:latin typeface="Arial" pitchFamily="34" charset="0"/>
                          <a:ea typeface="Arial" pitchFamily="34" charset="-122"/>
                          <a:cs typeface="Arial" pitchFamily="34" charset="-120"/>
                        </a:rPr>
                        <a:t>small.en fine-tuned, 3 epochs</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5.4%</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10.9%</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1.5%</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0.908</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0.847</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57 min</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r>
              <a:tr h="384048">
                <a:tc>
                  <a:txBody>
                    <a:bodyPr/>
                    <a:lstStyle/>
                    <a:p>
                      <a:pPr algn="l" indent="0" marL="0">
                        <a:buNone/>
                      </a:pPr>
                      <a:r>
                        <a:rPr lang="en-US" sz="1150" dirty="0">
                          <a:solidFill>
                            <a:srgbClr val="384957"/>
                          </a:solidFill>
                          <a:latin typeface="Arial" pitchFamily="34" charset="0"/>
                          <a:ea typeface="Arial" pitchFamily="34" charset="-122"/>
                          <a:cs typeface="Arial" pitchFamily="34" charset="-120"/>
                        </a:rPr>
                        <a:t>small.en fine-tuned, 8 epochs</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4.9%</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9.7%</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1.4%</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0.918</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0.860</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84957"/>
                          </a:solidFill>
                          <a:latin typeface="Arial" pitchFamily="34" charset="0"/>
                          <a:ea typeface="Arial" pitchFamily="34" charset="-122"/>
                          <a:cs typeface="Arial" pitchFamily="34" charset="-120"/>
                        </a:rPr>
                        <a:t>154 min</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r>
              <a:tr h="384048">
                <a:tc>
                  <a:txBody>
                    <a:bodyPr/>
                    <a:lstStyle/>
                    <a:p>
                      <a:pPr algn="l" indent="0" marL="0">
                        <a:buNone/>
                      </a:pPr>
                      <a:r>
                        <a:rPr lang="en-US" sz="1150" b="1" dirty="0">
                          <a:solidFill>
                            <a:srgbClr val="27333D"/>
                          </a:solidFill>
                          <a:latin typeface="Arial" pitchFamily="34" charset="0"/>
                          <a:ea typeface="Arial" pitchFamily="34" charset="-122"/>
                          <a:cs typeface="Arial" pitchFamily="34" charset="-120"/>
                        </a:rPr>
                        <a:t>medium.en + LoRA (selected)</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DBEEFF"/>
                    </a:solidFill>
                  </a:tcPr>
                </a:tc>
                <a:tc>
                  <a:txBody>
                    <a:bodyPr/>
                    <a:lstStyle/>
                    <a:p>
                      <a:pPr algn="ctr" indent="0" marL="0">
                        <a:buNone/>
                      </a:pPr>
                      <a:r>
                        <a:rPr lang="en-US" sz="1150" b="1" dirty="0">
                          <a:solidFill>
                            <a:srgbClr val="27333D"/>
                          </a:solidFill>
                          <a:latin typeface="Arial" pitchFamily="34" charset="0"/>
                          <a:ea typeface="Arial" pitchFamily="34" charset="-122"/>
                          <a:cs typeface="Arial" pitchFamily="34" charset="-120"/>
                        </a:rPr>
                        <a:t>3.8%</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DBEEFF"/>
                    </a:solidFill>
                  </a:tcPr>
                </a:tc>
                <a:tc>
                  <a:txBody>
                    <a:bodyPr/>
                    <a:lstStyle/>
                    <a:p>
                      <a:pPr algn="ctr" indent="0" marL="0">
                        <a:buNone/>
                      </a:pPr>
                      <a:r>
                        <a:rPr lang="en-US" sz="1150" b="1" dirty="0">
                          <a:solidFill>
                            <a:srgbClr val="27333D"/>
                          </a:solidFill>
                          <a:latin typeface="Arial" pitchFamily="34" charset="0"/>
                          <a:ea typeface="Arial" pitchFamily="34" charset="-122"/>
                          <a:cs typeface="Arial" pitchFamily="34" charset="-120"/>
                        </a:rPr>
                        <a:t>7.5%</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DBEEFF"/>
                    </a:solidFill>
                  </a:tcPr>
                </a:tc>
                <a:tc>
                  <a:txBody>
                    <a:bodyPr/>
                    <a:lstStyle/>
                    <a:p>
                      <a:pPr algn="ctr" indent="0" marL="0">
                        <a:buNone/>
                      </a:pPr>
                      <a:r>
                        <a:rPr lang="en-US" sz="1150" b="1" dirty="0">
                          <a:solidFill>
                            <a:srgbClr val="27333D"/>
                          </a:solidFill>
                          <a:latin typeface="Arial" pitchFamily="34" charset="0"/>
                          <a:ea typeface="Arial" pitchFamily="34" charset="-122"/>
                          <a:cs typeface="Arial" pitchFamily="34" charset="-120"/>
                        </a:rPr>
                        <a:t>1.2%</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DBEEFF"/>
                    </a:solidFill>
                  </a:tcPr>
                </a:tc>
                <a:tc>
                  <a:txBody>
                    <a:bodyPr/>
                    <a:lstStyle/>
                    <a:p>
                      <a:pPr algn="ctr" indent="0" marL="0">
                        <a:buNone/>
                      </a:pPr>
                      <a:r>
                        <a:rPr lang="en-US" sz="1150" b="1" dirty="0">
                          <a:solidFill>
                            <a:srgbClr val="27333D"/>
                          </a:solidFill>
                          <a:latin typeface="Arial" pitchFamily="34" charset="0"/>
                          <a:ea typeface="Arial" pitchFamily="34" charset="-122"/>
                          <a:cs typeface="Arial" pitchFamily="34" charset="-120"/>
                        </a:rPr>
                        <a:t>0.935</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DBEEFF"/>
                    </a:solidFill>
                  </a:tcPr>
                </a:tc>
                <a:tc>
                  <a:txBody>
                    <a:bodyPr/>
                    <a:lstStyle/>
                    <a:p>
                      <a:pPr algn="ctr" indent="0" marL="0">
                        <a:buNone/>
                      </a:pPr>
                      <a:r>
                        <a:rPr lang="en-US" sz="1150" b="1" dirty="0">
                          <a:solidFill>
                            <a:srgbClr val="27333D"/>
                          </a:solidFill>
                          <a:latin typeface="Arial" pitchFamily="34" charset="0"/>
                          <a:ea typeface="Arial" pitchFamily="34" charset="-122"/>
                          <a:cs typeface="Arial" pitchFamily="34" charset="-120"/>
                        </a:rPr>
                        <a:t>0.886</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DBEEFF"/>
                    </a:solidFill>
                  </a:tcPr>
                </a:tc>
                <a:tc>
                  <a:txBody>
                    <a:bodyPr/>
                    <a:lstStyle/>
                    <a:p>
                      <a:pPr algn="ctr" indent="0" marL="0">
                        <a:buNone/>
                      </a:pPr>
                      <a:r>
                        <a:rPr lang="en-US" sz="1150" b="1" dirty="0">
                          <a:solidFill>
                            <a:srgbClr val="27333D"/>
                          </a:solidFill>
                          <a:latin typeface="Arial" pitchFamily="34" charset="0"/>
                          <a:ea typeface="Arial" pitchFamily="34" charset="-122"/>
                          <a:cs typeface="Arial" pitchFamily="34" charset="-120"/>
                        </a:rPr>
                        <a:t>239 min</a:t>
                      </a:r>
                      <a:endParaRPr lang="en-US" sz="115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DBEEFF"/>
                    </a:solidFill>
                  </a:tcPr>
                </a:tc>
              </a:tr>
            </a:tbl>
          </a:graphicData>
        </a:graphic>
      </p:graphicFrame>
      <p:sp>
        <p:nvSpPr>
          <p:cNvPr id="5" name="Text 2"/>
          <p:cNvSpPr txBox="1"/>
          <p:nvPr/>
        </p:nvSpPr>
        <p:spPr>
          <a:xfrm>
            <a:off x="457200" y="4069080"/>
            <a:ext cx="8229600" cy="640080"/>
          </a:xfrm>
          <a:prstGeom prst="rect">
            <a:avLst/>
          </a:prstGeom>
          <a:noFill/>
          <a:ln/>
        </p:spPr>
        <p:txBody>
          <a:bodyPr wrap="square" lIns="0" tIns="0" rIns="0" bIns="0" rtlCol="0" anchor="t"/>
          <a:lstStyle/>
          <a:p>
            <a:pPr indent="0" marL="0">
              <a:buNone/>
            </a:pPr>
            <a:r>
              <a:rPr lang="en-US" sz="1050" dirty="0">
                <a:solidFill>
                  <a:srgbClr val="5B6B78"/>
                </a:solidFill>
                <a:latin typeface="Arial" pitchFamily="34" charset="0"/>
                <a:ea typeface="Arial" pitchFamily="34" charset="-122"/>
                <a:cs typeface="Arial" pitchFamily="34" charset="-120"/>
              </a:rPr>
              <a:t>Test split: 1,909 utterances (813 real, 1,096 simulated), each model scored once. WER = share of words wrong (lower is better). Entity F1 and callsign recall (0 to 1, higher is better) = how many reference entities or callsigns survive in the transcript, matched on label and exact text. * May have overlapped the test audio in its own training.</a:t>
            </a:r>
            <a:endParaRPr lang="en-US" sz="105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COMPARE  ·  AVIATION-SPECIFIC ERRORS</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WER hides where the errors fall</a:t>
            </a:r>
            <a:endParaRPr lang="en-US" sz="2400" dirty="0"/>
          </a:p>
        </p:txBody>
      </p:sp>
      <p:graphicFrame>
        <p:nvGraphicFramePr>
          <p:cNvPr id="4" name="Chart 0" descr=""/>
          <p:cNvGraphicFramePr/>
          <p:nvPr/>
        </p:nvGraphicFramePr>
        <p:xfrm>
          <a:off x="457200" y="1188720"/>
          <a:ext cx="5212080" cy="2971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206240"/>
            <a:ext cx="5212080" cy="457200"/>
          </a:xfrm>
          <a:prstGeom prst="rect">
            <a:avLst/>
          </a:prstGeom>
          <a:noFill/>
          <a:ln/>
        </p:spPr>
        <p:txBody>
          <a:bodyPr wrap="square" lIns="0" tIns="0" rIns="0" bIns="0" rtlCol="0" anchor="t"/>
          <a:lstStyle/>
          <a:p>
            <a:pPr indent="0" marL="0">
              <a:buNone/>
            </a:pPr>
            <a:r>
              <a:rPr lang="en-US" sz="1050" dirty="0">
                <a:solidFill>
                  <a:srgbClr val="5B6B78"/>
                </a:solidFill>
                <a:latin typeface="Arial" pitchFamily="34" charset="0"/>
                <a:ea typeface="Arial" pitchFamily="34" charset="-122"/>
                <a:cs typeface="Arial" pitchFamily="34" charset="-120"/>
              </a:rPr>
              <a:t>Entity recall = the share of the reference transcript's entities (same label, same text) that also appear in the model's transcript.</a:t>
            </a:r>
            <a:endParaRPr lang="en-US" sz="1050" dirty="0"/>
          </a:p>
        </p:txBody>
      </p:sp>
      <p:sp>
        <p:nvSpPr>
          <p:cNvPr id="6" name="Text 3"/>
          <p:cNvSpPr txBox="1"/>
          <p:nvPr/>
        </p:nvSpPr>
        <p:spPr>
          <a:xfrm>
            <a:off x="5943600" y="1188720"/>
            <a:ext cx="2743200" cy="411480"/>
          </a:xfrm>
          <a:prstGeom prst="rect">
            <a:avLst/>
          </a:prstGeom>
          <a:noFill/>
          <a:ln/>
        </p:spPr>
        <p:txBody>
          <a:bodyPr wrap="square" lIns="0" tIns="0" rIns="0" bIns="0" rtlCol="0" anchor="ctr"/>
          <a:lstStyle/>
          <a:p>
            <a:pPr indent="0" marL="0">
              <a:buNone/>
            </a:pPr>
            <a:r>
              <a:rPr lang="en-US" sz="2200" b="1" dirty="0">
                <a:solidFill>
                  <a:srgbClr val="0097A7"/>
                </a:solidFill>
                <a:latin typeface="Arial" pitchFamily="34" charset="0"/>
                <a:ea typeface="Arial" pitchFamily="34" charset="-122"/>
                <a:cs typeface="Arial" pitchFamily="34" charset="-120"/>
              </a:rPr>
              <a:t>9.1% vs 7.5%</a:t>
            </a:r>
            <a:endParaRPr lang="en-US" sz="2200" dirty="0"/>
          </a:p>
        </p:txBody>
      </p:sp>
      <p:sp>
        <p:nvSpPr>
          <p:cNvPr id="7" name="Text 4"/>
          <p:cNvSpPr txBox="1"/>
          <p:nvPr/>
        </p:nvSpPr>
        <p:spPr>
          <a:xfrm>
            <a:off x="5943600" y="1600200"/>
            <a:ext cx="2743200" cy="27432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real-audio WER: nearly the same...</a:t>
            </a:r>
            <a:endParaRPr lang="en-US" sz="1200" dirty="0"/>
          </a:p>
        </p:txBody>
      </p:sp>
      <p:sp>
        <p:nvSpPr>
          <p:cNvPr id="8" name="Text 5"/>
          <p:cNvSpPr txBox="1"/>
          <p:nvPr/>
        </p:nvSpPr>
        <p:spPr>
          <a:xfrm>
            <a:off x="5943600" y="2011680"/>
            <a:ext cx="2743200" cy="411480"/>
          </a:xfrm>
          <a:prstGeom prst="rect">
            <a:avLst/>
          </a:prstGeom>
          <a:noFill/>
          <a:ln/>
        </p:spPr>
        <p:txBody>
          <a:bodyPr wrap="square" lIns="0" tIns="0" rIns="0" bIns="0" rtlCol="0" anchor="ctr"/>
          <a:lstStyle/>
          <a:p>
            <a:pPr indent="0" marL="0">
              <a:buNone/>
            </a:pPr>
            <a:r>
              <a:rPr lang="en-US" sz="2200" b="1" dirty="0">
                <a:solidFill>
                  <a:srgbClr val="0097A7"/>
                </a:solidFill>
                <a:latin typeface="Arial" pitchFamily="34" charset="0"/>
                <a:ea typeface="Arial" pitchFamily="34" charset="-122"/>
                <a:cs typeface="Arial" pitchFamily="34" charset="-120"/>
              </a:rPr>
              <a:t>0.754 vs 0.935</a:t>
            </a:r>
            <a:endParaRPr lang="en-US" sz="2200" dirty="0"/>
          </a:p>
        </p:txBody>
      </p:sp>
      <p:sp>
        <p:nvSpPr>
          <p:cNvPr id="9" name="Text 6"/>
          <p:cNvSpPr txBox="1"/>
          <p:nvPr/>
        </p:nvSpPr>
        <p:spPr>
          <a:xfrm>
            <a:off x="5943600" y="2423160"/>
            <a:ext cx="2743200" cy="45720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...entity F1 (0 to 1, higher is better): very different</a:t>
            </a:r>
            <a:endParaRPr lang="en-US" sz="1200" dirty="0"/>
          </a:p>
        </p:txBody>
      </p:sp>
      <p:sp>
        <p:nvSpPr>
          <p:cNvPr id="10" name="Callsign card"/>
          <p:cNvSpPr/>
          <p:nvPr/>
        </p:nvSpPr>
        <p:spPr>
          <a:xfrm>
            <a:off x="5943600" y="3063240"/>
            <a:ext cx="2743200" cy="1508760"/>
          </a:xfrm>
          <a:prstGeom prst="roundRect">
            <a:avLst>
              <a:gd name="adj" fmla="val 4848"/>
            </a:avLst>
          </a:prstGeom>
          <a:solidFill>
            <a:srgbClr val="27333D"/>
          </a:solidFill>
          <a:ln w="9525">
            <a:solidFill>
              <a:srgbClr val="27333D"/>
            </a:solidFill>
            <a:prstDash val="solid"/>
          </a:ln>
        </p:spPr>
      </p:sp>
      <p:sp>
        <p:nvSpPr>
          <p:cNvPr id="11" name="Text 8"/>
          <p:cNvSpPr txBox="1"/>
          <p:nvPr/>
        </p:nvSpPr>
        <p:spPr>
          <a:xfrm>
            <a:off x="6062472" y="3108960"/>
            <a:ext cx="2514600" cy="14173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Callsigns are the weakest entity for every fine-tuned model (recall 0.886 for the selected one): airline names and spelled registrations are the hardest words.</a:t>
            </a:r>
            <a:endParaRPr lang="en-US" sz="12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COMPARE  ·  ERROR ANALYSIS</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When ASR slips, NER inherits the error</a:t>
            </a:r>
            <a:endParaRPr lang="en-US" sz="2400" dirty="0"/>
          </a:p>
        </p:txBody>
      </p:sp>
      <p:sp>
        <p:nvSpPr>
          <p:cNvPr id="4" name="Hallucination icon circle"/>
          <p:cNvSpPr/>
          <p:nvPr/>
        </p:nvSpPr>
        <p:spPr>
          <a:xfrm>
            <a:off x="457200" y="1188720"/>
            <a:ext cx="502920" cy="502920"/>
          </a:xfrm>
          <a:prstGeom prst="ellipse">
            <a:avLst/>
          </a:prstGeom>
          <a:solidFill>
            <a:srgbClr val="0097A7"/>
          </a:solidFill>
          <a:ln w="12700">
            <a:solidFill>
              <a:srgbClr val="0097A7"/>
            </a:solidFill>
            <a:prstDash val="solid"/>
          </a:ln>
        </p:spPr>
      </p:sp>
      <p:pic>
        <p:nvPicPr>
          <p:cNvPr id="5" name="Hallucination icon" descr="Hallucination">    </p:cNvPr>
          <p:cNvPicPr>
            <a:picLocks noChangeAspect="1"/>
          </p:cNvPicPr>
          <p:nvPr/>
        </p:nvPicPr>
        <p:blipFill>
          <a:blip r:embed="rId1"/>
          <a:stretch>
            <a:fillRect/>
          </a:stretch>
        </p:blipFill>
        <p:spPr>
          <a:xfrm>
            <a:off x="582930" y="1314450"/>
            <a:ext cx="251460" cy="251460"/>
          </a:xfrm>
          <a:prstGeom prst="rect">
            <a:avLst/>
          </a:prstGeom>
        </p:spPr>
      </p:pic>
      <p:sp>
        <p:nvSpPr>
          <p:cNvPr id="6" name="Text 3"/>
          <p:cNvSpPr txBox="1"/>
          <p:nvPr/>
        </p:nvSpPr>
        <p:spPr>
          <a:xfrm>
            <a:off x="1143000" y="1161288"/>
            <a:ext cx="4023360" cy="274320"/>
          </a:xfrm>
          <a:prstGeom prst="rect">
            <a:avLst/>
          </a:prstGeom>
          <a:noFill/>
          <a:ln/>
        </p:spPr>
        <p:txBody>
          <a:bodyPr wrap="square" lIns="0" tIns="0" rIns="0" bIns="0" rtlCol="0" anchor="ctr"/>
          <a:lstStyle/>
          <a:p>
            <a:pPr indent="0" marL="0">
              <a:buNone/>
            </a:pPr>
            <a:r>
              <a:rPr lang="en-US" sz="1400" b="1" dirty="0">
                <a:solidFill>
                  <a:srgbClr val="384957"/>
                </a:solidFill>
                <a:latin typeface="Arial" pitchFamily="34" charset="0"/>
                <a:ea typeface="Arial" pitchFamily="34" charset="-122"/>
                <a:cs typeface="Arial" pitchFamily="34" charset="-120"/>
              </a:rPr>
              <a:t>Hallucination</a:t>
            </a:r>
            <a:endParaRPr lang="en-US" sz="1400" dirty="0"/>
          </a:p>
        </p:txBody>
      </p:sp>
      <p:sp>
        <p:nvSpPr>
          <p:cNvPr id="7" name="Text 4"/>
          <p:cNvSpPr txBox="1"/>
          <p:nvPr/>
        </p:nvSpPr>
        <p:spPr>
          <a:xfrm>
            <a:off x="1143000" y="1453896"/>
            <a:ext cx="4023360" cy="77724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A degraded 3.75 s clip ending 'descend flight level one zero zero' came out as 'If you have any questions, please contact the flight control team'.</a:t>
            </a:r>
            <a:endParaRPr lang="en-US" sz="1200" dirty="0"/>
          </a:p>
        </p:txBody>
      </p:sp>
      <p:sp>
        <p:nvSpPr>
          <p:cNvPr id="8" name="Callsign garbling icon circle"/>
          <p:cNvSpPr/>
          <p:nvPr/>
        </p:nvSpPr>
        <p:spPr>
          <a:xfrm>
            <a:off x="457200" y="2304288"/>
            <a:ext cx="502920" cy="502920"/>
          </a:xfrm>
          <a:prstGeom prst="ellipse">
            <a:avLst/>
          </a:prstGeom>
          <a:solidFill>
            <a:srgbClr val="0097A7"/>
          </a:solidFill>
          <a:ln w="12700">
            <a:solidFill>
              <a:srgbClr val="0097A7"/>
            </a:solidFill>
            <a:prstDash val="solid"/>
          </a:ln>
        </p:spPr>
      </p:sp>
      <p:pic>
        <p:nvPicPr>
          <p:cNvPr id="9" name="Callsign garbling icon" descr="Callsign garbling">    </p:cNvPr>
          <p:cNvPicPr>
            <a:picLocks noChangeAspect="1"/>
          </p:cNvPicPr>
          <p:nvPr/>
        </p:nvPicPr>
        <p:blipFill>
          <a:blip r:embed="rId2"/>
          <a:stretch>
            <a:fillRect/>
          </a:stretch>
        </p:blipFill>
        <p:spPr>
          <a:xfrm>
            <a:off x="582930" y="2430018"/>
            <a:ext cx="251460" cy="251460"/>
          </a:xfrm>
          <a:prstGeom prst="rect">
            <a:avLst/>
          </a:prstGeom>
        </p:spPr>
      </p:pic>
      <p:sp>
        <p:nvSpPr>
          <p:cNvPr id="10" name="Text 6"/>
          <p:cNvSpPr txBox="1"/>
          <p:nvPr/>
        </p:nvSpPr>
        <p:spPr>
          <a:xfrm>
            <a:off x="1143000" y="2276856"/>
            <a:ext cx="4023360" cy="274320"/>
          </a:xfrm>
          <a:prstGeom prst="rect">
            <a:avLst/>
          </a:prstGeom>
          <a:noFill/>
          <a:ln/>
        </p:spPr>
        <p:txBody>
          <a:bodyPr wrap="square" lIns="0" tIns="0" rIns="0" bIns="0" rtlCol="0" anchor="ctr"/>
          <a:lstStyle/>
          <a:p>
            <a:pPr indent="0" marL="0">
              <a:buNone/>
            </a:pPr>
            <a:r>
              <a:rPr lang="en-US" sz="1400" b="1" dirty="0">
                <a:solidFill>
                  <a:srgbClr val="384957"/>
                </a:solidFill>
                <a:latin typeface="Arial" pitchFamily="34" charset="0"/>
                <a:ea typeface="Arial" pitchFamily="34" charset="-122"/>
                <a:cs typeface="Arial" pitchFamily="34" charset="-120"/>
              </a:rPr>
              <a:t>Callsign garbling</a:t>
            </a:r>
            <a:endParaRPr lang="en-US" sz="1400" dirty="0"/>
          </a:p>
        </p:txBody>
      </p:sp>
      <p:sp>
        <p:nvSpPr>
          <p:cNvPr id="11" name="Text 7"/>
          <p:cNvSpPr txBox="1"/>
          <p:nvPr/>
        </p:nvSpPr>
        <p:spPr>
          <a:xfrm>
            <a:off x="1143000" y="2569464"/>
            <a:ext cx="4023360" cy="77724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'eight juliett echo' became 'athria degol' in the small fine-tuned model.</a:t>
            </a:r>
            <a:endParaRPr lang="en-US" sz="1200" dirty="0"/>
          </a:p>
        </p:txBody>
      </p:sp>
      <p:sp>
        <p:nvSpPr>
          <p:cNvPr id="12" name="Number conventions icon circle"/>
          <p:cNvSpPr/>
          <p:nvPr/>
        </p:nvSpPr>
        <p:spPr>
          <a:xfrm>
            <a:off x="457200" y="3419856"/>
            <a:ext cx="502920" cy="502920"/>
          </a:xfrm>
          <a:prstGeom prst="ellipse">
            <a:avLst/>
          </a:prstGeom>
          <a:solidFill>
            <a:srgbClr val="0097A7"/>
          </a:solidFill>
          <a:ln w="12700">
            <a:solidFill>
              <a:srgbClr val="0097A7"/>
            </a:solidFill>
            <a:prstDash val="solid"/>
          </a:ln>
        </p:spPr>
      </p:sp>
      <p:pic>
        <p:nvPicPr>
          <p:cNvPr id="13" name="Number conventions icon" descr="Number conventions">    </p:cNvPr>
          <p:cNvPicPr>
            <a:picLocks noChangeAspect="1"/>
          </p:cNvPicPr>
          <p:nvPr/>
        </p:nvPicPr>
        <p:blipFill>
          <a:blip r:embed="rId3"/>
          <a:stretch>
            <a:fillRect/>
          </a:stretch>
        </p:blipFill>
        <p:spPr>
          <a:xfrm>
            <a:off x="582930" y="3545586"/>
            <a:ext cx="251460" cy="251460"/>
          </a:xfrm>
          <a:prstGeom prst="rect">
            <a:avLst/>
          </a:prstGeom>
        </p:spPr>
      </p:pic>
      <p:sp>
        <p:nvSpPr>
          <p:cNvPr id="14" name="Text 9"/>
          <p:cNvSpPr txBox="1"/>
          <p:nvPr/>
        </p:nvSpPr>
        <p:spPr>
          <a:xfrm>
            <a:off x="1143000" y="3392424"/>
            <a:ext cx="4023360" cy="274320"/>
          </a:xfrm>
          <a:prstGeom prst="rect">
            <a:avLst/>
          </a:prstGeom>
          <a:noFill/>
          <a:ln/>
        </p:spPr>
        <p:txBody>
          <a:bodyPr wrap="square" lIns="0" tIns="0" rIns="0" bIns="0" rtlCol="0" anchor="ctr"/>
          <a:lstStyle/>
          <a:p>
            <a:pPr indent="0" marL="0">
              <a:buNone/>
            </a:pPr>
            <a:r>
              <a:rPr lang="en-US" sz="1400" b="1" dirty="0">
                <a:solidFill>
                  <a:srgbClr val="384957"/>
                </a:solidFill>
                <a:latin typeface="Arial" pitchFamily="34" charset="0"/>
                <a:ea typeface="Arial" pitchFamily="34" charset="-122"/>
                <a:cs typeface="Arial" pitchFamily="34" charset="-120"/>
              </a:rPr>
              <a:t>Number conventions</a:t>
            </a:r>
            <a:endParaRPr lang="en-US" sz="1400" dirty="0"/>
          </a:p>
        </p:txBody>
      </p:sp>
      <p:sp>
        <p:nvSpPr>
          <p:cNvPr id="15" name="Text 10"/>
          <p:cNvSpPr txBox="1"/>
          <p:nvPr/>
        </p:nvSpPr>
        <p:spPr>
          <a:xfrm>
            <a:off x="1143000" y="3685032"/>
            <a:ext cx="4023360" cy="77724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'niner' versus 'nine' is a scoring artifact that inflates WER without a real recognition error.</a:t>
            </a:r>
            <a:endParaRPr lang="en-US" sz="1200" dirty="0"/>
          </a:p>
        </p:txBody>
      </p:sp>
      <p:sp>
        <p:nvSpPr>
          <p:cNvPr id="16" name="Propagation card"/>
          <p:cNvSpPr/>
          <p:nvPr/>
        </p:nvSpPr>
        <p:spPr>
          <a:xfrm>
            <a:off x="5486400" y="1188720"/>
            <a:ext cx="3200400" cy="3337560"/>
          </a:xfrm>
          <a:prstGeom prst="roundRect">
            <a:avLst>
              <a:gd name="adj" fmla="val 2286"/>
            </a:avLst>
          </a:prstGeom>
          <a:solidFill>
            <a:srgbClr val="27333D"/>
          </a:solidFill>
          <a:ln w="9525">
            <a:solidFill>
              <a:srgbClr val="27333D"/>
            </a:solidFill>
            <a:prstDash val="solid"/>
          </a:ln>
        </p:spPr>
      </p:sp>
      <p:sp>
        <p:nvSpPr>
          <p:cNvPr id="17" name="Text 12"/>
          <p:cNvSpPr txBox="1"/>
          <p:nvPr/>
        </p:nvSpPr>
        <p:spPr>
          <a:xfrm>
            <a:off x="5669280" y="1325880"/>
            <a:ext cx="2834640" cy="228600"/>
          </a:xfrm>
          <a:prstGeom prst="rect">
            <a:avLst/>
          </a:prstGeom>
          <a:noFill/>
          <a:ln/>
        </p:spPr>
        <p:txBody>
          <a:bodyPr wrap="square" lIns="0" tIns="0" rIns="0" bIns="0" rtlCol="0" anchor="ctr"/>
          <a:lstStyle/>
          <a:p>
            <a:pPr indent="0" marL="0">
              <a:buNone/>
            </a:pPr>
            <a:r>
              <a:rPr lang="en-US" sz="1050" b="1" spc="200" kern="0" dirty="0">
                <a:solidFill>
                  <a:srgbClr val="5FD4E3"/>
                </a:solidFill>
                <a:latin typeface="Arial" pitchFamily="34" charset="0"/>
                <a:ea typeface="Arial" pitchFamily="34" charset="-122"/>
                <a:cs typeface="Arial" pitchFamily="34" charset="-120"/>
              </a:rPr>
              <a:t>ASR → NLP PROPAGATION</a:t>
            </a:r>
            <a:endParaRPr lang="en-US" sz="1050" dirty="0"/>
          </a:p>
        </p:txBody>
      </p:sp>
      <p:sp>
        <p:nvSpPr>
          <p:cNvPr id="18" name="Text 13"/>
          <p:cNvSpPr txBox="1"/>
          <p:nvPr/>
        </p:nvSpPr>
        <p:spPr>
          <a:xfrm>
            <a:off x="5669280" y="1645920"/>
            <a:ext cx="283464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7.5% → 0.856</a:t>
            </a:r>
            <a:endParaRPr lang="en-US" sz="2800" dirty="0"/>
          </a:p>
        </p:txBody>
      </p:sp>
      <p:sp>
        <p:nvSpPr>
          <p:cNvPr id="19" name="Text 14"/>
          <p:cNvSpPr txBox="1"/>
          <p:nvPr/>
        </p:nvSpPr>
        <p:spPr>
          <a:xfrm>
            <a:off x="5669280" y="2194560"/>
            <a:ext cx="2834640" cy="640080"/>
          </a:xfrm>
          <a:prstGeom prst="rect">
            <a:avLst/>
          </a:prstGeom>
          <a:noFill/>
          <a:ln/>
        </p:spPr>
        <p:txBody>
          <a:bodyPr wrap="square" lIns="0" tIns="0" rIns="0" bIns="0" rtlCol="0" anchor="t"/>
          <a:lstStyle/>
          <a:p>
            <a:pPr indent="0" marL="0">
              <a:buNone/>
            </a:pPr>
            <a:r>
              <a:rPr lang="en-US" sz="1200" dirty="0">
                <a:solidFill>
                  <a:srgbClr val="DBEEFF"/>
                </a:solidFill>
                <a:latin typeface="Arial" pitchFamily="34" charset="0"/>
                <a:ea typeface="Arial" pitchFamily="34" charset="-122"/>
                <a:cs typeface="Arial" pitchFamily="34" charset="-120"/>
              </a:rPr>
              <a:t>real-audio WER becomes entity F1 (0 to 1, higher is better): one wrong word breaks a whole entity.</a:t>
            </a:r>
            <a:endParaRPr lang="en-US" sz="1200" dirty="0"/>
          </a:p>
        </p:txBody>
      </p:sp>
      <p:sp>
        <p:nvSpPr>
          <p:cNvPr id="20" name="Text 15"/>
          <p:cNvSpPr txBox="1"/>
          <p:nvPr/>
        </p:nvSpPr>
        <p:spPr>
          <a:xfrm>
            <a:off x="5669280" y="3017520"/>
            <a:ext cx="2834640" cy="1371600"/>
          </a:xfrm>
          <a:prstGeom prst="rect">
            <a:avLst/>
          </a:prstGeom>
          <a:noFill/>
          <a:ln/>
        </p:spPr>
        <p:txBody>
          <a:bodyPr wrap="square" lIns="0" tIns="0" rIns="0" bIns="0" rtlCol="0" anchor="t"/>
          <a:lstStyle/>
          <a:p>
            <a:pPr indent="0" marL="0">
              <a:buNone/>
            </a:pPr>
            <a:r>
              <a:rPr lang="en-US" sz="1200" dirty="0">
                <a:solidFill>
                  <a:srgbClr val="DBEEFF"/>
                </a:solidFill>
                <a:latin typeface="Arial" pitchFamily="34" charset="0"/>
                <a:ea typeface="Arial" pitchFamily="34" charset="-122"/>
                <a:cs typeface="Arial" pitchFamily="34" charset="-120"/>
              </a:rPr>
              <a:t>NER cannot tell a wrong digit from a right one: “six thousand” heard for “five thousand” is still a clean ALTITUDE tag.</a:t>
            </a:r>
            <a:endParaRPr lang="en-US" sz="12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COMPARE  ·  RESEARCH QUESTION 3</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Short real-audio clips are the hardest</a:t>
            </a:r>
            <a:endParaRPr lang="en-US" sz="2400" dirty="0"/>
          </a:p>
        </p:txBody>
      </p:sp>
      <p:graphicFrame>
        <p:nvGraphicFramePr>
          <p:cNvPr id="4" name="Chart 0" descr=""/>
          <p:cNvGraphicFramePr/>
          <p:nvPr/>
        </p:nvGraphicFramePr>
        <p:xfrm>
          <a:off x="457200" y="1188720"/>
          <a:ext cx="502920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760720" y="1188720"/>
            <a:ext cx="2926080" cy="365760"/>
          </a:xfrm>
          <a:prstGeom prst="rect">
            <a:avLst/>
          </a:prstGeom>
          <a:noFill/>
          <a:ln/>
        </p:spPr>
        <p:txBody>
          <a:bodyPr wrap="square" lIns="0" tIns="0" rIns="0" bIns="0" rtlCol="0" anchor="ctr"/>
          <a:lstStyle/>
          <a:p>
            <a:pPr indent="0" marL="0">
              <a:buNone/>
            </a:pPr>
            <a:r>
              <a:rPr lang="en-US" sz="2000" b="1" dirty="0">
                <a:solidFill>
                  <a:srgbClr val="0097A7"/>
                </a:solidFill>
                <a:latin typeface="Arial" pitchFamily="34" charset="0"/>
                <a:ea typeface="Arial" pitchFamily="34" charset="-122"/>
                <a:cs typeface="Arial" pitchFamily="34" charset="-120"/>
              </a:rPr>
              <a:t>|ρ| ≤ 0.17</a:t>
            </a:r>
            <a:endParaRPr lang="en-US" sz="2000" dirty="0"/>
          </a:p>
        </p:txBody>
      </p:sp>
      <p:sp>
        <p:nvSpPr>
          <p:cNvPr id="6" name="Text 3"/>
          <p:cNvSpPr txBox="1"/>
          <p:nvPr/>
        </p:nvSpPr>
        <p:spPr>
          <a:xfrm>
            <a:off x="5760720" y="1554480"/>
            <a:ext cx="2926080" cy="54864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Spearman correlation of WER with each trait (0 = no link, 1 = perfect): all weak</a:t>
            </a:r>
            <a:endParaRPr lang="en-US" sz="1200" dirty="0"/>
          </a:p>
        </p:txBody>
      </p:sp>
      <p:sp>
        <p:nvSpPr>
          <p:cNvPr id="7" name="Text 4"/>
          <p:cNvSpPr txBox="1"/>
          <p:nvPr/>
        </p:nvSpPr>
        <p:spPr>
          <a:xfrm>
            <a:off x="5760720" y="2148840"/>
            <a:ext cx="2926080" cy="365760"/>
          </a:xfrm>
          <a:prstGeom prst="rect">
            <a:avLst/>
          </a:prstGeom>
          <a:noFill/>
          <a:ln/>
        </p:spPr>
        <p:txBody>
          <a:bodyPr wrap="square" lIns="0" tIns="0" rIns="0" bIns="0" rtlCol="0" anchor="ctr"/>
          <a:lstStyle/>
          <a:p>
            <a:pPr indent="0" marL="0">
              <a:buNone/>
            </a:pPr>
            <a:r>
              <a:rPr lang="en-US" sz="2000" b="1" dirty="0">
                <a:solidFill>
                  <a:srgbClr val="0097A7"/>
                </a:solidFill>
                <a:latin typeface="Arial" pitchFamily="34" charset="0"/>
                <a:ea typeface="Arial" pitchFamily="34" charset="-122"/>
                <a:cs typeface="Arial" pitchFamily="34" charset="-120"/>
              </a:rPr>
              <a:t>14.5% vs 5–6%</a:t>
            </a:r>
            <a:endParaRPr lang="en-US" sz="2000" dirty="0"/>
          </a:p>
        </p:txBody>
      </p:sp>
      <p:sp>
        <p:nvSpPr>
          <p:cNvPr id="8" name="Text 5"/>
          <p:cNvSpPr txBox="1"/>
          <p:nvPr/>
        </p:nvSpPr>
        <p:spPr>
          <a:xfrm>
            <a:off x="5760720" y="2514600"/>
            <a:ext cx="2926080" cy="54864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real-audio WER with 0–1 entities vs. 3 or more</a:t>
            </a:r>
            <a:endParaRPr lang="en-US" sz="1200" dirty="0"/>
          </a:p>
        </p:txBody>
      </p:sp>
      <p:sp>
        <p:nvSpPr>
          <p:cNvPr id="9" name="Text 6"/>
          <p:cNvSpPr txBox="1"/>
          <p:nvPr/>
        </p:nvSpPr>
        <p:spPr>
          <a:xfrm>
            <a:off x="5760720" y="3108960"/>
            <a:ext cx="2926080" cy="365760"/>
          </a:xfrm>
          <a:prstGeom prst="rect">
            <a:avLst/>
          </a:prstGeom>
          <a:noFill/>
          <a:ln/>
        </p:spPr>
        <p:txBody>
          <a:bodyPr wrap="square" lIns="0" tIns="0" rIns="0" bIns="0" rtlCol="0" anchor="ctr"/>
          <a:lstStyle/>
          <a:p>
            <a:pPr indent="0" marL="0">
              <a:buNone/>
            </a:pPr>
            <a:r>
              <a:rPr lang="en-US" sz="2000" b="1" dirty="0">
                <a:solidFill>
                  <a:srgbClr val="0097A7"/>
                </a:solidFill>
                <a:latin typeface="Arial" pitchFamily="34" charset="0"/>
                <a:ea typeface="Arial" pitchFamily="34" charset="-122"/>
                <a:cs typeface="Arial" pitchFamily="34" charset="-120"/>
              </a:rPr>
              <a:t>−0.32 → −0.05</a:t>
            </a:r>
            <a:endParaRPr lang="en-US" sz="2000" dirty="0"/>
          </a:p>
        </p:txBody>
      </p:sp>
      <p:sp>
        <p:nvSpPr>
          <p:cNvPr id="10" name="Text 7"/>
          <p:cNvSpPr txBox="1"/>
          <p:nvPr/>
        </p:nvSpPr>
        <p:spPr>
          <a:xfrm>
            <a:off x="5760720" y="3474720"/>
            <a:ext cx="2926080" cy="54864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Spearman ρ of WER with clip duration: zero-shot vs. fine-tuned</a:t>
            </a:r>
            <a:endParaRPr lang="en-US" sz="1200" dirty="0"/>
          </a:p>
        </p:txBody>
      </p:sp>
      <p:sp>
        <p:nvSpPr>
          <p:cNvPr id="11" name="Text 8"/>
          <p:cNvSpPr txBox="1"/>
          <p:nvPr/>
        </p:nvSpPr>
        <p:spPr>
          <a:xfrm>
            <a:off x="5760720" y="4114800"/>
            <a:ext cx="2926080" cy="594360"/>
          </a:xfrm>
          <a:prstGeom prst="rect">
            <a:avLst/>
          </a:prstGeom>
          <a:noFill/>
          <a:ln/>
        </p:spPr>
        <p:txBody>
          <a:bodyPr wrap="square" lIns="0" tIns="0" rIns="0" bIns="0" rtlCol="0" anchor="t"/>
          <a:lstStyle/>
          <a:p>
            <a:pPr indent="0" marL="0">
              <a:buNone/>
            </a:pPr>
            <a:r>
              <a:rPr lang="en-US" sz="1050" dirty="0">
                <a:solidFill>
                  <a:srgbClr val="5B6B78"/>
                </a:solidFill>
                <a:latin typeface="Arial" pitchFamily="34" charset="0"/>
                <a:ea typeface="Arial" pitchFamily="34" charset="-122"/>
                <a:cs typeface="Arial" pitchFamily="34" charset="-120"/>
              </a:rPr>
              <a:t>Exploratory and correlational. SNR proxy = a rough dynamic-range estimate, not true signal-to-noise.</a:t>
            </a:r>
            <a:endParaRPr lang="en-US" sz="105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ASSIST  ·  CLEARANCEIQ</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ClearanceIQ runs on a laptop CPU</a:t>
            </a:r>
            <a:endParaRPr lang="en-US" sz="2400" dirty="0"/>
          </a:p>
        </p:txBody>
      </p:sp>
      <p:pic>
        <p:nvPicPr>
          <p:cNvPr id="4" name="ClearanceIQ screenshot" descr="ClearanceIQ clearance card and highlighted transcript">    </p:cNvPr>
          <p:cNvPicPr>
            <a:picLocks noChangeAspect="1"/>
          </p:cNvPicPr>
          <p:nvPr/>
        </p:nvPicPr>
        <p:blipFill>
          <a:blip r:embed="rId1"/>
          <a:stretch>
            <a:fillRect/>
          </a:stretch>
        </p:blipFill>
        <p:spPr>
          <a:xfrm>
            <a:off x="457200" y="1188720"/>
            <a:ext cx="4754880" cy="2971800"/>
          </a:xfrm>
          <a:prstGeom prst="rect">
            <a:avLst/>
          </a:prstGeom>
        </p:spPr>
      </p:pic>
      <p:sp>
        <p:nvSpPr>
          <p:cNvPr id="5" name="per utterance on CPU: real-time factor 0.2, about 5x faster than real time icon circle"/>
          <p:cNvSpPr/>
          <p:nvPr/>
        </p:nvSpPr>
        <p:spPr>
          <a:xfrm>
            <a:off x="5486400" y="1188720"/>
            <a:ext cx="502920" cy="502920"/>
          </a:xfrm>
          <a:prstGeom prst="ellipse">
            <a:avLst/>
          </a:prstGeom>
          <a:solidFill>
            <a:srgbClr val="0097A7"/>
          </a:solidFill>
          <a:ln w="12700">
            <a:solidFill>
              <a:srgbClr val="0097A7"/>
            </a:solidFill>
            <a:prstDash val="solid"/>
          </a:ln>
        </p:spPr>
      </p:sp>
      <p:pic>
        <p:nvPicPr>
          <p:cNvPr id="6" name="per utterance on CPU: real-time factor 0.2, about 5x faster than real time icon" descr="per utterance on CPU: real-time factor 0.2, about 5x faster than real time">    </p:cNvPr>
          <p:cNvPicPr>
            <a:picLocks noChangeAspect="1"/>
          </p:cNvPicPr>
          <p:nvPr/>
        </p:nvPicPr>
        <p:blipFill>
          <a:blip r:embed="rId2"/>
          <a:stretch>
            <a:fillRect/>
          </a:stretch>
        </p:blipFill>
        <p:spPr>
          <a:xfrm>
            <a:off x="5612130" y="1314450"/>
            <a:ext cx="251460" cy="251460"/>
          </a:xfrm>
          <a:prstGeom prst="rect">
            <a:avLst/>
          </a:prstGeom>
        </p:spPr>
      </p:pic>
      <p:sp>
        <p:nvSpPr>
          <p:cNvPr id="7" name="Text 3"/>
          <p:cNvSpPr txBox="1"/>
          <p:nvPr/>
        </p:nvSpPr>
        <p:spPr>
          <a:xfrm>
            <a:off x="6172200" y="1152144"/>
            <a:ext cx="2514600" cy="365760"/>
          </a:xfrm>
          <a:prstGeom prst="rect">
            <a:avLst/>
          </a:prstGeom>
          <a:noFill/>
          <a:ln/>
        </p:spPr>
        <p:txBody>
          <a:bodyPr wrap="square" lIns="0" tIns="0" rIns="0" bIns="0" rtlCol="0" anchor="ctr"/>
          <a:lstStyle/>
          <a:p>
            <a:pPr indent="0" marL="0">
              <a:buNone/>
            </a:pPr>
            <a:r>
              <a:rPr lang="en-US" sz="2200" b="1" dirty="0">
                <a:solidFill>
                  <a:srgbClr val="384957"/>
                </a:solidFill>
                <a:latin typeface="Arial" pitchFamily="34" charset="0"/>
                <a:ea typeface="Arial" pitchFamily="34" charset="-122"/>
                <a:cs typeface="Arial" pitchFamily="34" charset="-120"/>
              </a:rPr>
              <a:t>0.7 s</a:t>
            </a:r>
            <a:endParaRPr lang="en-US" sz="2200" dirty="0"/>
          </a:p>
        </p:txBody>
      </p:sp>
      <p:sp>
        <p:nvSpPr>
          <p:cNvPr id="8" name="Text 4"/>
          <p:cNvSpPr txBox="1"/>
          <p:nvPr/>
        </p:nvSpPr>
        <p:spPr>
          <a:xfrm>
            <a:off x="6172200" y="1517904"/>
            <a:ext cx="2514600" cy="64008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per utterance on CPU: real-time factor 0.2, about 5x faster than real time</a:t>
            </a:r>
            <a:endParaRPr lang="en-US" sz="1200" dirty="0"/>
          </a:p>
        </p:txBody>
      </p:sp>
      <p:sp>
        <p:nvSpPr>
          <p:cNvPr id="9" name="RAM; no GPU, PyTorch or transformers needed icon circle"/>
          <p:cNvSpPr/>
          <p:nvPr/>
        </p:nvSpPr>
        <p:spPr>
          <a:xfrm>
            <a:off x="5486400" y="2194560"/>
            <a:ext cx="502920" cy="502920"/>
          </a:xfrm>
          <a:prstGeom prst="ellipse">
            <a:avLst/>
          </a:prstGeom>
          <a:solidFill>
            <a:srgbClr val="0097A7"/>
          </a:solidFill>
          <a:ln w="12700">
            <a:solidFill>
              <a:srgbClr val="0097A7"/>
            </a:solidFill>
            <a:prstDash val="solid"/>
          </a:ln>
        </p:spPr>
      </p:sp>
      <p:pic>
        <p:nvPicPr>
          <p:cNvPr id="10" name="RAM; no GPU, PyTorch or transformers needed icon" descr="RAM; no GPU, PyTorch or transformers needed">    </p:cNvPr>
          <p:cNvPicPr>
            <a:picLocks noChangeAspect="1"/>
          </p:cNvPicPr>
          <p:nvPr/>
        </p:nvPicPr>
        <p:blipFill>
          <a:blip r:embed="rId3"/>
          <a:stretch>
            <a:fillRect/>
          </a:stretch>
        </p:blipFill>
        <p:spPr>
          <a:xfrm>
            <a:off x="5612130" y="2320290"/>
            <a:ext cx="251460" cy="251460"/>
          </a:xfrm>
          <a:prstGeom prst="rect">
            <a:avLst/>
          </a:prstGeom>
        </p:spPr>
      </p:pic>
      <p:sp>
        <p:nvSpPr>
          <p:cNvPr id="11" name="Text 6"/>
          <p:cNvSpPr txBox="1"/>
          <p:nvPr/>
        </p:nvSpPr>
        <p:spPr>
          <a:xfrm>
            <a:off x="6172200" y="2157984"/>
            <a:ext cx="2514600" cy="365760"/>
          </a:xfrm>
          <a:prstGeom prst="rect">
            <a:avLst/>
          </a:prstGeom>
          <a:noFill/>
          <a:ln/>
        </p:spPr>
        <p:txBody>
          <a:bodyPr wrap="square" lIns="0" tIns="0" rIns="0" bIns="0" rtlCol="0" anchor="ctr"/>
          <a:lstStyle/>
          <a:p>
            <a:pPr indent="0" marL="0">
              <a:buNone/>
            </a:pPr>
            <a:r>
              <a:rPr lang="en-US" sz="2200" b="1" dirty="0">
                <a:solidFill>
                  <a:srgbClr val="384957"/>
                </a:solidFill>
                <a:latin typeface="Arial" pitchFamily="34" charset="0"/>
                <a:ea typeface="Arial" pitchFamily="34" charset="-122"/>
                <a:cs typeface="Arial" pitchFamily="34" charset="-120"/>
              </a:rPr>
              <a:t>2.2 GB</a:t>
            </a:r>
            <a:endParaRPr lang="en-US" sz="2200" dirty="0"/>
          </a:p>
        </p:txBody>
      </p:sp>
      <p:sp>
        <p:nvSpPr>
          <p:cNvPr id="12" name="Text 7"/>
          <p:cNvSpPr txBox="1"/>
          <p:nvPr/>
        </p:nvSpPr>
        <p:spPr>
          <a:xfrm>
            <a:off x="6172200" y="2523744"/>
            <a:ext cx="2514600" cy="64008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RAM; no GPU, PyTorch or transformers needed</a:t>
            </a:r>
            <a:endParaRPr lang="en-US" sz="1200" dirty="0"/>
          </a:p>
        </p:txBody>
      </p:sp>
      <p:sp>
        <p:nvSpPr>
          <p:cNvPr id="13" name="for nine-label entity extraction icon circle"/>
          <p:cNvSpPr/>
          <p:nvPr/>
        </p:nvSpPr>
        <p:spPr>
          <a:xfrm>
            <a:off x="5486400" y="3200400"/>
            <a:ext cx="502920" cy="502920"/>
          </a:xfrm>
          <a:prstGeom prst="ellipse">
            <a:avLst/>
          </a:prstGeom>
          <a:solidFill>
            <a:srgbClr val="0097A7"/>
          </a:solidFill>
          <a:ln w="12700">
            <a:solidFill>
              <a:srgbClr val="0097A7"/>
            </a:solidFill>
            <a:prstDash val="solid"/>
          </a:ln>
        </p:spPr>
      </p:sp>
      <p:pic>
        <p:nvPicPr>
          <p:cNvPr id="14" name="for nine-label entity extraction icon" descr="for nine-label entity extraction">    </p:cNvPr>
          <p:cNvPicPr>
            <a:picLocks noChangeAspect="1"/>
          </p:cNvPicPr>
          <p:nvPr/>
        </p:nvPicPr>
        <p:blipFill>
          <a:blip r:embed="rId4"/>
          <a:stretch>
            <a:fillRect/>
          </a:stretch>
        </p:blipFill>
        <p:spPr>
          <a:xfrm>
            <a:off x="5612130" y="3326130"/>
            <a:ext cx="251460" cy="251460"/>
          </a:xfrm>
          <a:prstGeom prst="rect">
            <a:avLst/>
          </a:prstGeom>
        </p:spPr>
      </p:pic>
      <p:sp>
        <p:nvSpPr>
          <p:cNvPr id="15" name="Text 9"/>
          <p:cNvSpPr txBox="1"/>
          <p:nvPr/>
        </p:nvSpPr>
        <p:spPr>
          <a:xfrm>
            <a:off x="6172200" y="3163824"/>
            <a:ext cx="2514600" cy="365760"/>
          </a:xfrm>
          <a:prstGeom prst="rect">
            <a:avLst/>
          </a:prstGeom>
          <a:noFill/>
          <a:ln/>
        </p:spPr>
        <p:txBody>
          <a:bodyPr wrap="square" lIns="0" tIns="0" rIns="0" bIns="0" rtlCol="0" anchor="ctr"/>
          <a:lstStyle/>
          <a:p>
            <a:pPr indent="0" marL="0">
              <a:buNone/>
            </a:pPr>
            <a:r>
              <a:rPr lang="en-US" sz="2200" b="1" dirty="0">
                <a:solidFill>
                  <a:srgbClr val="384957"/>
                </a:solidFill>
                <a:latin typeface="Arial" pitchFamily="34" charset="0"/>
                <a:ea typeface="Arial" pitchFamily="34" charset="-122"/>
                <a:cs typeface="Arial" pitchFamily="34" charset="-120"/>
              </a:rPr>
              <a:t>~1 ms</a:t>
            </a:r>
            <a:endParaRPr lang="en-US" sz="2200" dirty="0"/>
          </a:p>
        </p:txBody>
      </p:sp>
      <p:sp>
        <p:nvSpPr>
          <p:cNvPr id="16" name="Text 10"/>
          <p:cNvSpPr txBox="1"/>
          <p:nvPr/>
        </p:nvSpPr>
        <p:spPr>
          <a:xfrm>
            <a:off x="6172200" y="3529584"/>
            <a:ext cx="2514600" cy="64008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for nine-label entity extraction</a:t>
            </a:r>
            <a:endParaRPr lang="en-US" sz="1200" dirty="0"/>
          </a:p>
        </p:txBody>
      </p:sp>
      <p:sp>
        <p:nvSpPr>
          <p:cNvPr id="17" name="Text 11"/>
          <p:cNvSpPr txBox="1"/>
          <p:nvPr/>
        </p:nvSpPr>
        <p:spPr>
          <a:xfrm>
            <a:off x="457200" y="4297680"/>
            <a:ext cx="8229600" cy="411480"/>
          </a:xfrm>
          <a:prstGeom prst="rect">
            <a:avLst/>
          </a:prstGeom>
          <a:noFill/>
          <a:ln/>
        </p:spPr>
        <p:txBody>
          <a:bodyPr wrap="square" lIns="0" tIns="0" rIns="0" bIns="0" rtlCol="0" anchor="t"/>
          <a:lstStyle/>
          <a:p>
            <a:pPr indent="0" marL="0">
              <a:buNone/>
            </a:pPr>
            <a:r>
              <a:rPr lang="en-US" sz="1200" dirty="0">
                <a:solidFill>
                  <a:srgbClr val="384957"/>
                </a:solidFill>
                <a:latin typeface="Arial" pitchFamily="34" charset="0"/>
                <a:ea typeface="Arial" pitchFamily="34" charset="-122"/>
                <a:cs typeface="Arial" pitchFamily="34" charset="-120"/>
              </a:rPr>
              <a:t>Audio → Whisper (CTranslate2 int8) → spaCy NER → clearance card. Optional: Claude explanation, Kokoro voice read-back.</a:t>
            </a:r>
            <a:endParaRPr lang="en-US" sz="12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ASSIST  ·  BACKUP</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Demo backup: ClearanceIQ screenshots</a:t>
            </a:r>
            <a:endParaRPr lang="en-US" sz="2400" dirty="0"/>
          </a:p>
        </p:txBody>
      </p:sp>
      <p:pic>
        <p:nvPicPr>
          <p:cNvPr id="4" name="Screenshot 1" descr="Splash and research-prototype disclaimer">    </p:cNvPr>
          <p:cNvPicPr>
            <a:picLocks noChangeAspect="1"/>
          </p:cNvPicPr>
          <p:nvPr/>
        </p:nvPicPr>
        <p:blipFill>
          <a:blip r:embed="rId1"/>
          <a:stretch>
            <a:fillRect/>
          </a:stretch>
        </p:blipFill>
        <p:spPr>
          <a:xfrm>
            <a:off x="457200" y="1143000"/>
            <a:ext cx="2286000" cy="1428750"/>
          </a:xfrm>
          <a:prstGeom prst="rect">
            <a:avLst/>
          </a:prstGeom>
        </p:spPr>
      </p:pic>
      <p:sp>
        <p:nvSpPr>
          <p:cNvPr id="5" name="Text 2"/>
          <p:cNvSpPr txBox="1"/>
          <p:nvPr/>
        </p:nvSpPr>
        <p:spPr>
          <a:xfrm>
            <a:off x="2880360" y="1417320"/>
            <a:ext cx="1600200" cy="868680"/>
          </a:xfrm>
          <a:prstGeom prst="rect">
            <a:avLst/>
          </a:prstGeom>
          <a:noFill/>
          <a:ln/>
        </p:spPr>
        <p:txBody>
          <a:bodyPr wrap="square" lIns="0" tIns="0" rIns="0" bIns="0" rtlCol="0" anchor="ctr"/>
          <a:lstStyle/>
          <a:p>
            <a:pPr indent="0" marL="0">
              <a:buNone/>
            </a:pPr>
            <a:r>
              <a:rPr lang="en-US" sz="1200" dirty="0">
                <a:solidFill>
                  <a:srgbClr val="384957"/>
                </a:solidFill>
                <a:latin typeface="Arial" pitchFamily="34" charset="0"/>
                <a:ea typeface="Arial" pitchFamily="34" charset="-122"/>
                <a:cs typeface="Arial" pitchFamily="34" charset="-120"/>
              </a:rPr>
              <a:t>Splash and research-prototype disclaimer</a:t>
            </a:r>
            <a:endParaRPr lang="en-US" sz="1200" dirty="0"/>
          </a:p>
        </p:txBody>
      </p:sp>
      <p:pic>
        <p:nvPicPr>
          <p:cNvPr id="6" name="Screenshot 2" descr="Audio analysis: waveform and Mel spectrogram">    </p:cNvPr>
          <p:cNvPicPr>
            <a:picLocks noChangeAspect="1"/>
          </p:cNvPicPr>
          <p:nvPr/>
        </p:nvPicPr>
        <p:blipFill>
          <a:blip r:embed="rId2"/>
          <a:stretch>
            <a:fillRect/>
          </a:stretch>
        </p:blipFill>
        <p:spPr>
          <a:xfrm>
            <a:off x="4663440" y="1143000"/>
            <a:ext cx="2286000" cy="1428750"/>
          </a:xfrm>
          <a:prstGeom prst="rect">
            <a:avLst/>
          </a:prstGeom>
        </p:spPr>
      </p:pic>
      <p:sp>
        <p:nvSpPr>
          <p:cNvPr id="7" name="Text 3"/>
          <p:cNvSpPr txBox="1"/>
          <p:nvPr/>
        </p:nvSpPr>
        <p:spPr>
          <a:xfrm>
            <a:off x="7086600" y="1417320"/>
            <a:ext cx="1600200" cy="868680"/>
          </a:xfrm>
          <a:prstGeom prst="rect">
            <a:avLst/>
          </a:prstGeom>
          <a:noFill/>
          <a:ln/>
        </p:spPr>
        <p:txBody>
          <a:bodyPr wrap="square" lIns="0" tIns="0" rIns="0" bIns="0" rtlCol="0" anchor="ctr"/>
          <a:lstStyle/>
          <a:p>
            <a:pPr indent="0" marL="0">
              <a:buNone/>
            </a:pPr>
            <a:r>
              <a:rPr lang="en-US" sz="1200" dirty="0">
                <a:solidFill>
                  <a:srgbClr val="384957"/>
                </a:solidFill>
                <a:latin typeface="Arial" pitchFamily="34" charset="0"/>
                <a:ea typeface="Arial" pitchFamily="34" charset="-122"/>
                <a:cs typeface="Arial" pitchFamily="34" charset="-120"/>
              </a:rPr>
              <a:t>Audio analysis: waveform and Mel spectrogram</a:t>
            </a:r>
            <a:endParaRPr lang="en-US" sz="1200" dirty="0"/>
          </a:p>
        </p:txBody>
      </p:sp>
      <p:pic>
        <p:nvPicPr>
          <p:cNvPr id="8" name="Screenshot 3" descr="Transcript, clearance card and entities">    </p:cNvPr>
          <p:cNvPicPr>
            <a:picLocks noChangeAspect="1"/>
          </p:cNvPicPr>
          <p:nvPr/>
        </p:nvPicPr>
        <p:blipFill>
          <a:blip r:embed="rId3"/>
          <a:stretch>
            <a:fillRect/>
          </a:stretch>
        </p:blipFill>
        <p:spPr>
          <a:xfrm>
            <a:off x="457200" y="2926080"/>
            <a:ext cx="2286000" cy="1428750"/>
          </a:xfrm>
          <a:prstGeom prst="rect">
            <a:avLst/>
          </a:prstGeom>
        </p:spPr>
      </p:pic>
      <p:sp>
        <p:nvSpPr>
          <p:cNvPr id="9" name="Text 4"/>
          <p:cNvSpPr txBox="1"/>
          <p:nvPr/>
        </p:nvSpPr>
        <p:spPr>
          <a:xfrm>
            <a:off x="2880360" y="3200400"/>
            <a:ext cx="1600200" cy="868680"/>
          </a:xfrm>
          <a:prstGeom prst="rect">
            <a:avLst/>
          </a:prstGeom>
          <a:noFill/>
          <a:ln/>
        </p:spPr>
        <p:txBody>
          <a:bodyPr wrap="square" lIns="0" tIns="0" rIns="0" bIns="0" rtlCol="0" anchor="ctr"/>
          <a:lstStyle/>
          <a:p>
            <a:pPr indent="0" marL="0">
              <a:buNone/>
            </a:pPr>
            <a:r>
              <a:rPr lang="en-US" sz="1200" dirty="0">
                <a:solidFill>
                  <a:srgbClr val="384957"/>
                </a:solidFill>
                <a:latin typeface="Arial" pitchFamily="34" charset="0"/>
                <a:ea typeface="Arial" pitchFamily="34" charset="-122"/>
                <a:cs typeface="Arial" pitchFamily="34" charset="-120"/>
              </a:rPr>
              <a:t>Transcript, clearance card and entities</a:t>
            </a:r>
            <a:endParaRPr lang="en-US" sz="1200" dirty="0"/>
          </a:p>
        </p:txBody>
      </p:sp>
      <p:pic>
        <p:nvPicPr>
          <p:cNvPr id="10" name="Screenshot 4" descr="Model cards with scores and limitations">    </p:cNvPr>
          <p:cNvPicPr>
            <a:picLocks noChangeAspect="1"/>
          </p:cNvPicPr>
          <p:nvPr/>
        </p:nvPicPr>
        <p:blipFill>
          <a:blip r:embed="rId4"/>
          <a:stretch>
            <a:fillRect/>
          </a:stretch>
        </p:blipFill>
        <p:spPr>
          <a:xfrm>
            <a:off x="4663440" y="2926080"/>
            <a:ext cx="2286000" cy="1428750"/>
          </a:xfrm>
          <a:prstGeom prst="rect">
            <a:avLst/>
          </a:prstGeom>
        </p:spPr>
      </p:pic>
      <p:sp>
        <p:nvSpPr>
          <p:cNvPr id="11" name="Text 5"/>
          <p:cNvSpPr txBox="1"/>
          <p:nvPr/>
        </p:nvSpPr>
        <p:spPr>
          <a:xfrm>
            <a:off x="7086600" y="3200400"/>
            <a:ext cx="1600200" cy="868680"/>
          </a:xfrm>
          <a:prstGeom prst="rect">
            <a:avLst/>
          </a:prstGeom>
          <a:noFill/>
          <a:ln/>
        </p:spPr>
        <p:txBody>
          <a:bodyPr wrap="square" lIns="0" tIns="0" rIns="0" bIns="0" rtlCol="0" anchor="ctr"/>
          <a:lstStyle/>
          <a:p>
            <a:pPr indent="0" marL="0">
              <a:buNone/>
            </a:pPr>
            <a:r>
              <a:rPr lang="en-US" sz="1200" dirty="0">
                <a:solidFill>
                  <a:srgbClr val="384957"/>
                </a:solidFill>
                <a:latin typeface="Arial" pitchFamily="34" charset="0"/>
                <a:ea typeface="Arial" pitchFamily="34" charset="-122"/>
                <a:cs typeface="Arial" pitchFamily="34" charset="-120"/>
              </a:rPr>
              <a:t>Model cards with scores and limitations</a:t>
            </a:r>
            <a:endParaRPr lang="en-US" sz="12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BACKUP</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Metric glossary: how to read the numbers</a:t>
            </a:r>
            <a:endParaRPr lang="en-US" sz="2400" dirty="0"/>
          </a:p>
        </p:txBody>
      </p:sp>
      <p:graphicFrame>
        <p:nvGraphicFramePr>
          <p:cNvPr id="16" name="Metric glossary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6217920"/>
              </a:tblGrid>
              <a:tr h="2743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384957"/>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Plain-English meaning</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384957"/>
                    </a:solidFill>
                  </a:tcPr>
                </a:tc>
              </a:tr>
              <a:tr h="384048">
                <a:tc>
                  <a:txBody>
                    <a:bodyPr/>
                    <a:lstStyle/>
                    <a:p>
                      <a:pPr indent="0" marL="0">
                        <a:buNone/>
                      </a:pPr>
                      <a:r>
                        <a:rPr lang="en-US" sz="1100" b="1" dirty="0">
                          <a:solidFill>
                            <a:srgbClr val="384957"/>
                          </a:solidFill>
                          <a:latin typeface="Arial" pitchFamily="34" charset="0"/>
                          <a:ea typeface="Arial" pitchFamily="34" charset="-122"/>
                          <a:cs typeface="Arial" pitchFamily="34" charset="-120"/>
                        </a:rPr>
                        <a:t>WER (word error rate)</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indent="0" marL="0">
                        <a:buNone/>
                      </a:pPr>
                      <a:r>
                        <a:rPr lang="en-US" sz="1100" dirty="0">
                          <a:solidFill>
                            <a:srgbClr val="384957"/>
                          </a:solidFill>
                          <a:latin typeface="Arial" pitchFamily="34" charset="0"/>
                          <a:ea typeface="Arial" pitchFamily="34" charset="-122"/>
                          <a:cs typeface="Arial" pitchFamily="34" charset="-120"/>
                        </a:rPr>
                        <a:t>Share of words the model gets wrong (substitutions, deletions, insertions). Lower is better; can exceed 100% on runaway output.</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384957"/>
                          </a:solidFill>
                          <a:latin typeface="Arial" pitchFamily="34" charset="0"/>
                          <a:ea typeface="Arial" pitchFamily="34" charset="-122"/>
                          <a:cs typeface="Arial" pitchFamily="34" charset="-120"/>
                        </a:rPr>
                        <a:t>Precision / recall</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indent="0" marL="0">
                        <a:buNone/>
                      </a:pPr>
                      <a:r>
                        <a:rPr lang="en-US" sz="1100" dirty="0">
                          <a:solidFill>
                            <a:srgbClr val="384957"/>
                          </a:solidFill>
                          <a:latin typeface="Arial" pitchFamily="34" charset="0"/>
                          <a:ea typeface="Arial" pitchFamily="34" charset="-122"/>
                          <a:cs typeface="Arial" pitchFamily="34" charset="-120"/>
                        </a:rPr>
                        <a:t>Precision: of the entities found, how many are right. Recall: of the true entities, how many were found.</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r>
              <a:tr h="384048">
                <a:tc>
                  <a:txBody>
                    <a:bodyPr/>
                    <a:lstStyle/>
                    <a:p>
                      <a:pPr indent="0" marL="0">
                        <a:buNone/>
                      </a:pPr>
                      <a:r>
                        <a:rPr lang="en-US" sz="1100" b="1" dirty="0">
                          <a:solidFill>
                            <a:srgbClr val="384957"/>
                          </a:solidFill>
                          <a:latin typeface="Arial" pitchFamily="34" charset="0"/>
                          <a:ea typeface="Arial" pitchFamily="34" charset="-122"/>
                          <a:cs typeface="Arial" pitchFamily="34" charset="-120"/>
                        </a:rPr>
                        <a:t>F1 (span F1, entity F1)</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indent="0" marL="0">
                        <a:buNone/>
                      </a:pPr>
                      <a:r>
                        <a:rPr lang="en-US" sz="1100" dirty="0">
                          <a:solidFill>
                            <a:srgbClr val="384957"/>
                          </a:solidFill>
                          <a:latin typeface="Arial" pitchFamily="34" charset="0"/>
                          <a:ea typeface="Arial" pitchFamily="34" charset="-122"/>
                          <a:cs typeface="Arial" pitchFamily="34" charset="-120"/>
                        </a:rPr>
                        <a:t>One score from 0 to 1 that balances precision and recall; higher is better. A span counts only if label and exact text match.</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384957"/>
                          </a:solidFill>
                          <a:latin typeface="Arial" pitchFamily="34" charset="0"/>
                          <a:ea typeface="Arial" pitchFamily="34" charset="-122"/>
                          <a:cs typeface="Arial" pitchFamily="34" charset="-120"/>
                        </a:rPr>
                        <a:t>Entity recall</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indent="0" marL="0">
                        <a:buNone/>
                      </a:pPr>
                      <a:r>
                        <a:rPr lang="en-US" sz="1100" dirty="0">
                          <a:solidFill>
                            <a:srgbClr val="384957"/>
                          </a:solidFill>
                          <a:latin typeface="Arial" pitchFamily="34" charset="0"/>
                          <a:ea typeface="Arial" pitchFamily="34" charset="-122"/>
                          <a:cs typeface="Arial" pitchFamily="34" charset="-120"/>
                        </a:rPr>
                        <a:t>Share of the reference transcript's entities that also appear in the model's transcript.</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r>
              <a:tr h="384048">
                <a:tc>
                  <a:txBody>
                    <a:bodyPr/>
                    <a:lstStyle/>
                    <a:p>
                      <a:pPr indent="0" marL="0">
                        <a:buNone/>
                      </a:pPr>
                      <a:r>
                        <a:rPr lang="en-US" sz="1100" b="1" dirty="0">
                          <a:solidFill>
                            <a:srgbClr val="384957"/>
                          </a:solidFill>
                          <a:latin typeface="Arial" pitchFamily="34" charset="0"/>
                          <a:ea typeface="Arial" pitchFamily="34" charset="-122"/>
                          <a:cs typeface="Arial" pitchFamily="34" charset="-120"/>
                        </a:rPr>
                        <a:t>95% confidence interval</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indent="0" marL="0">
                        <a:buNone/>
                      </a:pPr>
                      <a:r>
                        <a:rPr lang="en-US" sz="1100" dirty="0">
                          <a:solidFill>
                            <a:srgbClr val="384957"/>
                          </a:solidFill>
                          <a:latin typeface="Arial" pitchFamily="34" charset="0"/>
                          <a:ea typeface="Arial" pitchFamily="34" charset="-122"/>
                          <a:cs typeface="Arial" pitchFamily="34" charset="-120"/>
                        </a:rPr>
                        <a:t>The plausible range for a number given the finite test set; if a difference's interval includes zero, there is no clear gap.</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384957"/>
                          </a:solidFill>
                          <a:latin typeface="Arial" pitchFamily="34" charset="0"/>
                          <a:ea typeface="Arial" pitchFamily="34" charset="-122"/>
                          <a:cs typeface="Arial" pitchFamily="34" charset="-120"/>
                        </a:rPr>
                        <a:t>Spearman ρ</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indent="0" marL="0">
                        <a:buNone/>
                      </a:pPr>
                      <a:r>
                        <a:rPr lang="en-US" sz="1100" dirty="0">
                          <a:solidFill>
                            <a:srgbClr val="384957"/>
                          </a:solidFill>
                          <a:latin typeface="Arial" pitchFamily="34" charset="0"/>
                          <a:ea typeface="Arial" pitchFamily="34" charset="-122"/>
                          <a:cs typeface="Arial" pitchFamily="34" charset="-120"/>
                        </a:rPr>
                        <a:t>How consistently two measures rise and fall together: 0 is no link, ±1 is perfect. Values under 0.2 are weak.</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r>
              <a:tr h="310896">
                <a:tc>
                  <a:txBody>
                    <a:bodyPr/>
                    <a:lstStyle/>
                    <a:p>
                      <a:pPr indent="0" marL="0">
                        <a:buNone/>
                      </a:pPr>
                      <a:r>
                        <a:rPr lang="en-US" sz="1100" b="1" dirty="0">
                          <a:solidFill>
                            <a:srgbClr val="384957"/>
                          </a:solidFill>
                          <a:latin typeface="Arial" pitchFamily="34" charset="0"/>
                          <a:ea typeface="Arial" pitchFamily="34" charset="-122"/>
                          <a:cs typeface="Arial" pitchFamily="34" charset="-120"/>
                        </a:rPr>
                        <a:t>Real-time factor (RTF)</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indent="0" marL="0">
                        <a:buNone/>
                      </a:pPr>
                      <a:r>
                        <a:rPr lang="en-US" sz="1100" dirty="0">
                          <a:solidFill>
                            <a:srgbClr val="384957"/>
                          </a:solidFill>
                          <a:latin typeface="Arial" pitchFamily="34" charset="0"/>
                          <a:ea typeface="Arial" pitchFamily="34" charset="-122"/>
                          <a:cs typeface="Arial" pitchFamily="34" charset="-120"/>
                        </a:rPr>
                        <a:t>Processing time divided by audio length; below 1 is faster than real time.</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384957"/>
                          </a:solidFill>
                          <a:latin typeface="Arial" pitchFamily="34" charset="0"/>
                          <a:ea typeface="Arial" pitchFamily="34" charset="-122"/>
                          <a:cs typeface="Arial" pitchFamily="34" charset="-120"/>
                        </a:rPr>
                        <a:t>Type-token ratio</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c>
                  <a:txBody>
                    <a:bodyPr/>
                    <a:lstStyle/>
                    <a:p>
                      <a:pPr indent="0" marL="0">
                        <a:buNone/>
                      </a:pPr>
                      <a:r>
                        <a:rPr lang="en-US" sz="1100" dirty="0">
                          <a:solidFill>
                            <a:srgbClr val="384957"/>
                          </a:solidFill>
                          <a:latin typeface="Arial" pitchFamily="34" charset="0"/>
                          <a:ea typeface="Arial" pitchFamily="34" charset="-122"/>
                          <a:cs typeface="Arial" pitchFamily="34" charset="-120"/>
                        </a:rPr>
                        <a:t>Distinct words divided by total words; a measure of vocabulary variety.</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3F8FC"/>
                    </a:solidFill>
                  </a:tcPr>
                </a:tc>
              </a:tr>
              <a:tr h="310896">
                <a:tc>
                  <a:txBody>
                    <a:bodyPr/>
                    <a:lstStyle/>
                    <a:p>
                      <a:pPr indent="0" marL="0">
                        <a:buNone/>
                      </a:pPr>
                      <a:r>
                        <a:rPr lang="en-US" sz="1100" b="1" dirty="0">
                          <a:solidFill>
                            <a:srgbClr val="384957"/>
                          </a:solidFill>
                          <a:latin typeface="Arial" pitchFamily="34" charset="0"/>
                          <a:ea typeface="Arial" pitchFamily="34" charset="-122"/>
                          <a:cs typeface="Arial" pitchFamily="34" charset="-120"/>
                        </a:rPr>
                        <a:t>SNR proxy</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c>
                  <a:txBody>
                    <a:bodyPr/>
                    <a:lstStyle/>
                    <a:p>
                      <a:pPr indent="0" marL="0">
                        <a:buNone/>
                      </a:pPr>
                      <a:r>
                        <a:rPr lang="en-US" sz="1100" dirty="0">
                          <a:solidFill>
                            <a:srgbClr val="384957"/>
                          </a:solidFill>
                          <a:latin typeface="Arial" pitchFamily="34" charset="0"/>
                          <a:ea typeface="Arial" pitchFamily="34" charset="-122"/>
                          <a:cs typeface="Arial" pitchFamily="34" charset="-120"/>
                        </a:rPr>
                        <a:t>A rough dynamic-range estimate of audio clarity, not a physical signal-to-noise measurement.</a:t>
                      </a:r>
                      <a:endParaRPr lang="en-US" sz="1100" dirty="0">
                        <a:latin typeface="Arial" charset="0"/>
                        <a:ea typeface="Arial" charset="0"/>
                        <a:cs typeface="Arial" charset="0"/>
                      </a:endParaRPr>
                    </a:p>
                  </a:txBody>
                  <a:tcPr marL="73152" marR="73152" marT="0" marB="0" anchor="ctr">
                    <a:lnL w="6350" cap="flat" cmpd="sng" algn="ctr">
                      <a:solidFill>
                        <a:srgbClr val="D5E1EA"/>
                      </a:solidFill>
                      <a:prstDash val="solid"/>
                      <a:round/>
                      <a:headEnd type="none" w="med" len="med"/>
                      <a:tailEnd type="none" w="med" len="med"/>
                    </a:lnL>
                    <a:lnR w="6350" cap="flat" cmpd="sng" algn="ctr">
                      <a:solidFill>
                        <a:srgbClr val="D5E1EA"/>
                      </a:solidFill>
                      <a:prstDash val="solid"/>
                      <a:round/>
                      <a:headEnd type="none" w="med" len="med"/>
                      <a:tailEnd type="none" w="med" len="med"/>
                    </a:lnR>
                    <a:lnT w="6350" cap="flat" cmpd="sng" algn="ctr">
                      <a:solidFill>
                        <a:srgbClr val="D5E1EA"/>
                      </a:solidFill>
                      <a:prstDash val="solid"/>
                      <a:round/>
                      <a:headEnd type="none" w="med" len="med"/>
                      <a:tailEnd type="none" w="med" len="med"/>
                    </a:lnT>
                    <a:lnB w="6350" cap="flat" cmpd="sng" algn="ctr">
                      <a:solidFill>
                        <a:srgbClr val="D5E1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CONCLUSIONS</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What the project showed</a:t>
            </a:r>
            <a:endParaRPr lang="en-US" sz="2400" dirty="0"/>
          </a:p>
        </p:txBody>
      </p:sp>
      <p:sp>
        <p:nvSpPr>
          <p:cNvPr id="4" name="Conclusion card 1"/>
          <p:cNvSpPr/>
          <p:nvPr/>
        </p:nvSpPr>
        <p:spPr>
          <a:xfrm>
            <a:off x="457200" y="1188720"/>
            <a:ext cx="2560320" cy="3246120"/>
          </a:xfrm>
          <a:prstGeom prst="roundRect">
            <a:avLst>
              <a:gd name="adj" fmla="val 2857"/>
            </a:avLst>
          </a:prstGeom>
          <a:solidFill>
            <a:srgbClr val="F3F8FC"/>
          </a:solidFill>
          <a:ln w="9525">
            <a:solidFill>
              <a:srgbClr val="D5E1EA"/>
            </a:solidFill>
            <a:prstDash val="solid"/>
          </a:ln>
        </p:spPr>
      </p:sp>
      <p:sp>
        <p:nvSpPr>
          <p:cNvPr id="5" name="RQ1  ·  ASR icon circle"/>
          <p:cNvSpPr/>
          <p:nvPr/>
        </p:nvSpPr>
        <p:spPr>
          <a:xfrm>
            <a:off x="640080" y="1371600"/>
            <a:ext cx="548640" cy="548640"/>
          </a:xfrm>
          <a:prstGeom prst="ellipse">
            <a:avLst/>
          </a:prstGeom>
          <a:solidFill>
            <a:srgbClr val="0097A7"/>
          </a:solidFill>
          <a:ln w="12700">
            <a:solidFill>
              <a:srgbClr val="0097A7"/>
            </a:solidFill>
            <a:prstDash val="solid"/>
          </a:ln>
        </p:spPr>
      </p:sp>
      <p:pic>
        <p:nvPicPr>
          <p:cNvPr id="6" name="RQ1  ·  ASR icon" descr="RQ1  ·  ASR">    </p:cNvPr>
          <p:cNvPicPr>
            <a:picLocks noChangeAspect="1"/>
          </p:cNvPicPr>
          <p:nvPr/>
        </p:nvPicPr>
        <p:blipFill>
          <a:blip r:embed="rId1"/>
          <a:stretch>
            <a:fillRect/>
          </a:stretch>
        </p:blipFill>
        <p:spPr>
          <a:xfrm>
            <a:off x="777240" y="1508760"/>
            <a:ext cx="274320" cy="274320"/>
          </a:xfrm>
          <a:prstGeom prst="rect">
            <a:avLst/>
          </a:prstGeom>
        </p:spPr>
      </p:pic>
      <p:sp>
        <p:nvSpPr>
          <p:cNvPr id="7" name="Text 4"/>
          <p:cNvSpPr txBox="1"/>
          <p:nvPr/>
        </p:nvSpPr>
        <p:spPr>
          <a:xfrm>
            <a:off x="640080" y="2057400"/>
            <a:ext cx="2194560" cy="274320"/>
          </a:xfrm>
          <a:prstGeom prst="rect">
            <a:avLst/>
          </a:prstGeom>
          <a:noFill/>
          <a:ln/>
        </p:spPr>
        <p:txBody>
          <a:bodyPr wrap="square" lIns="0" tIns="0" rIns="0" bIns="0" rtlCol="0" anchor="ctr"/>
          <a:lstStyle/>
          <a:p>
            <a:pPr indent="0" marL="0">
              <a:buNone/>
            </a:pPr>
            <a:r>
              <a:rPr lang="en-US" sz="1100" b="1" spc="100" kern="0" dirty="0">
                <a:solidFill>
                  <a:srgbClr val="0097A7"/>
                </a:solidFill>
                <a:latin typeface="Arial" pitchFamily="34" charset="0"/>
                <a:ea typeface="Arial" pitchFamily="34" charset="-122"/>
                <a:cs typeface="Arial" pitchFamily="34" charset="-120"/>
              </a:rPr>
              <a:t>RQ1  ·  ASR</a:t>
            </a:r>
            <a:endParaRPr lang="en-US" sz="1100" dirty="0"/>
          </a:p>
        </p:txBody>
      </p:sp>
      <p:sp>
        <p:nvSpPr>
          <p:cNvPr id="8" name="Text 5"/>
          <p:cNvSpPr txBox="1"/>
          <p:nvPr/>
        </p:nvSpPr>
        <p:spPr>
          <a:xfrm>
            <a:off x="640080" y="2377440"/>
            <a:ext cx="2194560" cy="640080"/>
          </a:xfrm>
          <a:prstGeom prst="rect">
            <a:avLst/>
          </a:prstGeom>
          <a:noFill/>
          <a:ln/>
        </p:spPr>
        <p:txBody>
          <a:bodyPr wrap="square" lIns="0" tIns="0" rIns="0" bIns="0" rtlCol="0" anchor="t"/>
          <a:lstStyle/>
          <a:p>
            <a:pPr indent="0" marL="0">
              <a:buNone/>
            </a:pPr>
            <a:r>
              <a:rPr lang="en-US" sz="1600" b="1" dirty="0">
                <a:solidFill>
                  <a:srgbClr val="384957"/>
                </a:solidFill>
                <a:latin typeface="Arial" pitchFamily="34" charset="0"/>
                <a:ea typeface="Arial" pitchFamily="34" charset="-122"/>
                <a:cs typeface="Arial" pitchFamily="34" charset="-120"/>
              </a:rPr>
              <a:t>Domain adaptation works</a:t>
            </a:r>
            <a:endParaRPr lang="en-US" sz="1600" dirty="0"/>
          </a:p>
        </p:txBody>
      </p:sp>
      <p:sp>
        <p:nvSpPr>
          <p:cNvPr id="9" name="Text 6"/>
          <p:cNvSpPr txBox="1"/>
          <p:nvPr/>
        </p:nvSpPr>
        <p:spPr>
          <a:xfrm>
            <a:off x="640080" y="3108960"/>
            <a:ext cx="2194560" cy="118872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3.8% word error rate overall and 7.5% on real audio, down from 35.7% and 53.6% zero-shot.</a:t>
            </a:r>
            <a:endParaRPr lang="en-US" sz="1200" dirty="0"/>
          </a:p>
        </p:txBody>
      </p:sp>
      <p:sp>
        <p:nvSpPr>
          <p:cNvPr id="10" name="Conclusion card 2"/>
          <p:cNvSpPr/>
          <p:nvPr/>
        </p:nvSpPr>
        <p:spPr>
          <a:xfrm>
            <a:off x="3291840" y="1188720"/>
            <a:ext cx="2560320" cy="3246120"/>
          </a:xfrm>
          <a:prstGeom prst="roundRect">
            <a:avLst>
              <a:gd name="adj" fmla="val 2857"/>
            </a:avLst>
          </a:prstGeom>
          <a:solidFill>
            <a:srgbClr val="F3F8FC"/>
          </a:solidFill>
          <a:ln w="9525">
            <a:solidFill>
              <a:srgbClr val="D5E1EA"/>
            </a:solidFill>
            <a:prstDash val="solid"/>
          </a:ln>
        </p:spPr>
      </p:sp>
      <p:sp>
        <p:nvSpPr>
          <p:cNvPr id="11" name="RQ2  ·  NER icon circle"/>
          <p:cNvSpPr/>
          <p:nvPr/>
        </p:nvSpPr>
        <p:spPr>
          <a:xfrm>
            <a:off x="3474720" y="1371600"/>
            <a:ext cx="548640" cy="548640"/>
          </a:xfrm>
          <a:prstGeom prst="ellipse">
            <a:avLst/>
          </a:prstGeom>
          <a:solidFill>
            <a:srgbClr val="0097A7"/>
          </a:solidFill>
          <a:ln w="12700">
            <a:solidFill>
              <a:srgbClr val="0097A7"/>
            </a:solidFill>
            <a:prstDash val="solid"/>
          </a:ln>
        </p:spPr>
      </p:sp>
      <p:pic>
        <p:nvPicPr>
          <p:cNvPr id="12" name="RQ2  ·  NER icon" descr="RQ2  ·  NER">    </p:cNvPr>
          <p:cNvPicPr>
            <a:picLocks noChangeAspect="1"/>
          </p:cNvPicPr>
          <p:nvPr/>
        </p:nvPicPr>
        <p:blipFill>
          <a:blip r:embed="rId2"/>
          <a:stretch>
            <a:fillRect/>
          </a:stretch>
        </p:blipFill>
        <p:spPr>
          <a:xfrm>
            <a:off x="3611880" y="1508760"/>
            <a:ext cx="274320" cy="274320"/>
          </a:xfrm>
          <a:prstGeom prst="rect">
            <a:avLst/>
          </a:prstGeom>
        </p:spPr>
      </p:pic>
      <p:sp>
        <p:nvSpPr>
          <p:cNvPr id="13" name="Text 9"/>
          <p:cNvSpPr txBox="1"/>
          <p:nvPr/>
        </p:nvSpPr>
        <p:spPr>
          <a:xfrm>
            <a:off x="3474720" y="2057400"/>
            <a:ext cx="2194560" cy="274320"/>
          </a:xfrm>
          <a:prstGeom prst="rect">
            <a:avLst/>
          </a:prstGeom>
          <a:noFill/>
          <a:ln/>
        </p:spPr>
        <p:txBody>
          <a:bodyPr wrap="square" lIns="0" tIns="0" rIns="0" bIns="0" rtlCol="0" anchor="ctr"/>
          <a:lstStyle/>
          <a:p>
            <a:pPr indent="0" marL="0">
              <a:buNone/>
            </a:pPr>
            <a:r>
              <a:rPr lang="en-US" sz="1100" b="1" spc="100" kern="0" dirty="0">
                <a:solidFill>
                  <a:srgbClr val="0097A7"/>
                </a:solidFill>
                <a:latin typeface="Arial" pitchFamily="34" charset="0"/>
                <a:ea typeface="Arial" pitchFamily="34" charset="-122"/>
                <a:cs typeface="Arial" pitchFamily="34" charset="-120"/>
              </a:rPr>
              <a:t>RQ2  ·  NER</a:t>
            </a:r>
            <a:endParaRPr lang="en-US" sz="1100" dirty="0"/>
          </a:p>
        </p:txBody>
      </p:sp>
      <p:sp>
        <p:nvSpPr>
          <p:cNvPr id="14" name="Text 10"/>
          <p:cNvSpPr txBox="1"/>
          <p:nvPr/>
        </p:nvSpPr>
        <p:spPr>
          <a:xfrm>
            <a:off x="3474720" y="2377440"/>
            <a:ext cx="2194560" cy="640080"/>
          </a:xfrm>
          <a:prstGeom prst="rect">
            <a:avLst/>
          </a:prstGeom>
          <a:noFill/>
          <a:ln/>
        </p:spPr>
        <p:txBody>
          <a:bodyPr wrap="square" lIns="0" tIns="0" rIns="0" bIns="0" rtlCol="0" anchor="t"/>
          <a:lstStyle/>
          <a:p>
            <a:pPr indent="0" marL="0">
              <a:buNone/>
            </a:pPr>
            <a:r>
              <a:rPr lang="en-US" sz="1600" b="1" dirty="0">
                <a:solidFill>
                  <a:srgbClr val="384957"/>
                </a:solidFill>
                <a:latin typeface="Arial" pitchFamily="34" charset="0"/>
                <a:ea typeface="Arial" pitchFamily="34" charset="-122"/>
                <a:cs typeface="Arial" pitchFamily="34" charset="-120"/>
              </a:rPr>
              <a:t>Reliable on structured labels</a:t>
            </a:r>
            <a:endParaRPr lang="en-US" sz="1600" dirty="0"/>
          </a:p>
        </p:txBody>
      </p:sp>
      <p:sp>
        <p:nvSpPr>
          <p:cNvPr id="15" name="Text 11"/>
          <p:cNvSpPr txBox="1"/>
          <p:nvPr/>
        </p:nvSpPr>
        <p:spPr>
          <a:xfrm>
            <a:off x="3474720" y="3108960"/>
            <a:ext cx="2194560" cy="118872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F1 of 0.861–0.878 on human-verified data (0 to 1, higher is better); weaker on frequencies and waypoints.</a:t>
            </a:r>
            <a:endParaRPr lang="en-US" sz="1200" dirty="0"/>
          </a:p>
        </p:txBody>
      </p:sp>
      <p:sp>
        <p:nvSpPr>
          <p:cNvPr id="16" name="Conclusion card 3"/>
          <p:cNvSpPr/>
          <p:nvPr/>
        </p:nvSpPr>
        <p:spPr>
          <a:xfrm>
            <a:off x="6126480" y="1188720"/>
            <a:ext cx="2560320" cy="3246120"/>
          </a:xfrm>
          <a:prstGeom prst="roundRect">
            <a:avLst>
              <a:gd name="adj" fmla="val 2857"/>
            </a:avLst>
          </a:prstGeom>
          <a:solidFill>
            <a:srgbClr val="F3F8FC"/>
          </a:solidFill>
          <a:ln w="9525">
            <a:solidFill>
              <a:srgbClr val="D5E1EA"/>
            </a:solidFill>
            <a:prstDash val="solid"/>
          </a:ln>
        </p:spPr>
      </p:sp>
      <p:sp>
        <p:nvSpPr>
          <p:cNvPr id="17" name="RQ3  ·  Errors icon circle"/>
          <p:cNvSpPr/>
          <p:nvPr/>
        </p:nvSpPr>
        <p:spPr>
          <a:xfrm>
            <a:off x="6309360" y="1371600"/>
            <a:ext cx="548640" cy="548640"/>
          </a:xfrm>
          <a:prstGeom prst="ellipse">
            <a:avLst/>
          </a:prstGeom>
          <a:solidFill>
            <a:srgbClr val="0097A7"/>
          </a:solidFill>
          <a:ln w="12700">
            <a:solidFill>
              <a:srgbClr val="0097A7"/>
            </a:solidFill>
            <a:prstDash val="solid"/>
          </a:ln>
        </p:spPr>
      </p:sp>
      <p:pic>
        <p:nvPicPr>
          <p:cNvPr id="18" name="RQ3  ·  Errors icon" descr="RQ3  ·  Errors">    </p:cNvPr>
          <p:cNvPicPr>
            <a:picLocks noChangeAspect="1"/>
          </p:cNvPicPr>
          <p:nvPr/>
        </p:nvPicPr>
        <p:blipFill>
          <a:blip r:embed="rId3"/>
          <a:stretch>
            <a:fillRect/>
          </a:stretch>
        </p:blipFill>
        <p:spPr>
          <a:xfrm>
            <a:off x="6446520" y="1508760"/>
            <a:ext cx="274320" cy="274320"/>
          </a:xfrm>
          <a:prstGeom prst="rect">
            <a:avLst/>
          </a:prstGeom>
        </p:spPr>
      </p:pic>
      <p:sp>
        <p:nvSpPr>
          <p:cNvPr id="19" name="Text 14"/>
          <p:cNvSpPr txBox="1"/>
          <p:nvPr/>
        </p:nvSpPr>
        <p:spPr>
          <a:xfrm>
            <a:off x="6309360" y="2057400"/>
            <a:ext cx="2194560" cy="274320"/>
          </a:xfrm>
          <a:prstGeom prst="rect">
            <a:avLst/>
          </a:prstGeom>
          <a:noFill/>
          <a:ln/>
        </p:spPr>
        <p:txBody>
          <a:bodyPr wrap="square" lIns="0" tIns="0" rIns="0" bIns="0" rtlCol="0" anchor="ctr"/>
          <a:lstStyle/>
          <a:p>
            <a:pPr indent="0" marL="0">
              <a:buNone/>
            </a:pPr>
            <a:r>
              <a:rPr lang="en-US" sz="1100" b="1" spc="100" kern="0" dirty="0">
                <a:solidFill>
                  <a:srgbClr val="0097A7"/>
                </a:solidFill>
                <a:latin typeface="Arial" pitchFamily="34" charset="0"/>
                <a:ea typeface="Arial" pitchFamily="34" charset="-122"/>
                <a:cs typeface="Arial" pitchFamily="34" charset="-120"/>
              </a:rPr>
              <a:t>RQ3  ·  Errors</a:t>
            </a:r>
            <a:endParaRPr lang="en-US" sz="1100" dirty="0"/>
          </a:p>
        </p:txBody>
      </p:sp>
      <p:sp>
        <p:nvSpPr>
          <p:cNvPr id="20" name="Text 15"/>
          <p:cNvSpPr txBox="1"/>
          <p:nvPr/>
        </p:nvSpPr>
        <p:spPr>
          <a:xfrm>
            <a:off x="6309360" y="2377440"/>
            <a:ext cx="2194560" cy="640080"/>
          </a:xfrm>
          <a:prstGeom prst="rect">
            <a:avLst/>
          </a:prstGeom>
          <a:noFill/>
          <a:ln/>
        </p:spPr>
        <p:txBody>
          <a:bodyPr wrap="square" lIns="0" tIns="0" rIns="0" bIns="0" rtlCol="0" anchor="t"/>
          <a:lstStyle/>
          <a:p>
            <a:pPr indent="0" marL="0">
              <a:buNone/>
            </a:pPr>
            <a:r>
              <a:rPr lang="en-US" sz="1600" b="1" dirty="0">
                <a:solidFill>
                  <a:srgbClr val="384957"/>
                </a:solidFill>
                <a:latin typeface="Arial" pitchFamily="34" charset="0"/>
                <a:ea typeface="Arial" pitchFamily="34" charset="-122"/>
                <a:cs typeface="Arial" pitchFamily="34" charset="-120"/>
              </a:rPr>
              <a:t>Source and clip length matter most</a:t>
            </a:r>
            <a:endParaRPr lang="en-US" sz="1600" dirty="0"/>
          </a:p>
        </p:txBody>
      </p:sp>
      <p:sp>
        <p:nvSpPr>
          <p:cNvPr id="21" name="Text 16"/>
          <p:cNvSpPr txBox="1"/>
          <p:nvPr/>
        </p:nvSpPr>
        <p:spPr>
          <a:xfrm>
            <a:off x="6309360" y="3108960"/>
            <a:ext cx="2194560" cy="1188720"/>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Real audio is harder than simulated; every other link is weak (correlation at most 0.17).</a:t>
            </a:r>
            <a:endParaRPr lang="en-US" sz="12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tage label"/>
          <p:cNvSpPr txBox="1"/>
          <p:nvPr/>
        </p:nvSpPr>
        <p:spPr>
          <a:xfrm>
            <a:off x="457200" y="237744"/>
            <a:ext cx="8229600" cy="201168"/>
          </a:xfrm>
          <a:prstGeom prst="rect">
            <a:avLst/>
          </a:prstGeom>
          <a:noFill/>
          <a:ln/>
        </p:spPr>
        <p:txBody>
          <a:bodyPr wrap="square" lIns="0" tIns="0" rIns="0" bIns="0" rtlCol="0" anchor="ctr"/>
          <a:lstStyle/>
          <a:p>
            <a:pPr indent="0" marL="0">
              <a:buNone/>
            </a:pPr>
            <a:r>
              <a:rPr lang="en-US" sz="1050" b="1" spc="200" kern="0" dirty="0">
                <a:solidFill>
                  <a:srgbClr val="0097A7"/>
                </a:solidFill>
                <a:latin typeface="Arial" pitchFamily="34" charset="0"/>
                <a:ea typeface="Arial" pitchFamily="34" charset="-122"/>
                <a:cs typeface="Arial" pitchFamily="34" charset="-120"/>
              </a:rPr>
              <a:t>LIMITS AND NEXT STEPS</a:t>
            </a:r>
            <a:endParaRPr lang="en-US" sz="1050" dirty="0"/>
          </a:p>
        </p:txBody>
      </p:sp>
      <p:sp>
        <p:nvSpPr>
          <p:cNvPr id="3" name="Text 1"/>
          <p:cNvSpPr/>
          <p:nvPr>
            <p:ph idx="101" type="title" hasCustomPrompt="1"/>
          </p:nvPr>
        </p:nvSpPr>
        <p:spPr>
          <a:xfrm>
            <a:off x="457200" y="457200"/>
            <a:ext cx="8229600" cy="548640"/>
          </a:xfrm>
          <a:prstGeom prst="rect">
            <a:avLst/>
          </a:prstGeom>
          <a:noFill/>
          <a:ln/>
        </p:spPr>
        <p:txBody>
          <a:bodyPr wrap="square" lIns="0" tIns="0" rIns="0" bIns="0" rtlCol="0" anchor="ctr"/>
          <a:lstStyle/>
          <a:p>
            <a:pPr indent="0" marL="0">
              <a:buNone/>
            </a:pPr>
            <a:r>
              <a:rPr lang="en-US" sz="2400" b="1" dirty="0">
                <a:solidFill>
                  <a:srgbClr val="384957"/>
                </a:solidFill>
                <a:latin typeface="Arial" pitchFamily="34" charset="0"/>
                <a:ea typeface="Arial" pitchFamily="34" charset="-122"/>
                <a:cs typeface="Arial" pitchFamily="34" charset="-120"/>
              </a:rPr>
              <a:t>Limits and responsible use</a:t>
            </a:r>
            <a:endParaRPr lang="en-US" sz="2400" dirty="0"/>
          </a:p>
        </p:txBody>
      </p:sp>
      <p:sp>
        <p:nvSpPr>
          <p:cNvPr id="4" name="Representativeness icon circle"/>
          <p:cNvSpPr/>
          <p:nvPr/>
        </p:nvSpPr>
        <p:spPr>
          <a:xfrm>
            <a:off x="457200" y="1188720"/>
            <a:ext cx="502920" cy="502920"/>
          </a:xfrm>
          <a:prstGeom prst="ellipse">
            <a:avLst/>
          </a:prstGeom>
          <a:solidFill>
            <a:srgbClr val="0097A7"/>
          </a:solidFill>
          <a:ln w="12700">
            <a:solidFill>
              <a:srgbClr val="0097A7"/>
            </a:solidFill>
            <a:prstDash val="solid"/>
          </a:ln>
        </p:spPr>
      </p:sp>
      <p:pic>
        <p:nvPicPr>
          <p:cNvPr id="5" name="Representativeness icon" descr="Representativeness">    </p:cNvPr>
          <p:cNvPicPr>
            <a:picLocks noChangeAspect="1"/>
          </p:cNvPicPr>
          <p:nvPr/>
        </p:nvPicPr>
        <p:blipFill>
          <a:blip r:embed="rId1"/>
          <a:stretch>
            <a:fillRect/>
          </a:stretch>
        </p:blipFill>
        <p:spPr>
          <a:xfrm>
            <a:off x="582930" y="1314450"/>
            <a:ext cx="251460" cy="251460"/>
          </a:xfrm>
          <a:prstGeom prst="rect">
            <a:avLst/>
          </a:prstGeom>
        </p:spPr>
      </p:pic>
      <p:sp>
        <p:nvSpPr>
          <p:cNvPr id="6" name="Text 3"/>
          <p:cNvSpPr txBox="1"/>
          <p:nvPr/>
        </p:nvSpPr>
        <p:spPr>
          <a:xfrm>
            <a:off x="1143000" y="1161288"/>
            <a:ext cx="4114800" cy="274320"/>
          </a:xfrm>
          <a:prstGeom prst="rect">
            <a:avLst/>
          </a:prstGeom>
          <a:noFill/>
          <a:ln/>
        </p:spPr>
        <p:txBody>
          <a:bodyPr wrap="square" lIns="0" tIns="0" rIns="0" bIns="0" rtlCol="0" anchor="ctr"/>
          <a:lstStyle/>
          <a:p>
            <a:pPr indent="0" marL="0">
              <a:buNone/>
            </a:pPr>
            <a:r>
              <a:rPr lang="en-US" sz="1400" b="1" dirty="0">
                <a:solidFill>
                  <a:srgbClr val="384957"/>
                </a:solidFill>
                <a:latin typeface="Arial" pitchFamily="34" charset="0"/>
                <a:ea typeface="Arial" pitchFamily="34" charset="-122"/>
                <a:cs typeface="Arial" pitchFamily="34" charset="-120"/>
              </a:rPr>
              <a:t>Representativeness</a:t>
            </a:r>
            <a:endParaRPr lang="en-US" sz="1400" dirty="0"/>
          </a:p>
        </p:txBody>
      </p:sp>
      <p:sp>
        <p:nvSpPr>
          <p:cNvPr id="7" name="Text 4"/>
          <p:cNvSpPr txBox="1"/>
          <p:nvPr/>
        </p:nvSpPr>
        <p:spPr>
          <a:xfrm>
            <a:off x="1143000" y="1444752"/>
            <a:ext cx="4114800" cy="749808"/>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About 7.4 h of real audio from limited airspace, 813 real test utterances, no accent or speaker metadata. The 7.5% is an estimate for these corpora.</a:t>
            </a:r>
            <a:endParaRPr lang="en-US" sz="1200" dirty="0"/>
          </a:p>
        </p:txBody>
      </p:sp>
      <p:sp>
        <p:nvSpPr>
          <p:cNvPr id="8" name="Error propagation icon circle"/>
          <p:cNvSpPr/>
          <p:nvPr/>
        </p:nvSpPr>
        <p:spPr>
          <a:xfrm>
            <a:off x="457200" y="2212848"/>
            <a:ext cx="502920" cy="502920"/>
          </a:xfrm>
          <a:prstGeom prst="ellipse">
            <a:avLst/>
          </a:prstGeom>
          <a:solidFill>
            <a:srgbClr val="0097A7"/>
          </a:solidFill>
          <a:ln w="12700">
            <a:solidFill>
              <a:srgbClr val="0097A7"/>
            </a:solidFill>
            <a:prstDash val="solid"/>
          </a:ln>
        </p:spPr>
      </p:sp>
      <p:pic>
        <p:nvPicPr>
          <p:cNvPr id="9" name="Error propagation icon" descr="Error propagation">    </p:cNvPr>
          <p:cNvPicPr>
            <a:picLocks noChangeAspect="1"/>
          </p:cNvPicPr>
          <p:nvPr/>
        </p:nvPicPr>
        <p:blipFill>
          <a:blip r:embed="rId2"/>
          <a:stretch>
            <a:fillRect/>
          </a:stretch>
        </p:blipFill>
        <p:spPr>
          <a:xfrm>
            <a:off x="582930" y="2338578"/>
            <a:ext cx="251460" cy="251460"/>
          </a:xfrm>
          <a:prstGeom prst="rect">
            <a:avLst/>
          </a:prstGeom>
        </p:spPr>
      </p:pic>
      <p:sp>
        <p:nvSpPr>
          <p:cNvPr id="10" name="Text 6"/>
          <p:cNvSpPr txBox="1"/>
          <p:nvPr/>
        </p:nvSpPr>
        <p:spPr>
          <a:xfrm>
            <a:off x="1143000" y="2185416"/>
            <a:ext cx="4114800" cy="274320"/>
          </a:xfrm>
          <a:prstGeom prst="rect">
            <a:avLst/>
          </a:prstGeom>
          <a:noFill/>
          <a:ln/>
        </p:spPr>
        <p:txBody>
          <a:bodyPr wrap="square" lIns="0" tIns="0" rIns="0" bIns="0" rtlCol="0" anchor="ctr"/>
          <a:lstStyle/>
          <a:p>
            <a:pPr indent="0" marL="0">
              <a:buNone/>
            </a:pPr>
            <a:r>
              <a:rPr lang="en-US" sz="1400" b="1" dirty="0">
                <a:solidFill>
                  <a:srgbClr val="384957"/>
                </a:solidFill>
                <a:latin typeface="Arial" pitchFamily="34" charset="0"/>
                <a:ea typeface="Arial" pitchFamily="34" charset="-122"/>
                <a:cs typeface="Arial" pitchFamily="34" charset="-120"/>
              </a:rPr>
              <a:t>Error propagation</a:t>
            </a:r>
            <a:endParaRPr lang="en-US" sz="1400" dirty="0"/>
          </a:p>
        </p:txBody>
      </p:sp>
      <p:sp>
        <p:nvSpPr>
          <p:cNvPr id="11" name="Text 7"/>
          <p:cNvSpPr txBox="1"/>
          <p:nvPr/>
        </p:nvSpPr>
        <p:spPr>
          <a:xfrm>
            <a:off x="1143000" y="2468880"/>
            <a:ext cx="4114800" cy="749808"/>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NER was trained on clean text but reads ASR output, and nothing yet passes ASR confidence to the entity stage.</a:t>
            </a:r>
            <a:endParaRPr lang="en-US" sz="1200" dirty="0"/>
          </a:p>
        </p:txBody>
      </p:sp>
      <p:sp>
        <p:nvSpPr>
          <p:cNvPr id="12" name="Next steps icon circle"/>
          <p:cNvSpPr/>
          <p:nvPr/>
        </p:nvSpPr>
        <p:spPr>
          <a:xfrm>
            <a:off x="457200" y="3236976"/>
            <a:ext cx="502920" cy="502920"/>
          </a:xfrm>
          <a:prstGeom prst="ellipse">
            <a:avLst/>
          </a:prstGeom>
          <a:solidFill>
            <a:srgbClr val="0097A7"/>
          </a:solidFill>
          <a:ln w="12700">
            <a:solidFill>
              <a:srgbClr val="0097A7"/>
            </a:solidFill>
            <a:prstDash val="solid"/>
          </a:ln>
        </p:spPr>
      </p:sp>
      <p:pic>
        <p:nvPicPr>
          <p:cNvPr id="13" name="Next steps icon" descr="Next steps">    </p:cNvPr>
          <p:cNvPicPr>
            <a:picLocks noChangeAspect="1"/>
          </p:cNvPicPr>
          <p:nvPr/>
        </p:nvPicPr>
        <p:blipFill>
          <a:blip r:embed="rId3"/>
          <a:stretch>
            <a:fillRect/>
          </a:stretch>
        </p:blipFill>
        <p:spPr>
          <a:xfrm>
            <a:off x="582930" y="3362706"/>
            <a:ext cx="251460" cy="251460"/>
          </a:xfrm>
          <a:prstGeom prst="rect">
            <a:avLst/>
          </a:prstGeom>
        </p:spPr>
      </p:pic>
      <p:sp>
        <p:nvSpPr>
          <p:cNvPr id="14" name="Text 9"/>
          <p:cNvSpPr txBox="1"/>
          <p:nvPr/>
        </p:nvSpPr>
        <p:spPr>
          <a:xfrm>
            <a:off x="1143000" y="3209544"/>
            <a:ext cx="4114800" cy="274320"/>
          </a:xfrm>
          <a:prstGeom prst="rect">
            <a:avLst/>
          </a:prstGeom>
          <a:noFill/>
          <a:ln/>
        </p:spPr>
        <p:txBody>
          <a:bodyPr wrap="square" lIns="0" tIns="0" rIns="0" bIns="0" rtlCol="0" anchor="ctr"/>
          <a:lstStyle/>
          <a:p>
            <a:pPr indent="0" marL="0">
              <a:buNone/>
            </a:pPr>
            <a:r>
              <a:rPr lang="en-US" sz="1400" b="1" dirty="0">
                <a:solidFill>
                  <a:srgbClr val="384957"/>
                </a:solidFill>
                <a:latin typeface="Arial" pitchFamily="34" charset="0"/>
                <a:ea typeface="Arial" pitchFamily="34" charset="-122"/>
                <a:cs typeface="Arial" pitchFamily="34" charset="-120"/>
              </a:rPr>
              <a:t>Next steps</a:t>
            </a:r>
            <a:endParaRPr lang="en-US" sz="1400" dirty="0"/>
          </a:p>
        </p:txBody>
      </p:sp>
      <p:sp>
        <p:nvSpPr>
          <p:cNvPr id="15" name="Text 10"/>
          <p:cNvSpPr txBox="1"/>
          <p:nvPr/>
        </p:nvSpPr>
        <p:spPr>
          <a:xfrm>
            <a:off x="1143000" y="3493008"/>
            <a:ext cx="4114800" cy="749808"/>
          </a:xfrm>
          <a:prstGeom prst="rect">
            <a:avLst/>
          </a:prstGeom>
          <a:noFill/>
          <a:ln/>
        </p:spPr>
        <p:txBody>
          <a:bodyPr wrap="square" lIns="0" tIns="0" rIns="0" bIns="0" rtlCol="0" anchor="t"/>
          <a:lstStyle/>
          <a:p>
            <a:pPr indent="0" marL="0">
              <a:buNone/>
            </a:pPr>
            <a:r>
              <a:rPr lang="en-US" sz="1200" dirty="0">
                <a:solidFill>
                  <a:srgbClr val="5B6B78"/>
                </a:solidFill>
                <a:latin typeface="Arial" pitchFamily="34" charset="0"/>
                <a:ea typeface="Arial" pitchFamily="34" charset="-122"/>
                <a:cs typeface="Arial" pitchFamily="34" charset="-120"/>
              </a:rPr>
              <a:t>Accent-stratified evaluation, NER trained on ASR output, a controller and pilot user study, and speech-arousal (sentiment) analysis against WER and SNR.</a:t>
            </a:r>
            <a:endParaRPr lang="en-US" sz="1200" dirty="0"/>
          </a:p>
        </p:txBody>
      </p:sp>
      <p:sp>
        <p:nvSpPr>
          <p:cNvPr id="16" name="Operational use card"/>
          <p:cNvSpPr/>
          <p:nvPr/>
        </p:nvSpPr>
        <p:spPr>
          <a:xfrm>
            <a:off x="5669280" y="1188720"/>
            <a:ext cx="3017520" cy="3246120"/>
          </a:xfrm>
          <a:prstGeom prst="roundRect">
            <a:avLst>
              <a:gd name="adj" fmla="val 2424"/>
            </a:avLst>
          </a:prstGeom>
          <a:solidFill>
            <a:srgbClr val="27333D"/>
          </a:solidFill>
          <a:ln w="9525">
            <a:solidFill>
              <a:srgbClr val="27333D"/>
            </a:solidFill>
            <a:prstDash val="solid"/>
          </a:ln>
        </p:spPr>
      </p:sp>
      <p:sp>
        <p:nvSpPr>
          <p:cNvPr id="17" name="Text 12"/>
          <p:cNvSpPr txBox="1"/>
          <p:nvPr/>
        </p:nvSpPr>
        <p:spPr>
          <a:xfrm>
            <a:off x="5852160" y="1371600"/>
            <a:ext cx="2651760" cy="228600"/>
          </a:xfrm>
          <a:prstGeom prst="rect">
            <a:avLst/>
          </a:prstGeom>
          <a:noFill/>
          <a:ln/>
        </p:spPr>
        <p:txBody>
          <a:bodyPr wrap="square" lIns="0" tIns="0" rIns="0" bIns="0" rtlCol="0" anchor="ctr"/>
          <a:lstStyle/>
          <a:p>
            <a:pPr indent="0" marL="0">
              <a:buNone/>
            </a:pPr>
            <a:r>
              <a:rPr lang="en-US" sz="1050" b="1" spc="200" kern="0" dirty="0">
                <a:solidFill>
                  <a:srgbClr val="5FD4E3"/>
                </a:solidFill>
                <a:latin typeface="Arial" pitchFamily="34" charset="0"/>
                <a:ea typeface="Arial" pitchFamily="34" charset="-122"/>
                <a:cs typeface="Arial" pitchFamily="34" charset="-120"/>
              </a:rPr>
              <a:t>OPERATIONAL USE</a:t>
            </a:r>
            <a:endParaRPr lang="en-US" sz="1050" dirty="0"/>
          </a:p>
        </p:txBody>
      </p:sp>
      <p:sp>
        <p:nvSpPr>
          <p:cNvPr id="18" name="Text 13"/>
          <p:cNvSpPr txBox="1"/>
          <p:nvPr/>
        </p:nvSpPr>
        <p:spPr>
          <a:xfrm>
            <a:off x="5852160" y="1737360"/>
            <a:ext cx="2651760" cy="73152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ClearanceIQ is a research prototype.</a:t>
            </a:r>
            <a:endParaRPr lang="en-US" sz="1800" dirty="0"/>
          </a:p>
        </p:txBody>
      </p:sp>
      <p:sp>
        <p:nvSpPr>
          <p:cNvPr id="19" name="Text 14"/>
          <p:cNvSpPr txBox="1"/>
          <p:nvPr/>
        </p:nvSpPr>
        <p:spPr>
          <a:xfrm>
            <a:off x="5852160" y="2606040"/>
            <a:ext cx="2651760" cy="1691640"/>
          </a:xfrm>
          <a:prstGeom prst="rect">
            <a:avLst/>
          </a:prstGeom>
          <a:noFill/>
          <a:ln/>
        </p:spPr>
        <p:txBody>
          <a:bodyPr wrap="square" lIns="0" tIns="0" rIns="0" bIns="0" rtlCol="0" anchor="t"/>
          <a:lstStyle/>
          <a:p>
            <a:pPr indent="0" marL="0">
              <a:buNone/>
            </a:pPr>
            <a:r>
              <a:rPr lang="en-US" sz="1200" dirty="0">
                <a:solidFill>
                  <a:srgbClr val="DBEEFF"/>
                </a:solidFill>
                <a:latin typeface="Arial" pitchFamily="34" charset="0"/>
                <a:ea typeface="Arial" pitchFamily="34" charset="-122"/>
                <a:cs typeface="Arial" pitchFamily="34" charset="-120"/>
              </a:rPr>
              <a:t>It is not validated, certified or intended for operational use, has not been tested with controllers or pilots, and must not inform any safety decision.</a:t>
            </a:r>
            <a:endParaRPr lang="en-US" sz="1200" dirty="0"/>
          </a:p>
        </p:txBody>
      </p:sp>
      <p:sp>
        <p:nvSpPr>
          <p:cNvPr id="25" name="Slide Number Placeholder 0"/>
          <p:cNvSpPr>
            <a:spLocks noGrp="1"/>
          </p:cNvSpPr>
          <p:nvPr>
            <p:ph type="sldNum" sz="quarter" idx="4294967295"/>
          </p:nvPr>
        </p:nvSpPr>
        <p:spPr>
          <a:xfrm>
            <a:off x="8321040" y="48006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554480"/>
            <a:ext cx="804672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3" name="Text 1"/>
          <p:cNvSpPr txBox="1"/>
          <p:nvPr/>
        </p:nvSpPr>
        <p:spPr>
          <a:xfrm>
            <a:off x="548640" y="2423160"/>
            <a:ext cx="8046720" cy="45720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Questions &amp; Discussion</a:t>
            </a:r>
            <a:endParaRPr lang="en-US" sz="1600" dirty="0"/>
          </a:p>
        </p:txBody>
      </p:sp>
      <p:sp>
        <p:nvSpPr>
          <p:cNvPr id="4" name="Text 2"/>
          <p:cNvSpPr txBox="1"/>
          <p:nvPr/>
        </p:nvSpPr>
        <p:spPr>
          <a:xfrm>
            <a:off x="548640" y="3017520"/>
            <a:ext cx="8046720" cy="320040"/>
          </a:xfrm>
          <a:prstGeom prst="rect">
            <a:avLst/>
          </a:prstGeom>
          <a:noFill/>
          <a:ln/>
        </p:spPr>
        <p:txBody>
          <a:bodyPr wrap="square" lIns="0" tIns="0" rIns="0" bIns="0" rtlCol="0" anchor="ctr"/>
          <a:lstStyle/>
          <a:p>
            <a:pPr indent="0" marL="0">
              <a:buNone/>
            </a:pPr>
            <a:r>
              <a:rPr lang="en-US" sz="1200" dirty="0">
                <a:solidFill>
                  <a:srgbClr val="DBEEFF"/>
                </a:solidFill>
                <a:latin typeface="Arial" pitchFamily="34" charset="0"/>
                <a:ea typeface="Arial" pitchFamily="34" charset="-122"/>
                <a:cs typeface="Arial" pitchFamily="34" charset="-120"/>
              </a:rPr>
              <a:t>github.com/BrettFX/UMBC-DATA606-Capstone  ·  linkedin.com/in/brett-allen-586ba4121</a:t>
            </a:r>
            <a:endParaRPr lang="en-US" sz="1200" dirty="0"/>
          </a:p>
        </p:txBody>
      </p:sp>
      <p:sp>
        <p:nvSpPr>
          <p:cNvPr id="5" name="Text 3"/>
          <p:cNvSpPr txBox="1"/>
          <p:nvPr/>
        </p:nvSpPr>
        <p:spPr>
          <a:xfrm>
            <a:off x="548640" y="4480560"/>
            <a:ext cx="8046720" cy="2743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Brett Allen  |  DATA 606 Capstone Final Presentation  |  UMBC, Fall 2026</a:t>
            </a:r>
            <a:endParaRPr lang="en-US" sz="1200" dirty="0"/>
          </a:p>
        </p:txBody>
      </p:sp>
    </p:spTree>
  </p:cSld>
  <p:clrMapOvr>
    <a:masterClrMapping/>
  </p:clrMapOvr>
</p:sld>
</file>

<file path=ppt/theme/theme1.xml><?xml version="1.0" encoding="utf-8"?>
<a:theme xmlns:a="http://schemas.openxmlformats.org/drawingml/2006/main" name="ATC Aviation">
  <a:themeElements>
    <a:clrScheme name="ATC Aviation">
      <a:dk1>
        <a:srgbClr val="27333D"/>
      </a:dk1>
      <a:lt1>
        <a:srgbClr val="FFFFFF"/>
      </a:lt1>
      <a:dk2>
        <a:srgbClr val="384957"/>
      </a:dk2>
      <a:lt2>
        <a:srgbClr val="F3F8FC"/>
      </a:lt2>
      <a:accent1>
        <a:srgbClr val="0097A7"/>
      </a:accent1>
      <a:accent2>
        <a:srgbClr val="5FD4E3"/>
      </a:accent2>
      <a:accent3>
        <a:srgbClr val="8DA2B3"/>
      </a:accent3>
      <a:accent4>
        <a:srgbClr val="5B6B78"/>
      </a:accent4>
      <a:accent5>
        <a:srgbClr val="DBEEFF"/>
      </a:accent5>
      <a:accent6>
        <a:srgbClr val="D98E04"/>
      </a:accent6>
      <a:hlink>
        <a:srgbClr val="0097A7"/>
      </a:hlink>
      <a:folHlink>
        <a:srgbClr val="5B6B78"/>
      </a:folHlink>
    </a:clrScheme>
    <a:fontScheme name="ATC Avi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ATC Communication Intelligence: Final Presentation</dc:title>
  <dc:subject>DATA 606 Capstone, UMBC, Fall 2026</dc:subject>
  <dc:creator>Brett Allen</dc:creator>
  <cp:lastModifiedBy>Brett Allen</cp:lastModifiedBy>
  <cp:revision>1</cp:revision>
  <dcterms:created xsi:type="dcterms:W3CDTF">2026-10-25T16:34:43Z</dcterms:created>
  <dcterms:modified xsi:type="dcterms:W3CDTF">2026-10-25T16:34:43Z</dcterms:modified>
</cp:coreProperties>
</file>