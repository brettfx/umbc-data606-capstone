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384957"/>
                </a:solidFill>
                <a:latin typeface="Arial"/>
              </a:defRPr>
            </a:pPr>
            <a:r>
              <a:rPr lang="en-US" sz="1200" b="0" i="0" u="none" strike="noStrike">
                <a:solidFill>
                  <a:srgbClr val="384957"/>
                </a:solidFill>
                <a:latin typeface="Arial"/>
              </a:rPr>
              <a:t>Real Audio (ATC-ASR-Dataset)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WER %</c:v>
                </c:pt>
              </c:strCache>
            </c:strRef>
          </c:tx>
          <c:spPr>
            <a:solidFill>
              <a:srgbClr val="6B7A86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6B7A8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A371-4944-9646-8142059E67E1}"/>
              </c:ext>
            </c:extLst>
          </c:dPt>
          <c:dPt>
            <c:idx val="1"/>
            <c:invertIfNegative val="0"/>
            <c:bubble3D val="0"/>
            <c:spPr>
              <a:solidFill>
                <a:srgbClr val="0097A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A371-4944-9646-8142059E67E1}"/>
              </c:ext>
            </c:extLst>
          </c:dPt>
          <c:dPt>
            <c:idx val="2"/>
            <c:invertIfNegative val="0"/>
            <c:bubble3D val="0"/>
            <c:spPr>
              <a:solidFill>
                <a:srgbClr val="38495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A371-4944-9646-8142059E67E1}"/>
              </c:ext>
            </c:extLst>
          </c:dPt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384957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Baseline
(medium.en)</c:v>
                </c:pt>
                <c:pt idx="1">
                  <c:v>jacktol
(medium.en-FT)</c:v>
                </c:pt>
                <c:pt idx="2">
                  <c:v>Our Fine-Tune†
(small.en)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161.9</c:v>
                </c:pt>
                <c:pt idx="1">
                  <c:v>9.1999999999999993</c:v>
                </c:pt>
                <c:pt idx="2">
                  <c:v>82.9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A371-4944-9646-8142059E67E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8495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AE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A86"/>
                    </a:solidFill>
                    <a:latin typeface="Arial"/>
                  </a:defRPr>
                </a:pPr>
                <a:r>
                  <a:rPr lang="en-US" sz="900" b="0" i="0" u="none" strike="noStrike">
                    <a:solidFill>
                      <a:srgbClr val="6B7A86"/>
                    </a:solidFill>
                    <a:latin typeface="Arial"/>
                  </a:rPr>
                  <a:t>WER (%)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A8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384957"/>
                </a:solidFill>
                <a:latin typeface="Arial"/>
              </a:defRPr>
            </a:pPr>
            <a:r>
              <a:rPr lang="en-US" sz="1200" b="0" i="0" u="none" strike="noStrike">
                <a:solidFill>
                  <a:srgbClr val="384957"/>
                </a:solidFill>
                <a:latin typeface="Arial"/>
              </a:rPr>
              <a:t>Simulated Audio (ATCOSIM)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WER %</c:v>
                </c:pt>
              </c:strCache>
            </c:strRef>
          </c:tx>
          <c:spPr>
            <a:solidFill>
              <a:srgbClr val="6B7A86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6B7A8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A80B-48A2-B1CD-BF9790B4B1CA}"/>
              </c:ext>
            </c:extLst>
          </c:dPt>
          <c:dPt>
            <c:idx val="1"/>
            <c:invertIfNegative val="0"/>
            <c:bubble3D val="0"/>
            <c:spPr>
              <a:solidFill>
                <a:srgbClr val="0097A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A80B-48A2-B1CD-BF9790B4B1CA}"/>
              </c:ext>
            </c:extLst>
          </c:dPt>
          <c:dPt>
            <c:idx val="2"/>
            <c:invertIfNegative val="0"/>
            <c:bubble3D val="0"/>
            <c:spPr>
              <a:solidFill>
                <a:srgbClr val="38495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A80B-48A2-B1CD-BF9790B4B1CA}"/>
              </c:ext>
            </c:extLst>
          </c:dPt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384957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Baseline
(medium.en)</c:v>
                </c:pt>
                <c:pt idx="1">
                  <c:v>jacktol
(medium.en-FT)</c:v>
                </c:pt>
                <c:pt idx="2">
                  <c:v>Our Fine-Tune†
(small.en)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21.9</c:v>
                </c:pt>
                <c:pt idx="1">
                  <c:v>12.9</c:v>
                </c:pt>
                <c:pt idx="2">
                  <c:v>7.5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A80B-48A2-B1CD-BF9790B4B1C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8495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AE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A86"/>
                    </a:solidFill>
                    <a:latin typeface="Arial"/>
                  </a:defRPr>
                </a:pPr>
                <a:r>
                  <a:rPr lang="en-US" sz="900" b="0" i="0" u="none" strike="noStrike">
                    <a:solidFill>
                      <a:srgbClr val="6B7A86"/>
                    </a:solidFill>
                    <a:latin typeface="Arial"/>
                  </a:rPr>
                  <a:t>WER (%)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A8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330580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hyperlink" Target="https://metawhisp.com/blog/whisper-repeating-word-loop-fix/" TargetMode="Externa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733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1000/-home-ballen-GitHub/10f2e268-ec1d-4d6f-8dc8-6cf2617b3162/scratchpad/pptx_work/bg/title-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7333D">
              <a:alpha val="5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 txBox="1"/>
          <p:nvPr/>
        </p:nvSpPr>
        <p:spPr>
          <a:xfrm>
            <a:off x="548640" y="1463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ATC COMMUNICATION INTELLIGENCE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1284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DB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Speech Recognition and Information Extraction for Aviation Safety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724912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50" dirty="0">
                <a:solidFill>
                  <a:srgbClr val="5FD4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UPDATE  ·  EDA COMPLETE  ·  MACHINE LEARNING IN PROGRESS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434340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Brett Allen  |  DATA 606 Capstone Progress Update  |  UMBC, Fall 2026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4590288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B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Advisor: Dr. Jay Wang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70432"/>
            <a:ext cx="3931920" cy="960120"/>
          </a:xfrm>
          <a:prstGeom prst="roundRect">
            <a:avLst>
              <a:gd name="adj" fmla="val 7619"/>
            </a:avLst>
          </a:prstGeom>
          <a:solidFill>
            <a:srgbClr val="F3F8FC"/>
          </a:solidFill>
          <a:ln/>
          <a:effectLst>
            <a:outerShdw blurRad="76200" dist="25400" dir="5400000" algn="bl" rotWithShape="0">
              <a:srgbClr val="1B2733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40080" y="1376172"/>
            <a:ext cx="548640" cy="548640"/>
          </a:xfrm>
          <a:prstGeom prst="ellipse">
            <a:avLst/>
          </a:prstGeom>
          <a:solidFill>
            <a:srgbClr val="3849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640080" y="13761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353312" y="1261872"/>
            <a:ext cx="2898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Recap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53312" y="1600200"/>
            <a:ext cx="2898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overview &amp; research questions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1170432"/>
            <a:ext cx="3931920" cy="960120"/>
          </a:xfrm>
          <a:prstGeom prst="roundRect">
            <a:avLst>
              <a:gd name="adj" fmla="val 7619"/>
            </a:avLst>
          </a:prstGeom>
          <a:solidFill>
            <a:srgbClr val="F3F8FC"/>
          </a:solidFill>
          <a:ln/>
          <a:effectLst>
            <a:outerShdw blurRad="76200" dist="25400" dir="5400000" algn="bl" rotWithShape="0">
              <a:srgbClr val="1B2733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46320" y="1376172"/>
            <a:ext cx="548640" cy="548640"/>
          </a:xfrm>
          <a:prstGeom prst="ellipse">
            <a:avLst/>
          </a:prstGeom>
          <a:solidFill>
            <a:srgbClr val="3849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4846320" y="13761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559552" y="1261872"/>
            <a:ext cx="2898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EDA Results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559552" y="1600200"/>
            <a:ext cx="2898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Complete: key findings &amp; data readiness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295144"/>
            <a:ext cx="3931920" cy="960120"/>
          </a:xfrm>
          <a:prstGeom prst="roundRect">
            <a:avLst>
              <a:gd name="adj" fmla="val 7619"/>
            </a:avLst>
          </a:prstGeom>
          <a:solidFill>
            <a:srgbClr val="F3F8FC"/>
          </a:solidFill>
          <a:ln/>
          <a:effectLst>
            <a:outerShdw blurRad="76200" dist="25400" dir="5400000" algn="bl" rotWithShape="0">
              <a:srgbClr val="1B2733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40080" y="2500884"/>
            <a:ext cx="548640" cy="548640"/>
          </a:xfrm>
          <a:prstGeom prst="ellipse">
            <a:avLst/>
          </a:prstGeom>
          <a:solidFill>
            <a:srgbClr val="3849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640080" y="25008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353312" y="2386584"/>
            <a:ext cx="2898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Pipeline Tooling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53312" y="2724912"/>
            <a:ext cx="2898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What’s been built so far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2295144"/>
            <a:ext cx="3931920" cy="960120"/>
          </a:xfrm>
          <a:prstGeom prst="roundRect">
            <a:avLst>
              <a:gd name="adj" fmla="val 7619"/>
            </a:avLst>
          </a:prstGeom>
          <a:solidFill>
            <a:srgbClr val="F3F8FC"/>
          </a:solidFill>
          <a:ln/>
          <a:effectLst>
            <a:outerShdw blurRad="76200" dist="25400" dir="5400000" algn="bl" rotWithShape="0">
              <a:srgbClr val="1B2733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846320" y="2500884"/>
            <a:ext cx="548640" cy="548640"/>
          </a:xfrm>
          <a:prstGeom prst="ellipse">
            <a:avLst/>
          </a:prstGeom>
          <a:solidFill>
            <a:srgbClr val="3849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 txBox="1"/>
          <p:nvPr/>
        </p:nvSpPr>
        <p:spPr>
          <a:xfrm>
            <a:off x="4846320" y="25008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5559552" y="2386584"/>
            <a:ext cx="2898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ASR Prototype Findings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559552" y="2724912"/>
            <a:ext cx="2898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vs. domain-adapted vs. fine-tuned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3419856"/>
            <a:ext cx="3931920" cy="960120"/>
          </a:xfrm>
          <a:prstGeom prst="roundRect">
            <a:avLst>
              <a:gd name="adj" fmla="val 7619"/>
            </a:avLst>
          </a:prstGeom>
          <a:solidFill>
            <a:srgbClr val="F3F8FC"/>
          </a:solidFill>
          <a:ln/>
          <a:effectLst>
            <a:outerShdw blurRad="76200" dist="25400" dir="5400000" algn="bl" rotWithShape="0">
              <a:srgbClr val="1B2733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40080" y="3625596"/>
            <a:ext cx="548640" cy="548640"/>
          </a:xfrm>
          <a:prstGeom prst="ellipse">
            <a:avLst/>
          </a:prstGeom>
          <a:solidFill>
            <a:srgbClr val="3849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 txBox="1"/>
          <p:nvPr/>
        </p:nvSpPr>
        <p:spPr>
          <a:xfrm>
            <a:off x="640080" y="36255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1353312" y="3511296"/>
            <a:ext cx="2898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Remaining ML Work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353312" y="3849624"/>
            <a:ext cx="2898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efforts still ahead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3419856"/>
            <a:ext cx="3931920" cy="960120"/>
          </a:xfrm>
          <a:prstGeom prst="roundRect">
            <a:avLst>
              <a:gd name="adj" fmla="val 7619"/>
            </a:avLst>
          </a:prstGeom>
          <a:solidFill>
            <a:srgbClr val="F3F8FC"/>
          </a:solidFill>
          <a:ln/>
          <a:effectLst>
            <a:outerShdw blurRad="76200" dist="25400" dir="5400000" algn="bl" rotWithShape="0">
              <a:srgbClr val="1B2733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846320" y="3625596"/>
            <a:ext cx="548640" cy="548640"/>
          </a:xfrm>
          <a:prstGeom prst="ellipse">
            <a:avLst/>
          </a:prstGeom>
          <a:solidFill>
            <a:srgbClr val="3849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 txBox="1"/>
          <p:nvPr/>
        </p:nvSpPr>
        <p:spPr>
          <a:xfrm>
            <a:off x="4846320" y="36255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700" dirty="0"/>
          </a:p>
        </p:txBody>
      </p:sp>
      <p:sp>
        <p:nvSpPr>
          <p:cNvPr id="31" name="Text 29"/>
          <p:cNvSpPr txBox="1"/>
          <p:nvPr/>
        </p:nvSpPr>
        <p:spPr>
          <a:xfrm>
            <a:off x="5559552" y="3511296"/>
            <a:ext cx="2898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What’s Next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5559552" y="3849624"/>
            <a:ext cx="2898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Streamlit app &amp; overall timeline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479602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Brett Allen  |  DATA 606 Capstone Progress Update  |  UMBC, Fall 2026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8595360" y="47960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  Project Recap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Goal: a prototype tool (Streamlit app) that transcribes real ATC audio and extracts structured operational information for pilots and controllers in real-time.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1965960"/>
            <a:ext cx="914400" cy="914400"/>
          </a:xfrm>
          <a:prstGeom prst="ellipse">
            <a:avLst/>
          </a:prstGeom>
          <a:solidFill>
            <a:srgbClr val="3849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/tmp/claude-1000/-home-ballen-GitHub/10f2e268-ec1d-4d6f-8dc8-6cf2617b3162/scratchpad/pptx_work/icons/mic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148840"/>
            <a:ext cx="548640" cy="548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2990088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ATC Audio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502152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+ simulated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controller/pilot speech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2194560" y="2194560"/>
            <a:ext cx="42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3032760" y="1965960"/>
            <a:ext cx="914400" cy="914400"/>
          </a:xfrm>
          <a:prstGeom prst="ellipse">
            <a:avLst/>
          </a:prstGeom>
          <a:solidFill>
            <a:srgbClr val="3849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1" descr="/tmp/claude-1000/-home-ballen-GitHub/10f2e268-ec1d-4d6f-8dc8-6cf2617b3162/scratchpad/pptx_work/icons/robot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5640" y="2148840"/>
            <a:ext cx="548640" cy="548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621280" y="2990088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Speech Recognition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2621280" y="3502152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Whisper-family ASR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(baseline, adapted, fine-tuned)</a:t>
            </a:r>
            <a:endParaRPr lang="en-US" sz="950" dirty="0"/>
          </a:p>
        </p:txBody>
      </p:sp>
      <p:sp>
        <p:nvSpPr>
          <p:cNvPr id="13" name="Text 9"/>
          <p:cNvSpPr txBox="1"/>
          <p:nvPr/>
        </p:nvSpPr>
        <p:spPr>
          <a:xfrm>
            <a:off x="4358640" y="2194560"/>
            <a:ext cx="42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4" name="Shape 10"/>
          <p:cNvSpPr/>
          <p:nvPr/>
        </p:nvSpPr>
        <p:spPr>
          <a:xfrm>
            <a:off x="5196840" y="1965960"/>
            <a:ext cx="914400" cy="914400"/>
          </a:xfrm>
          <a:prstGeom prst="ellipse">
            <a:avLst/>
          </a:prstGeom>
          <a:solidFill>
            <a:srgbClr val="0097A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2" descr="/tmp/claude-1000/-home-ballen-GitHub/10f2e268-ec1d-4d6f-8dc8-6cf2617b3162/scratchpad/pptx_work/icons/tags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9720" y="2148840"/>
            <a:ext cx="548640" cy="548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785360" y="2990088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Aviation Info Extraction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4785360" y="3502152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Callsigns, commands,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altitudes, headings (NER)</a:t>
            </a:r>
            <a:endParaRPr lang="en-US" sz="950" dirty="0"/>
          </a:p>
        </p:txBody>
      </p:sp>
      <p:sp>
        <p:nvSpPr>
          <p:cNvPr id="18" name="Text 13"/>
          <p:cNvSpPr txBox="1"/>
          <p:nvPr/>
        </p:nvSpPr>
        <p:spPr>
          <a:xfrm>
            <a:off x="6522720" y="2194560"/>
            <a:ext cx="42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9" name="Shape 14"/>
          <p:cNvSpPr/>
          <p:nvPr/>
        </p:nvSpPr>
        <p:spPr>
          <a:xfrm>
            <a:off x="7360920" y="1965960"/>
            <a:ext cx="914400" cy="914400"/>
          </a:xfrm>
          <a:prstGeom prst="ellipse">
            <a:avLst/>
          </a:prstGeom>
          <a:solidFill>
            <a:srgbClr val="0097A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3" descr="/tmp/claude-1000/-home-ballen-GitHub/10f2e268-ec1d-4d6f-8dc8-6cf2617b3162/scratchpad/pptx_work/icons/chart-line-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43800" y="2148840"/>
            <a:ext cx="548640" cy="5486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949440" y="2990088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Communication Analysis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6949440" y="3502152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vs. acoustic/linguistic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characteristics</a:t>
            </a:r>
            <a:endParaRPr lang="en-US" sz="950" dirty="0"/>
          </a:p>
        </p:txBody>
      </p:sp>
      <p:sp>
        <p:nvSpPr>
          <p:cNvPr id="23" name="Text 17"/>
          <p:cNvSpPr txBox="1"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i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Questions:   </a:t>
            </a:r>
          </a:p>
          <a:p>
            <a:pPr marL="0" indent="0" algn="l">
              <a:buNone/>
            </a:pPr>
            <a:r>
              <a:rPr lang="en-US" sz="1150" i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RQ1 Automatic Speech Recognition (ASR) ·  RQ2 Aviation information extraction  ·  RQ3 Transcription error drivers</a:t>
            </a:r>
            <a:endParaRPr lang="en-US" sz="1150" dirty="0"/>
          </a:p>
        </p:txBody>
      </p:sp>
      <p:sp>
        <p:nvSpPr>
          <p:cNvPr id="24" name="Text 18"/>
          <p:cNvSpPr txBox="1"/>
          <p:nvPr/>
        </p:nvSpPr>
        <p:spPr>
          <a:xfrm>
            <a:off x="457200" y="479602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Brett Allen  |  DATA 606 Capstone Progress Update  |  UMBC, Fall 2026</a:t>
            </a:r>
            <a:endParaRPr lang="en-US" sz="900" dirty="0"/>
          </a:p>
        </p:txBody>
      </p:sp>
      <p:sp>
        <p:nvSpPr>
          <p:cNvPr id="25" name="Text 19"/>
          <p:cNvSpPr txBox="1"/>
          <p:nvPr/>
        </p:nvSpPr>
        <p:spPr>
          <a:xfrm>
            <a:off x="8595360" y="47960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  EDA Results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1920240" cy="2331720"/>
          </a:xfrm>
          <a:prstGeom prst="roundRect">
            <a:avLst>
              <a:gd name="adj" fmla="val 4762"/>
            </a:avLst>
          </a:prstGeom>
          <a:solidFill>
            <a:srgbClr val="F3F8FC"/>
          </a:solidFill>
          <a:ln/>
          <a:effectLst>
            <a:outerShdw blurRad="76200" dist="25400" dir="5400000" algn="bl" rotWithShape="0">
              <a:srgbClr val="1B2733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106424" y="1609344"/>
            <a:ext cx="621792" cy="621792"/>
          </a:xfrm>
          <a:prstGeom prst="ellipse">
            <a:avLst/>
          </a:prstGeom>
          <a:solidFill>
            <a:srgbClr val="0097A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/tmp/claude-1000/-home-ballen-GitHub/10f2e268-ec1d-4d6f-8dc8-6cf2617b3162/scratchpad/pptx_work/icons/database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3584" y="1746504"/>
            <a:ext cx="347472" cy="3474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2304288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17,681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2852928"/>
            <a:ext cx="17007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Utterances combined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both corpora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2560320" y="1371600"/>
            <a:ext cx="1920240" cy="2331720"/>
          </a:xfrm>
          <a:prstGeom prst="roundRect">
            <a:avLst>
              <a:gd name="adj" fmla="val 4762"/>
            </a:avLst>
          </a:prstGeom>
          <a:solidFill>
            <a:srgbClr val="F3F8FC"/>
          </a:solidFill>
          <a:ln/>
          <a:effectLst>
            <a:outerShdw blurRad="76200" dist="25400" dir="5400000" algn="bl" rotWithShape="0">
              <a:srgbClr val="1B2733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3209544" y="1609344"/>
            <a:ext cx="621792" cy="621792"/>
          </a:xfrm>
          <a:prstGeom prst="ellipse">
            <a:avLst/>
          </a:prstGeom>
          <a:solidFill>
            <a:srgbClr val="0097A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1" descr="/tmp/claude-1000/-home-ballen-GitHub/10f2e268-ec1d-4d6f-8dc8-6cf2617b3162/scratchpad/pptx_work/icons/wave-square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6704" y="1746504"/>
            <a:ext cx="347472" cy="34747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560320" y="2304288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17.9 hrs</a:t>
            </a:r>
            <a:endParaRPr lang="en-US" sz="3000" dirty="0"/>
          </a:p>
        </p:txBody>
      </p:sp>
      <p:sp>
        <p:nvSpPr>
          <p:cNvPr id="12" name="Text 8"/>
          <p:cNvSpPr txBox="1"/>
          <p:nvPr/>
        </p:nvSpPr>
        <p:spPr>
          <a:xfrm>
            <a:off x="2670048" y="2852928"/>
            <a:ext cx="17007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ATC audio,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resampled to 16kHz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4663440" y="1371600"/>
            <a:ext cx="1920240" cy="2331720"/>
          </a:xfrm>
          <a:prstGeom prst="roundRect">
            <a:avLst>
              <a:gd name="adj" fmla="val 4762"/>
            </a:avLst>
          </a:prstGeom>
          <a:solidFill>
            <a:srgbClr val="F3F8FC"/>
          </a:solidFill>
          <a:ln/>
          <a:effectLst>
            <a:outerShdw blurRad="76200" dist="25400" dir="5400000" algn="bl" rotWithShape="0">
              <a:srgbClr val="1B2733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5312664" y="1609344"/>
            <a:ext cx="621792" cy="621792"/>
          </a:xfrm>
          <a:prstGeom prst="ellipse">
            <a:avLst/>
          </a:prstGeom>
          <a:solidFill>
            <a:srgbClr val="0097A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2" descr="/tmp/claude-1000/-home-ballen-GitHub/10f2e268-ec1d-4d6f-8dc8-6cf2617b3162/scratchpad/pptx_work/icons/layer-group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49824" y="1746504"/>
            <a:ext cx="347472" cy="34747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663440" y="2304288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000" dirty="0"/>
          </a:p>
        </p:txBody>
      </p:sp>
      <p:sp>
        <p:nvSpPr>
          <p:cNvPr id="17" name="Text 12"/>
          <p:cNvSpPr txBox="1"/>
          <p:nvPr/>
        </p:nvSpPr>
        <p:spPr>
          <a:xfrm>
            <a:off x="4773168" y="2852928"/>
            <a:ext cx="17007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real (ATC-ASR-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Dataset) + simulated (ATCOSIM)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6766560" y="1371600"/>
            <a:ext cx="1920240" cy="2331720"/>
          </a:xfrm>
          <a:prstGeom prst="roundRect">
            <a:avLst>
              <a:gd name="adj" fmla="val 4762"/>
            </a:avLst>
          </a:prstGeom>
          <a:solidFill>
            <a:srgbClr val="F3F8FC"/>
          </a:solidFill>
          <a:ln/>
          <a:effectLst>
            <a:outerShdw blurRad="76200" dist="25400" dir="5400000" algn="bl" rotWithShape="0">
              <a:srgbClr val="1B2733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4"/>
          <p:cNvSpPr/>
          <p:nvPr/>
        </p:nvSpPr>
        <p:spPr>
          <a:xfrm>
            <a:off x="7415784" y="1609344"/>
            <a:ext cx="621792" cy="621792"/>
          </a:xfrm>
          <a:prstGeom prst="ellipse">
            <a:avLst/>
          </a:prstGeom>
          <a:solidFill>
            <a:srgbClr val="0097A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3" descr="/tmp/claude-1000/-home-ballen-GitHub/10f2e268-ec1d-4d6f-8dc8-6cf2617b3162/scratchpad/pptx_work/icons/clipboard-check-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52944" y="1746504"/>
            <a:ext cx="347472" cy="34747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766560" y="2304288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000" dirty="0"/>
          </a:p>
        </p:txBody>
      </p:sp>
      <p:sp>
        <p:nvSpPr>
          <p:cNvPr id="22" name="Text 16"/>
          <p:cNvSpPr txBox="1"/>
          <p:nvPr/>
        </p:nvSpPr>
        <p:spPr>
          <a:xfrm>
            <a:off x="6876288" y="2852928"/>
            <a:ext cx="17007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Data-quality issues: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missing/duplicate rows</a:t>
            </a:r>
            <a:endParaRPr lang="en-US" sz="1050" dirty="0"/>
          </a:p>
        </p:txBody>
      </p:sp>
      <p:sp>
        <p:nvSpPr>
          <p:cNvPr id="23" name="Text 17"/>
          <p:cNvSpPr txBox="1"/>
          <p:nvPr/>
        </p:nvSpPr>
        <p:spPr>
          <a:xfrm>
            <a:off x="457200" y="3977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i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ingestion → cleaning → feature-derivation pipeline is reusable (src/preprocessing/) and exposed as a standalone CLI script.</a:t>
            </a:r>
            <a:endParaRPr lang="en-US" sz="1150" dirty="0"/>
          </a:p>
        </p:txBody>
      </p:sp>
      <p:sp>
        <p:nvSpPr>
          <p:cNvPr id="24" name="Text 18"/>
          <p:cNvSpPr txBox="1"/>
          <p:nvPr/>
        </p:nvSpPr>
        <p:spPr>
          <a:xfrm>
            <a:off x="457200" y="479602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Brett Allen  |  DATA 606 Capstone Progress Update  |  UMBC, Fall 2026</a:t>
            </a:r>
            <a:endParaRPr lang="en-US" sz="900" dirty="0"/>
          </a:p>
        </p:txBody>
      </p:sp>
      <p:sp>
        <p:nvSpPr>
          <p:cNvPr id="25" name="Text 19"/>
          <p:cNvSpPr txBox="1"/>
          <p:nvPr/>
        </p:nvSpPr>
        <p:spPr>
          <a:xfrm>
            <a:off x="8595360" y="47960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  Key Finding: The Acoustic Domain Gap</a:t>
            </a:r>
            <a:endParaRPr lang="en-US" sz="2800" dirty="0"/>
          </a:p>
        </p:txBody>
      </p:sp>
      <p:pic>
        <p:nvPicPr>
          <p:cNvPr id="3" name="Image 0" descr="/home/ballen/GitHub/UMBC-DATA606-Capstone/res/figures/acoustic_features_by_sour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1640" y="914400"/>
            <a:ext cx="5760720" cy="31722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23763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i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ATC audio is measurably narrower-band than simulated audio, indicating acoustics of a VHF radio channel which is a domain gap the ASR model must account for.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79602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Brett Allen  |  DATA 606 Capstone Progress Update  |  UMBC, Fall 2026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8595360" y="47960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  Key Finding: Vocabulary &amp; Phraseology</a:t>
            </a:r>
            <a:endParaRPr lang="en-US" sz="2800" dirty="0"/>
          </a:p>
        </p:txBody>
      </p:sp>
      <p:pic>
        <p:nvPicPr>
          <p:cNvPr id="3" name="Image 0" descr="/home/ballen/GitHub/UMBC-DATA606-Capstone/res/figures/wordcloud_by_sour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051560"/>
            <a:ext cx="6035040" cy="250624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40686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i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Real-world traffic is lexically richer (nearly 2x the vocabulary type-token ratio) despite fewer total words; simulated ATCOSIM leans on a smaller, more repeated set of scripted phraseology (31.6% vs. 8.2% repeated-transcript rate).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79602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Brett Allen  |  DATA 606 Capstone Progress Update  |  UMBC, Fall 2026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8595360" y="47960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  ML Progress: Pipeline Tooling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so the full data-curation step no longer requires running the EDA notebook end to end.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3F8FC"/>
          </a:solidFill>
          <a:ln/>
          <a:effectLst>
            <a:outerShdw blurRad="63500" dist="25400" dir="5400000" algn="bl" rotWithShape="0">
              <a:srgbClr val="1B2733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548640" cy="548640"/>
          </a:xfrm>
          <a:prstGeom prst="ellipse">
            <a:avLst/>
          </a:prstGeom>
          <a:solidFill>
            <a:srgbClr val="3849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tmp/claude-1000/-home-ballen-GitHub/10f2e268-ec1d-4d6f-8dc8-6cf2617b3162/scratchpad/pptx_work/icons/code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182880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6002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3849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scripts/run_ingest.py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94767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Standalone CLI for data curation/ingest, with no notebook memory overhead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57200" y="2624328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3F8FC"/>
          </a:solidFill>
          <a:ln/>
          <a:effectLst>
            <a:outerShdw blurRad="63500" dist="25400" dir="5400000" algn="bl" rotWithShape="0">
              <a:srgbClr val="1B2733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58368" y="2807208"/>
            <a:ext cx="548640" cy="548640"/>
          </a:xfrm>
          <a:prstGeom prst="ellipse">
            <a:avLst/>
          </a:prstGeom>
          <a:solidFill>
            <a:srgbClr val="3849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/tmp/claude-1000/-home-ballen-GitHub/10f2e268-ec1d-4d6f-8dc8-6cf2617b3162/scratchpad/pptx_work/icons/database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" y="2944368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371600" y="27157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3849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--purge-raw flag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371600" y="30632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post-process purge of large raw downloads to reclaim disk space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457200" y="3739896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3F8FC"/>
          </a:solidFill>
          <a:ln/>
          <a:effectLst>
            <a:outerShdw blurRad="63500" dist="25400" dir="5400000" algn="bl" rotWithShape="0">
              <a:srgbClr val="1B2733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658368" y="3922776"/>
            <a:ext cx="548640" cy="548640"/>
          </a:xfrm>
          <a:prstGeom prst="ellipse">
            <a:avLst/>
          </a:prstGeom>
          <a:solidFill>
            <a:srgbClr val="3849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2" descr="/tmp/claude-1000/-home-ballen-GitHub/10f2e268-ec1d-4d6f-8dc8-6cf2617b3162/scratchpad/pptx_work/icons/route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528" y="4059936"/>
            <a:ext cx="274320" cy="27432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371600" y="383133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3849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run-pipeline.sh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1371600" y="4178808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driver meant to orchestrate ingest → train → infer</a:t>
            </a:r>
            <a:endParaRPr lang="en-US" sz="1050" dirty="0"/>
          </a:p>
        </p:txBody>
      </p:sp>
      <p:sp>
        <p:nvSpPr>
          <p:cNvPr id="25" name="Text 20"/>
          <p:cNvSpPr txBox="1"/>
          <p:nvPr/>
        </p:nvSpPr>
        <p:spPr>
          <a:xfrm>
            <a:off x="457200" y="479602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Brett Allen  |  DATA 606 Capstone Progress Update  |  UMBC, Fall 2026</a:t>
            </a:r>
            <a:endParaRPr lang="en-US" sz="900" dirty="0"/>
          </a:p>
        </p:txBody>
      </p:sp>
      <p:sp>
        <p:nvSpPr>
          <p:cNvPr id="26" name="Text 21"/>
          <p:cNvSpPr txBox="1"/>
          <p:nvPr/>
        </p:nvSpPr>
        <p:spPr>
          <a:xfrm>
            <a:off x="8595360" y="47960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  ASR Prototype Results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conditions on the same 100-utterance sample test set: openai/whisper-medium.en (baseline) model, jacktol’s fine-tuned medium.en (comparison) model, and a custom fine-tuned whisper-</a:t>
            </a:r>
            <a:r>
              <a:rPr lang="en-US" sz="1100" dirty="0" err="1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small.en</a:t>
            </a:r>
            <a:r>
              <a:rPr lang="en-US" sz="11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model.</a:t>
            </a:r>
            <a:endParaRPr lang="en-US" sz="11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57200" y="1508760"/>
          <a:ext cx="3931920" cy="2651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" name="Chart 1"/>
          <p:cNvGraphicFramePr/>
          <p:nvPr/>
        </p:nvGraphicFramePr>
        <p:xfrm>
          <a:off x="4663440" y="1508760"/>
          <a:ext cx="3931920" cy="2651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425196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*Baseline model’s real-audio WER is skewed by two runaway-generation (hallucination) outliers.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479602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Brett Allen  |  DATA 606 Capstone Progress Update  |  UMBC, Fall 2026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8595360" y="47960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  ASR Prototype: Key Takeaways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02920" cy="502920"/>
          </a:xfrm>
          <a:prstGeom prst="ellipse">
            <a:avLst/>
          </a:prstGeom>
          <a:solidFill>
            <a:srgbClr val="0097A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tmp/claude-1000/-home-ballen-GitHub/10f2e268-ec1d-4d6f-8dc8-6cf2617b3162/scratchpad/pptx_work/icons/scale-unbalanced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207008"/>
            <a:ext cx="283464" cy="28346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15568" y="1051560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Fine-tuning beats raw size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1115568" y="1417320"/>
            <a:ext cx="3273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fine-tuned </a:t>
            </a:r>
            <a:r>
              <a:rPr lang="en-US" sz="1050" dirty="0" err="1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small.en</a:t>
            </a:r>
            <a:r>
              <a:rPr lang="en-US" sz="10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model (244M params, 1,000 training samples) beat the </a:t>
            </a:r>
            <a:r>
              <a:rPr lang="en-US" sz="1050" dirty="0" err="1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medium.en</a:t>
            </a:r>
            <a:r>
              <a:rPr lang="en-US" sz="10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baseline model (769M params) in both domains.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4663440" y="1097280"/>
            <a:ext cx="502920" cy="502920"/>
          </a:xfrm>
          <a:prstGeom prst="ellipse">
            <a:avLst/>
          </a:prstGeom>
          <a:solidFill>
            <a:srgbClr val="0097A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1" descr="/tmp/claude-1000/-home-ballen-GitHub/10f2e268-ec1d-4d6f-8dc8-6cf2617b3162/scratchpad/pptx_work/icons/triangle-exclamation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3168" y="1207008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321808" y="1051560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Whisper model architecture caveat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5321808" y="1417320"/>
            <a:ext cx="3273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generic baseline repeats itself into a 150-word loop on some real-audio clips which is a documented Whisper hallucination pattern.</a:t>
            </a:r>
          </a:p>
          <a:p>
            <a:pPr marL="0" indent="0" algn="l">
              <a:buNone/>
            </a:pPr>
            <a:endParaRPr lang="en-US" sz="1050" dirty="0">
              <a:solidFill>
                <a:srgbClr val="6B7A86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r>
              <a:rPr lang="en-US" sz="1050" dirty="0">
                <a:solidFill>
                  <a:srgbClr val="6B7A86"/>
                </a:solidFill>
                <a:latin typeface="Arial" pitchFamily="34" charset="0"/>
                <a:cs typeface="Arial" pitchFamily="34" charset="-120"/>
              </a:rPr>
              <a:t>See: </a:t>
            </a:r>
            <a:r>
              <a:rPr lang="en-US" sz="1050" dirty="0">
                <a:solidFill>
                  <a:srgbClr val="6B7A86"/>
                </a:solidFill>
                <a:latin typeface="Arial" pitchFamily="34" charset="0"/>
                <a:cs typeface="Arial" pitchFamily="34" charset="-120"/>
                <a:hlinkClick r:id="rId5"/>
              </a:rPr>
              <a:t>https://metawhisp.com/blog/whisper-repeating-word-loop-fix/</a:t>
            </a:r>
            <a:r>
              <a:rPr lang="en-US" sz="1050" dirty="0">
                <a:solidFill>
                  <a:srgbClr val="6B7A86"/>
                </a:solidFill>
                <a:latin typeface="Arial" pitchFamily="34" charset="0"/>
                <a:cs typeface="Arial" pitchFamily="34" charset="-120"/>
              </a:rPr>
              <a:t> 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457200" y="2679192"/>
            <a:ext cx="502920" cy="502920"/>
          </a:xfrm>
          <a:prstGeom prst="ellipse">
            <a:avLst/>
          </a:prstGeom>
          <a:solidFill>
            <a:srgbClr val="0097A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/tmp/claude-1000/-home-ballen-GitHub/10f2e268-ec1d-4d6f-8dc8-6cf2617b3162/scratchpad/pptx_work/icons/gears-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928" y="2788920"/>
            <a:ext cx="283464" cy="28346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115568" y="2633472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engineering lesson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115568" y="2999232"/>
            <a:ext cx="3273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batch size set to 8 for fine-tuning resulted in 98% VRAM usage on an 8GB VRAM GPUT. Setting batch size to 4 resulted in the same effective batch via gradient accumulation which fixed it.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4663440" y="2679192"/>
            <a:ext cx="502920" cy="502920"/>
          </a:xfrm>
          <a:prstGeom prst="ellipse">
            <a:avLst/>
          </a:prstGeom>
          <a:solidFill>
            <a:srgbClr val="0097A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3" descr="/tmp/claude-1000/-home-ballen-GitHub/10f2e268-ec1d-4d6f-8dc8-6cf2617b3162/scratchpad/pptx_work/icons/clipboard-check-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73168" y="2788920"/>
            <a:ext cx="283464" cy="28346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321808" y="2633472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Disclosed, not hidden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5321808" y="2999232"/>
            <a:ext cx="3273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 err="1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jacktol’s</a:t>
            </a:r>
            <a:r>
              <a:rPr lang="en-US" sz="10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fine-tuned </a:t>
            </a:r>
            <a:r>
              <a:rPr lang="en-US" sz="1050" dirty="0" err="1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medium.en</a:t>
            </a:r>
            <a:r>
              <a:rPr lang="en-US" sz="10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model shows promising numbers on real audio data (ATC-ASR-Dataset) but there is an unverified train/test leakage risk that the custom data ingest pipeline prevents for the custom fine-tuned </a:t>
            </a:r>
            <a:r>
              <a:rPr lang="en-US" sz="1050" dirty="0" err="1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small.en</a:t>
            </a:r>
            <a:r>
              <a:rPr lang="en-US" sz="10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model.</a:t>
            </a:r>
            <a:endParaRPr lang="en-US" sz="1050" dirty="0"/>
          </a:p>
        </p:txBody>
      </p:sp>
      <p:sp>
        <p:nvSpPr>
          <p:cNvPr id="19" name="Text 13"/>
          <p:cNvSpPr txBox="1"/>
          <p:nvPr/>
        </p:nvSpPr>
        <p:spPr>
          <a:xfrm>
            <a:off x="457200" y="479602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Brett Allen  |  DATA 606 Capstone Progress Update  |  UMBC, Fall 2026</a:t>
            </a:r>
            <a:endParaRPr lang="en-US" sz="900" dirty="0"/>
          </a:p>
        </p:txBody>
      </p:sp>
      <p:sp>
        <p:nvSpPr>
          <p:cNvPr id="20" name="Text 14"/>
          <p:cNvSpPr txBox="1"/>
          <p:nvPr/>
        </p:nvSpPr>
        <p:spPr>
          <a:xfrm>
            <a:off x="8595360" y="47960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  Remaining ML Work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2606040" cy="2834640"/>
          </a:xfrm>
          <a:prstGeom prst="roundRect">
            <a:avLst>
              <a:gd name="adj" fmla="val 3509"/>
            </a:avLst>
          </a:prstGeom>
          <a:solidFill>
            <a:srgbClr val="F3F8FC"/>
          </a:solidFill>
          <a:ln/>
          <a:effectLst>
            <a:outerShdw blurRad="76200" dist="25400" dir="5400000" algn="bl" rotWithShape="0">
              <a:srgbClr val="1B2733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394460" y="1508760"/>
            <a:ext cx="731520" cy="731520"/>
          </a:xfrm>
          <a:prstGeom prst="ellipse">
            <a:avLst/>
          </a:prstGeom>
          <a:solidFill>
            <a:srgbClr val="3849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2560320" y="1307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97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pic>
        <p:nvPicPr>
          <p:cNvPr id="6" name="Image 0" descr="/tmp/claude-1000/-home-ballen-GitHub/10f2e268-ec1d-4d6f-8dc8-6cf2617b3162/scratchpad/pptx_work/icons/route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9052" y="1673352"/>
            <a:ext cx="402336" cy="4023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242316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ASR Standalone Pipeline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01752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Promote the notebook’s training + evaluation loop into a reusable script, following the same pattern as the data-ingest process.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268980" y="1234440"/>
            <a:ext cx="2606040" cy="2834640"/>
          </a:xfrm>
          <a:prstGeom prst="roundRect">
            <a:avLst>
              <a:gd name="adj" fmla="val 3509"/>
            </a:avLst>
          </a:prstGeom>
          <a:solidFill>
            <a:srgbClr val="F3F8FC"/>
          </a:solidFill>
          <a:ln/>
          <a:effectLst>
            <a:outerShdw blurRad="76200" dist="25400" dir="5400000" algn="bl" rotWithShape="0">
              <a:srgbClr val="1B2733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206240" y="1508760"/>
            <a:ext cx="731520" cy="731520"/>
          </a:xfrm>
          <a:prstGeom prst="ellipse">
            <a:avLst/>
          </a:prstGeom>
          <a:solidFill>
            <a:srgbClr val="3849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 txBox="1"/>
          <p:nvPr/>
        </p:nvSpPr>
        <p:spPr>
          <a:xfrm>
            <a:off x="5372100" y="1307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97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pic>
        <p:nvPicPr>
          <p:cNvPr id="12" name="Image 1" descr="/tmp/claude-1000/-home-ballen-GitHub/10f2e268-ec1d-4d6f-8dc8-6cf2617b3162/scratchpad/pptx_work/icons/tags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0832" y="167335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406140" y="242316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Aviation Information Extraction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3451860" y="301752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an LLM to help curate aviation entity labels (e.g., callsigns, commands, altitudes, headings, frequencies), then train a NER model on them.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6080760" y="1234440"/>
            <a:ext cx="2606040" cy="2834640"/>
          </a:xfrm>
          <a:prstGeom prst="roundRect">
            <a:avLst>
              <a:gd name="adj" fmla="val 3509"/>
            </a:avLst>
          </a:prstGeom>
          <a:solidFill>
            <a:srgbClr val="F3F8FC"/>
          </a:solidFill>
          <a:ln/>
          <a:effectLst>
            <a:outerShdw blurRad="76200" dist="25400" dir="5400000" algn="bl" rotWithShape="0">
              <a:srgbClr val="1B2733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7018020" y="1508760"/>
            <a:ext cx="731520" cy="731520"/>
          </a:xfrm>
          <a:prstGeom prst="ellipse">
            <a:avLst/>
          </a:prstGeom>
          <a:solidFill>
            <a:srgbClr val="3849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 txBox="1"/>
          <p:nvPr/>
        </p:nvSpPr>
        <p:spPr>
          <a:xfrm>
            <a:off x="8183880" y="1307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97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pic>
        <p:nvPicPr>
          <p:cNvPr id="18" name="Image 2" descr="/tmp/claude-1000/-home-ballen-GitHub/10f2e268-ec1d-4d6f-8dc8-6cf2617b3162/scratchpad/pptx_work/icons/gears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2612" y="1673352"/>
            <a:ext cx="402336" cy="40233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217920" y="242316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NER Standalone Pipeline</a:t>
            </a:r>
            <a:endParaRPr lang="en-US" sz="1350" dirty="0"/>
          </a:p>
        </p:txBody>
      </p:sp>
      <p:sp>
        <p:nvSpPr>
          <p:cNvPr id="20" name="Text 15"/>
          <p:cNvSpPr txBox="1"/>
          <p:nvPr/>
        </p:nvSpPr>
        <p:spPr>
          <a:xfrm>
            <a:off x="6263640" y="301752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reusable training/evaluation pipeline for the NER model, mirroring the ASR and data-ingest pipelines.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457200" y="479602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Brett Allen  |  DATA 606 Capstone Progress Update  |  UMBC, Fall 2026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8595360" y="47960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06.  What’s Next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Once the ASR and aviation-NER pipelines are complete, the final milestone is a Streamlit prototype for real-time ATC audio analysis.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85800" y="2103120"/>
            <a:ext cx="731520" cy="731520"/>
          </a:xfrm>
          <a:prstGeom prst="ellipse">
            <a:avLst/>
          </a:prstGeom>
          <a:solidFill>
            <a:srgbClr val="0097A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/tmp/claude-1000/-home-ballen-GitHub/10f2e268-ec1d-4d6f-8dc8-6cf2617b3162/scratchpad/pptx_work/icons/check-circle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2267712"/>
            <a:ext cx="402336" cy="4023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20040" y="29260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EDA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1645920" y="2468880"/>
            <a:ext cx="219456" cy="0"/>
          </a:xfrm>
          <a:prstGeom prst="line">
            <a:avLst/>
          </a:prstGeom>
          <a:noFill/>
          <a:ln w="25400">
            <a:solidFill>
              <a:srgbClr val="C7D4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2093976" y="2103120"/>
            <a:ext cx="731520" cy="731520"/>
          </a:xfrm>
          <a:prstGeom prst="ellipse">
            <a:avLst/>
          </a:prstGeom>
          <a:solidFill>
            <a:srgbClr val="0097A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/tmp/claude-1000/-home-ballen-GitHub/10f2e268-ec1d-4d6f-8dc8-6cf2617b3162/scratchpad/pptx_work/icons/check-circle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8568" y="2267712"/>
            <a:ext cx="402336" cy="40233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728216" y="29260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ASR Prototype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3054096" y="2468880"/>
            <a:ext cx="219456" cy="0"/>
          </a:xfrm>
          <a:prstGeom prst="line">
            <a:avLst/>
          </a:prstGeom>
          <a:noFill/>
          <a:ln w="25400">
            <a:solidFill>
              <a:srgbClr val="C7D4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3502152" y="2103120"/>
            <a:ext cx="731520" cy="731520"/>
          </a:xfrm>
          <a:prstGeom prst="ellipse">
            <a:avLst/>
          </a:prstGeom>
          <a:solidFill>
            <a:srgbClr val="B9C6C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/tmp/claude-1000/-home-ballen-GitHub/10f2e268-ec1d-4d6f-8dc8-6cf2617b3162/scratchpad/pptx_work/icons/hourglass-half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6744" y="2267712"/>
            <a:ext cx="402336" cy="40233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136392" y="29260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ASR Pipeline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4462272" y="2468880"/>
            <a:ext cx="219456" cy="0"/>
          </a:xfrm>
          <a:prstGeom prst="line">
            <a:avLst/>
          </a:prstGeom>
          <a:noFill/>
          <a:ln w="25400">
            <a:solidFill>
              <a:srgbClr val="C7D4D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4910328" y="2103120"/>
            <a:ext cx="731520" cy="731520"/>
          </a:xfrm>
          <a:prstGeom prst="ellipse">
            <a:avLst/>
          </a:prstGeom>
          <a:solidFill>
            <a:srgbClr val="B9C6C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/tmp/claude-1000/-home-ballen-GitHub/10f2e268-ec1d-4d6f-8dc8-6cf2617b3162/scratchpad/pptx_work/icons/hourglass-half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2267712"/>
            <a:ext cx="402336" cy="40233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4544568" y="29260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Aviation NER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5870448" y="2468880"/>
            <a:ext cx="219456" cy="0"/>
          </a:xfrm>
          <a:prstGeom prst="line">
            <a:avLst/>
          </a:prstGeom>
          <a:noFill/>
          <a:ln w="25400">
            <a:solidFill>
              <a:srgbClr val="C7D4D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4"/>
          <p:cNvSpPr/>
          <p:nvPr/>
        </p:nvSpPr>
        <p:spPr>
          <a:xfrm>
            <a:off x="6318504" y="2103120"/>
            <a:ext cx="731520" cy="731520"/>
          </a:xfrm>
          <a:prstGeom prst="ellipse">
            <a:avLst/>
          </a:prstGeom>
          <a:solidFill>
            <a:srgbClr val="B9C6C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4" descr="/tmp/claude-1000/-home-ballen-GitHub/10f2e268-ec1d-4d6f-8dc8-6cf2617b3162/scratchpad/pptx_work/icons/hourglass-half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3096" y="2267712"/>
            <a:ext cx="402336" cy="402336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5952744" y="29260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NER Pipeline</a:t>
            </a:r>
            <a:endParaRPr lang="en-US" sz="1050" dirty="0"/>
          </a:p>
        </p:txBody>
      </p:sp>
      <p:sp>
        <p:nvSpPr>
          <p:cNvPr id="23" name="Shape 16"/>
          <p:cNvSpPr/>
          <p:nvPr/>
        </p:nvSpPr>
        <p:spPr>
          <a:xfrm>
            <a:off x="7278624" y="2468880"/>
            <a:ext cx="219456" cy="0"/>
          </a:xfrm>
          <a:prstGeom prst="line">
            <a:avLst/>
          </a:prstGeom>
          <a:noFill/>
          <a:ln w="25400">
            <a:solidFill>
              <a:srgbClr val="C7D4D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17"/>
          <p:cNvSpPr/>
          <p:nvPr/>
        </p:nvSpPr>
        <p:spPr>
          <a:xfrm>
            <a:off x="7726680" y="2103120"/>
            <a:ext cx="731520" cy="731520"/>
          </a:xfrm>
          <a:prstGeom prst="ellipse">
            <a:avLst/>
          </a:prstGeom>
          <a:solidFill>
            <a:srgbClr val="B9C6C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5" name="Image 5" descr="/tmp/claude-1000/-home-ballen-GitHub/10f2e268-ec1d-4d6f-8dc8-6cf2617b3162/scratchpad/pptx_work/icons/desktop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91272" y="2267712"/>
            <a:ext cx="402336" cy="402336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360920" y="29260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Streamlit App</a:t>
            </a:r>
            <a:endParaRPr lang="en-US" sz="1050" dirty="0"/>
          </a:p>
        </p:txBody>
      </p:sp>
      <p:sp>
        <p:nvSpPr>
          <p:cNvPr id="27" name="Text 19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i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Milestones: ASR pipeline → LLM-assisted entity labeling + NER training → NER pipeline → Streamlit integration &amp; demo.</a:t>
            </a:r>
            <a:endParaRPr lang="en-US" sz="1150" dirty="0"/>
          </a:p>
        </p:txBody>
      </p:sp>
      <p:sp>
        <p:nvSpPr>
          <p:cNvPr id="28" name="Text 20"/>
          <p:cNvSpPr txBox="1"/>
          <p:nvPr/>
        </p:nvSpPr>
        <p:spPr>
          <a:xfrm>
            <a:off x="457200" y="479602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Brett Allen  |  DATA 606 Capstone Progress Update  |  UMBC, Fall 2026</a:t>
            </a:r>
            <a:endParaRPr lang="en-US" sz="900" dirty="0"/>
          </a:p>
        </p:txBody>
      </p:sp>
      <p:sp>
        <p:nvSpPr>
          <p:cNvPr id="29" name="Text 21"/>
          <p:cNvSpPr txBox="1"/>
          <p:nvPr/>
        </p:nvSpPr>
        <p:spPr>
          <a:xfrm>
            <a:off x="8595360" y="47960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733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1000/-home-ballen-GitHub/10f2e268-ec1d-4d6f-8dc8-6cf2617b3162/scratchpad/pptx_work/bg/thanks-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7333D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 txBox="1"/>
          <p:nvPr/>
        </p:nvSpPr>
        <p:spPr>
          <a:xfrm>
            <a:off x="0" y="192024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0" y="26974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B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&amp; Discussion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0" y="45720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Brett Allen  |  DATA 606 Capstone Progress Update  |  UMBC, Fall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964</Words>
  <Application>Microsoft Office PowerPoint</Application>
  <PresentationFormat>On-screen Show (16:9)</PresentationFormat>
  <Paragraphs>141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Allen, Brett M-CTR (FAA)</cp:lastModifiedBy>
  <cp:revision>13</cp:revision>
  <dcterms:created xsi:type="dcterms:W3CDTF">2026-10-01T12:28:57Z</dcterms:created>
  <dcterms:modified xsi:type="dcterms:W3CDTF">2026-10-01T19:33:56Z</dcterms:modified>
</cp:coreProperties>
</file>