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8495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384957"/>
                </a:solidFill>
                <a:latin typeface="Arial"/>
              </a:rPr>
              <a:t>Real Audio (ATC-ASR-Dataset)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 %</c:v>
                </c:pt>
              </c:strCache>
            </c:strRef>
          </c:tx>
          <c:spPr>
            <a:solidFill>
              <a:srgbClr val="6B7A8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B7A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371-4944-9646-8142059E67E1}"/>
              </c:ext>
            </c:extLst>
          </c:dPt>
          <c:dPt>
            <c:idx val="1"/>
            <c:invertIfNegative val="0"/>
            <c:bubble3D val="0"/>
            <c:spPr>
              <a:solidFill>
                <a:srgbClr val="0097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71-4944-9646-8142059E67E1}"/>
              </c:ext>
            </c:extLst>
          </c:dPt>
          <c:dPt>
            <c:idx val="2"/>
            <c:invertIfNegative val="0"/>
            <c:bubble3D val="0"/>
            <c:spPr>
              <a:solidFill>
                <a:srgbClr val="3849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371-4944-9646-8142059E67E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8495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
(medium.en)</c:v>
                </c:pt>
                <c:pt idx="1">
                  <c:v>jacktol
(medium.en-FT)</c:v>
                </c:pt>
                <c:pt idx="2">
                  <c:v>Fine-tuned†
(small.en)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161.9</c:v>
                </c:pt>
                <c:pt idx="1">
                  <c:v>9.1999999999999993</c:v>
                </c:pt>
                <c:pt idx="2">
                  <c:v>82.9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371-4944-9646-8142059E67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849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A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A86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6B7A86"/>
                    </a:solidFill>
                    <a:latin typeface="Arial"/>
                  </a:rPr>
                  <a:t>WER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8495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384957"/>
                </a:solidFill>
                <a:latin typeface="Arial"/>
              </a:rPr>
              <a:t>Simulated Audio (ATCOSIM)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 %</c:v>
                </c:pt>
              </c:strCache>
            </c:strRef>
          </c:tx>
          <c:spPr>
            <a:solidFill>
              <a:srgbClr val="6B7A8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B7A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0B-48A2-B1CD-BF9790B4B1CA}"/>
              </c:ext>
            </c:extLst>
          </c:dPt>
          <c:dPt>
            <c:idx val="1"/>
            <c:invertIfNegative val="0"/>
            <c:bubble3D val="0"/>
            <c:spPr>
              <a:solidFill>
                <a:srgbClr val="0097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0B-48A2-B1CD-BF9790B4B1CA}"/>
              </c:ext>
            </c:extLst>
          </c:dPt>
          <c:dPt>
            <c:idx val="2"/>
            <c:invertIfNegative val="0"/>
            <c:bubble3D val="0"/>
            <c:spPr>
              <a:solidFill>
                <a:srgbClr val="3849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0B-48A2-B1CD-BF9790B4B1C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8495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
(medium.en)</c:v>
                </c:pt>
                <c:pt idx="1">
                  <c:v>jacktol
(medium.en-FT)</c:v>
                </c:pt>
                <c:pt idx="2">
                  <c:v>Fine-tuned†
(small.en)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21.9</c:v>
                </c:pt>
                <c:pt idx="1">
                  <c:v>12.9</c:v>
                </c:pt>
                <c:pt idx="2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80B-48A2-B1CD-BF9790B4B1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849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A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A86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6B7A86"/>
                    </a:solidFill>
                    <a:latin typeface="Arial"/>
                  </a:rPr>
                  <a:t>WER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05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hyperlink" Target="https://metawhisp.com/blog/whisper-repeating-word-loop-fix/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3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ballen-GitHub/10f2e268-ec1d-4d6f-8dc8-6cf2617b3162/scratchpad/pptx_work/bg/title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333D">
              <a:alpha val="5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ATC COMMUNICATION INTELLIGENCE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128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B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Recognition and Information Extraction for Aviation Safety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249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50" dirty="0">
                <a:solidFill>
                  <a:srgbClr val="5F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UPDATE  ·  EDA COMPLETE  ·  MACHINE LEARNING IN PROGRESS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343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Allen  |  DATA 606 Capstone Progress Update  |  UMBC, Fall 2026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5902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B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Advisor: Dr. Jay Wang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76172"/>
            <a:ext cx="548640" cy="54864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3761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261872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Recap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600200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overview &amp; research questions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7043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1376172"/>
            <a:ext cx="548640" cy="54864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846320" y="13761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559552" y="1261872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Results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559552" y="1600200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Complete: key findings &amp; data readiness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2500884"/>
            <a:ext cx="548640" cy="54864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25008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238658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 Tooling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724912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been built so far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295144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2500884"/>
            <a:ext cx="548640" cy="54864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846320" y="25008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559552" y="238658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Prototype Findings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59552" y="2724912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vs. domain-adapted vs. fine-tuned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19856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" y="3625596"/>
            <a:ext cx="548640" cy="54864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0080" y="36255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353312" y="351129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ML Work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3849624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efforts still ahead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19856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3625596"/>
            <a:ext cx="548640" cy="54864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846320" y="36255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5559552" y="351129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559552" y="3849624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 &amp; overall timeline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Allen  |  DATA 606 Capstone Progress Update  |  UMBC, Fall 2026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59536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 Project Recap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a prototype tool (Streamlit app) that transcribes real ATC audio and extracts structured operational information for pilots and controllers in real-time.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914400" cy="91440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claude-1000/-home-ballen-GitHub/10f2e268-ec1d-4d6f-8dc8-6cf2617b3162/scratchpad/pptx_work/icons/mic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48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990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ATC Audio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5021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+ simulated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controller/pilot speech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2194560" y="2194560"/>
            <a:ext cx="42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032760" y="1965960"/>
            <a:ext cx="914400" cy="91440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tmp/claude-1000/-home-ballen-GitHub/10f2e268-ec1d-4d6f-8dc8-6cf2617b3162/scratchpad/pptx_work/icons/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640" y="21488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21280" y="2990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Recognition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621280" y="35021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Whisper-family ASR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(baseline, adapted, fine-tuned)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4358640" y="2194560"/>
            <a:ext cx="42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5196840" y="1965960"/>
            <a:ext cx="914400" cy="91440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tmp/claude-1000/-home-ballen-GitHub/10f2e268-ec1d-4d6f-8dc8-6cf2617b3162/scratchpad/pptx_work/icons/tag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9720" y="21488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85360" y="2990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Info Extraction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785360" y="35021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Callsigns, commands,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altitudes, headings (NER)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6522720" y="2194560"/>
            <a:ext cx="42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7360920" y="1965960"/>
            <a:ext cx="914400" cy="91440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tmp/claude-1000/-home-ballen-GitHub/10f2e268-ec1d-4d6f-8dc8-6cf2617b3162/scratchpad/pptx_work/icons/chart-lin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21488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9440" y="2990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Analysis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35021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vs. acoustic/linguistic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Questions:   </a:t>
            </a:r>
          </a:p>
          <a:p>
            <a:pPr marL="0" indent="0" algn="l">
              <a:buNone/>
            </a:pPr>
            <a:r>
              <a:rPr lang="en-US" sz="1150" i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Automatic Speech Recognition (ASR) ·  RQ2 Aviation information extraction  ·  RQ3 Transcription error drivers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Allen  |  DATA 606 Capstone Progress Update  |  UMBC, Fall 2026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859536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 EDA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6424" y="1609344"/>
            <a:ext cx="621792" cy="621792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claude-1000/-home-ballen-GitHub/10f2e268-ec1d-4d6f-8dc8-6cf2617b3162/scratchpad/pptx_work/icons/databas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1746504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304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17,681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85292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Utterances combined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both corpora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560320" y="137160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209544" y="1609344"/>
            <a:ext cx="621792" cy="621792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tmp/claude-1000/-home-ballen-GitHub/10f2e268-ec1d-4d6f-8dc8-6cf2617b3162/scratchpad/pptx_work/icons/wave-squar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7465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60320" y="2304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 hrs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2670048" y="285292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ATC audio,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resampled to 16kHz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137160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312664" y="1609344"/>
            <a:ext cx="621792" cy="621792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tmp/claude-1000/-home-ballen-GitHub/10f2e268-ec1d-4d6f-8dc8-6cf2617b3162/scratchpad/pptx_work/icons/layer-group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174650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63440" y="2304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4773168" y="285292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real (ATC-ASR-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Dataset) + simulated (ATCOSIM)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766560" y="137160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415784" y="1609344"/>
            <a:ext cx="621792" cy="621792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tmp/claude-1000/-home-ballen-GitHub/10f2e268-ec1d-4d6f-8dc8-6cf2617b3162/scratchpad/pptx_work/icons/clipboard-check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174650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66560" y="2304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Text 16"/>
          <p:cNvSpPr txBox="1"/>
          <p:nvPr/>
        </p:nvSpPr>
        <p:spPr>
          <a:xfrm>
            <a:off x="6876288" y="285292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issues: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missing/duplicate rows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ingestion → cleaning → feature-derivation pipeline is reusable (src/preprocessing/) and exposed as a standalone CLI script.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Allen  |  DATA 606 Capstone Progress Update  |  UMBC, Fall 2026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859536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 Key Finding: The Acoustic Domain Gap</a:t>
            </a:r>
            <a:endParaRPr lang="en-US" sz="2800" dirty="0"/>
          </a:p>
        </p:txBody>
      </p:sp>
      <p:pic>
        <p:nvPicPr>
          <p:cNvPr id="3" name="Image 0" descr="/home/ballen/GitHub/UMBC-DATA606-Capstone/res/figures/acoustic_features_by_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914400"/>
            <a:ext cx="5760720" cy="31722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23763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ATC audio is measurably narrower-band than simulated audio, indicating acoustics of a VHF radio channel which is a domain gap the ASR model must account for.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Allen  |  DATA 606 Capstone Progress Update  |  UMBC, Fall 2026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 Key Finding: Vocabulary &amp; Phraseology</a:t>
            </a:r>
            <a:endParaRPr lang="en-US" sz="2800" dirty="0"/>
          </a:p>
        </p:txBody>
      </p:sp>
      <p:pic>
        <p:nvPicPr>
          <p:cNvPr id="3" name="Image 0" descr="/home/ballen/GitHub/UMBC-DATA606-Capstone/res/figures/wordcloud_by_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051560"/>
            <a:ext cx="6035040" cy="25062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4068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traffic is lexically richer (nearly 2x the vocabulary type-token ratio) despite fewer total words; simulated ATCOSIM leans on a smaller, more repeated set of scripted phraseology (31.6% vs. 8.2% repeated-transcript rate).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Allen  |  DATA 606 Capstone Progress Update  |  UMBC, Fall 2026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 ML Progress: Pipeline Tooling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so the full data-curation step no longer requires running the EDA notebook end to end.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/>
          <a:effectLst>
            <a:outerShdw blurRad="635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548640" cy="54864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tmp/claude-1000/-home-ballen-GitHub/10f2e268-ec1d-4d6f-8dc8-6cf2617b3162/scratchpad/pptx_work/icons/cod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49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scripts/run_ingest.py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9476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CLI for data curation/ingest, with no notebook memory overhead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62432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/>
          <a:effectLst>
            <a:outerShdw blurRad="635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8368" y="2807208"/>
            <a:ext cx="548640" cy="54864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tmp/claude-1000/-home-ballen-GitHub/10f2e268-ec1d-4d6f-8dc8-6cf2617b3162/scratchpad/pptx_work/icons/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94436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71600" y="2715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49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--purge-raw flag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7160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post-process purge of large raw downloads to reclaim disk space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3739896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/>
          <a:effectLst>
            <a:outerShdw blurRad="635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58368" y="3922776"/>
            <a:ext cx="548640" cy="54864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/tmp/claude-1000/-home-ballen-GitHub/10f2e268-ec1d-4d6f-8dc8-6cf2617b3162/scratchpad/pptx_work/icons/rout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05993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71600" y="38313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49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run-pipeline.sh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371600" y="41788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driver meant to orchestrate ingest → train → infer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Allen  |  DATA 606 Capstone Progress Update  |  UMBC, Fall 2026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859536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 ASR Prototype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conditions on the same 100-utterance sample test set: openai/whisper-medium.en (baseline) model, jacktol’s fine-tuned medium.en (comparison) model, and a fine-tuned whisper-</a:t>
            </a:r>
            <a:r>
              <a:rPr lang="en-US" sz="1100" dirty="0" err="1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small.en</a:t>
            </a:r>
            <a:r>
              <a:rPr lang="en-US" sz="11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model.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08760"/>
          <a:ext cx="3931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1508760"/>
          <a:ext cx="3931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51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*Baseline model’s real-audio WER is skewed by two runaway-generation (hallucination) outliers.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Allen  |  DATA 606 Capstone Progress Update  |  UMBC, Fall 2026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859536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 ASR Prototype: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claude-1000/-home-ballen-GitHub/10f2e268-ec1d-4d6f-8dc8-6cf2617b3162/scratchpad/pptx_work/icons/scale-unbalanced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0700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5568" y="105156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beats raw size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115568" y="1417320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whisper-</a:t>
            </a:r>
            <a:r>
              <a:rPr lang="en-US" sz="1050" dirty="0" err="1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small.en</a:t>
            </a: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(244M params, 1,000 training samples) beat the </a:t>
            </a:r>
            <a:r>
              <a:rPr lang="en-US" sz="1050" dirty="0" err="1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medium.en</a:t>
            </a: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baseline model (769M params) in both domains.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tmp/claude-1000/-home-ballen-GitHub/10f2e268-ec1d-4d6f-8dc8-6cf2617b3162/scratchpad/pptx_work/icons/triangle-exclamation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207008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21808" y="105156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model architecture caveat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321808" y="1417320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generic baseline repeats itself into a 150-word loop on some real-audio clips which is a documented Whisper hallucination pattern.</a:t>
            </a:r>
          </a:p>
          <a:p>
            <a:pPr marL="0" indent="0" algn="l">
              <a:buNone/>
            </a:pPr>
            <a:endParaRPr lang="en-US" sz="1050" dirty="0">
              <a:solidFill>
                <a:srgbClr val="6B7A8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050" dirty="0">
                <a:solidFill>
                  <a:srgbClr val="6B7A86"/>
                </a:solidFill>
                <a:latin typeface="Arial" pitchFamily="34" charset="0"/>
                <a:cs typeface="Arial" pitchFamily="34" charset="-120"/>
              </a:rPr>
              <a:t>See: </a:t>
            </a:r>
            <a:r>
              <a:rPr lang="en-US" sz="1050" dirty="0">
                <a:solidFill>
                  <a:srgbClr val="6B7A86"/>
                </a:solidFill>
                <a:latin typeface="Arial" pitchFamily="34" charset="0"/>
                <a:cs typeface="Arial" pitchFamily="34" charset="-120"/>
                <a:hlinkClick r:id="rId5"/>
              </a:rPr>
              <a:t>https://metawhisp.com/blog/whisper-repeating-word-loop-fix/</a:t>
            </a:r>
            <a:r>
              <a:rPr lang="en-US" sz="1050" dirty="0">
                <a:solidFill>
                  <a:srgbClr val="6B7A86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2679192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tmp/claude-1000/-home-ballen-GitHub/10f2e268-ec1d-4d6f-8dc8-6cf2617b3162/scratchpad/pptx_work/icons/gea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788920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15568" y="263347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engineering lesson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115568" y="299923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batch size set to 8 for fine-tuning resulted in 98% VRAM usage on an 8GB VRAM GPUT. Setting batch size to 4 resulted in the same effective batch via gradient accumulation which fixed it.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663440" y="2679192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/tmp/claude-1000/-home-ballen-GitHub/10f2e268-ec1d-4d6f-8dc8-6cf2617b3162/scratchpad/pptx_work/icons/clipboard-check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2788920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21808" y="263347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Disclosed, not hidden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5321808" y="299923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jacktol’s</a:t>
            </a: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fine-tuned </a:t>
            </a:r>
            <a:r>
              <a:rPr lang="en-US" sz="1050" dirty="0" err="1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medium.en</a:t>
            </a: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shows promising numbers on real audio data (ATC-ASR-Dataset) but there is an unverified train/test leakage risk that the custom data ingest pipeline prevents for the fine-tuned whisper-</a:t>
            </a:r>
            <a:r>
              <a:rPr lang="en-US" sz="1050" dirty="0" err="1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small.en</a:t>
            </a:r>
            <a:r>
              <a:rPr lang="en-US" sz="10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model.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Allen  |  DATA 606 Capstone Progress Update  |  UMBC, Fall 2026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859536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 Remaining ML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94460" y="1508760"/>
            <a:ext cx="731520" cy="73152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56032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pic>
        <p:nvPicPr>
          <p:cNvPr id="6" name="Image 0" descr="/tmp/claude-1000/-home-ballen-GitHub/10f2e268-ec1d-4d6f-8dc8-6cf2617b3162/scratchpad/pptx_work/icons/rout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52" y="16733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423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Standalone Pipeline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175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the notebook’s training + evaluation loop into a reusable script, following the same pattern as the data-ingest process.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68980" y="12344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06240" y="1508760"/>
            <a:ext cx="731520" cy="73152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37210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pic>
        <p:nvPicPr>
          <p:cNvPr id="12" name="Image 1" descr="/tmp/claude-1000/-home-ballen-GitHub/10f2e268-ec1d-4d6f-8dc8-6cf2617b3162/scratchpad/pptx_work/icons/tag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67335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06140" y="2423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Information Extraction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451860" y="30175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 LLM to help curate aviation entity labels (e.g., callsigns, commands, altitudes, headings, frequencies), then train a NER model on them.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0760" y="12344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3F8FC"/>
          </a:solidFill>
          <a:ln/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018020" y="1508760"/>
            <a:ext cx="731520" cy="731520"/>
          </a:xfrm>
          <a:prstGeom prst="ellipse">
            <a:avLst/>
          </a:prstGeom>
          <a:solidFill>
            <a:srgbClr val="3849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818388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pic>
        <p:nvPicPr>
          <p:cNvPr id="18" name="Image 2" descr="/tmp/claude-1000/-home-ballen-GitHub/10f2e268-ec1d-4d6f-8dc8-6cf2617b3162/scratchpad/pptx_work/icons/gear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612" y="16733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2423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 Standalone Pipeline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30175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reusable training/evaluation pipeline for the NER model, mirroring the ASR and data-ingest pipelines.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Allen  |  DATA 606 Capstone Progress Update  |  UMBC, Fall 2026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859536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 What’s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ASR and aviation-NER pipelines are complete, the final milestone is a Streamlit prototype for real-time ATC audio analysis.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731520" cy="7315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claude-1000/-home-ballen-GitHub/10f2e268-ec1d-4d6f-8dc8-6cf2617b3162/scratchpad/pptx_work/icons/check-circl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2677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645920" y="2468880"/>
            <a:ext cx="219456" cy="0"/>
          </a:xfrm>
          <a:prstGeom prst="line">
            <a:avLst/>
          </a:prstGeom>
          <a:noFill/>
          <a:ln w="25400">
            <a:solidFill>
              <a:srgbClr val="C7D4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093976" y="2103120"/>
            <a:ext cx="731520" cy="7315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tmp/claude-1000/-home-ballen-GitHub/10f2e268-ec1d-4d6f-8dc8-6cf2617b3162/scratchpad/pptx_work/icons/check-circl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226771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28216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Prototype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054096" y="2468880"/>
            <a:ext cx="219456" cy="0"/>
          </a:xfrm>
          <a:prstGeom prst="line">
            <a:avLst/>
          </a:prstGeom>
          <a:noFill/>
          <a:ln w="25400">
            <a:solidFill>
              <a:srgbClr val="C7D4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502152" y="2103120"/>
            <a:ext cx="731520" cy="731520"/>
          </a:xfrm>
          <a:prstGeom prst="ellipse">
            <a:avLst/>
          </a:prstGeom>
          <a:solidFill>
            <a:srgbClr val="B9C6C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tmp/claude-1000/-home-ballen-GitHub/10f2e268-ec1d-4d6f-8dc8-6cf2617b3162/scratchpad/pptx_work/icons/hourglass-half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136392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Pipeline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462272" y="2468880"/>
            <a:ext cx="219456" cy="0"/>
          </a:xfrm>
          <a:prstGeom prst="line">
            <a:avLst/>
          </a:prstGeom>
          <a:noFill/>
          <a:ln w="25400">
            <a:solidFill>
              <a:srgbClr val="C7D4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910328" y="2103120"/>
            <a:ext cx="731520" cy="731520"/>
          </a:xfrm>
          <a:prstGeom prst="ellipse">
            <a:avLst/>
          </a:prstGeom>
          <a:solidFill>
            <a:srgbClr val="B9C6C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tmp/claude-1000/-home-ballen-GitHub/10f2e268-ec1d-4d6f-8dc8-6cf2617b3162/scratchpad/pptx_work/icons/hourglass-half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26771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544568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NER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870448" y="2468880"/>
            <a:ext cx="219456" cy="0"/>
          </a:xfrm>
          <a:prstGeom prst="line">
            <a:avLst/>
          </a:prstGeom>
          <a:noFill/>
          <a:ln w="25400">
            <a:solidFill>
              <a:srgbClr val="C7D4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318504" y="2103120"/>
            <a:ext cx="731520" cy="731520"/>
          </a:xfrm>
          <a:prstGeom prst="ellipse">
            <a:avLst/>
          </a:prstGeom>
          <a:solidFill>
            <a:srgbClr val="B9C6C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/tmp/claude-1000/-home-ballen-GitHub/10f2e268-ec1d-4d6f-8dc8-6cf2617b3162/scratchpad/pptx_work/icons/hourglass-half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6771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952744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 Pipeline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7278624" y="2468880"/>
            <a:ext cx="219456" cy="0"/>
          </a:xfrm>
          <a:prstGeom prst="line">
            <a:avLst/>
          </a:prstGeom>
          <a:noFill/>
          <a:ln w="25400">
            <a:solidFill>
              <a:srgbClr val="C7D4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7726680" y="2103120"/>
            <a:ext cx="731520" cy="731520"/>
          </a:xfrm>
          <a:prstGeom prst="ellipse">
            <a:avLst/>
          </a:prstGeom>
          <a:solidFill>
            <a:srgbClr val="B9C6C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/tmp/claude-1000/-home-ballen-GitHub/10f2e268-ec1d-4d6f-8dc8-6cf2617b3162/scratchpad/pptx_work/icons/desktop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2" y="2267712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36092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</a:t>
            </a:r>
            <a:endParaRPr lang="en-US" sz="105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384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Milestones: ASR pipeline → LLM-assisted entity labeling + NER training → NER pipeline → Streamlit integration &amp; demo.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Allen  |  DATA 606 Capstone Progress Update  |  UMBC, Fall 2026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8595360" y="47960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73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ballen-GitHub/10f2e268-ec1d-4d6f-8dc8-6cf2617b3162/scratchpad/pptx_work/bg/thanks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333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0" y="1920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B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Allen  |  DATA 606 Capstone Progress Update  |  UMBC, Fall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964</Words>
  <Application>Microsoft Office PowerPoint</Application>
  <PresentationFormat>On-screen Show (16:9)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Allen, Brett M-CTR (FAA)</cp:lastModifiedBy>
  <cp:revision>13</cp:revision>
  <dcterms:created xsi:type="dcterms:W3CDTF">2026-10-01T12:28:57Z</dcterms:created>
  <dcterms:modified xsi:type="dcterms:W3CDTF">2026-10-01T19:33:56Z</dcterms:modified>
</cp:coreProperties>
</file>