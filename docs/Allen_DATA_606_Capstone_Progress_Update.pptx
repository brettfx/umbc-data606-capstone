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84957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84957"/>
                </a:solidFill>
                <a:latin typeface="Arial"/>
              </a:rPr>
              <a:t>Real Audio (ATC-ASR-Dataset)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 %</c:v>
                </c:pt>
              </c:strCache>
            </c:strRef>
          </c:tx>
          <c:spPr>
            <a:solidFill>
              <a:srgbClr val="6B7A8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8495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7A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849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(medium.en)</c:v>
                  </c:pt>
                  <c:pt idx="1">
                    <c:v>jacktol
(medium.en-FT)</c:v>
                  </c:pt>
                  <c:pt idx="2">
                    <c:v>Our Fine-Tune†
(small.en)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161.9</c:v>
                </c:pt>
                <c:pt idx="1">
                  <c:v>9.2</c:v>
                </c:pt>
                <c:pt idx="2">
                  <c:v>82.9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8495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849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A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A86"/>
                    </a:solidFill>
                    <a:latin typeface="Arial"/>
                  </a:rPr>
                  <a:t>WER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84957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84957"/>
                </a:solidFill>
                <a:latin typeface="Arial"/>
              </a:rPr>
              <a:t>Simulated Audio (ATCOSIM)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 %</c:v>
                </c:pt>
              </c:strCache>
            </c:strRef>
          </c:tx>
          <c:spPr>
            <a:solidFill>
              <a:srgbClr val="6B7A8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8495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7A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849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(medium.en)</c:v>
                  </c:pt>
                  <c:pt idx="1">
                    <c:v>jacktol
(medium.en-FT)</c:v>
                  </c:pt>
                  <c:pt idx="2">
                    <c:v>Our Fine-Tune†
(small.en)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21.9</c:v>
                </c:pt>
                <c:pt idx="1">
                  <c:v>12.9</c:v>
                </c:pt>
                <c:pt idx="2">
                  <c:v>7.5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8495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849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A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A86"/>
                    </a:solidFill>
                    <a:latin typeface="Arial"/>
                  </a:rPr>
                  <a:t>WER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3.png"/><Relationship Id="rId4" Type="http://schemas.openxmlformats.org/officeDocument/2006/relationships/image" Target="../media/image-11-3.png"/><Relationship Id="rId5" Type="http://schemas.openxmlformats.org/officeDocument/2006/relationships/image" Target="../media/image-11-3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3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ballen-GitHub/10f2e268-ec1d-4d6f-8dc8-6cf2617b3162/scratchpad/pptx_work/bg/title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333D">
              <a:alpha val="5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ATC COMMUNICATION INTELLIGENCE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1284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 and Information Extraction for Aviation Safety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2491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5FD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UPDATE  ·  EDA COMPLETE  ·  MACHINE LEARNING IN PROGRESS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43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5902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Advisor: Dr. Jay Wang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7043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76172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61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261872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Recap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600200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overview &amp; research questions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17043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376172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61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559552" y="1261872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Results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59552" y="1600200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Complete: key findings &amp; data readiness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00884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5008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53312" y="2386584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Pipeline Tooling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724912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been built so far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95144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00884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46320" y="25008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559552" y="2386584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Prototype Findings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559552" y="2724912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vs. domain-adapted vs. our fine-tune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419856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2559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6255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353312" y="351129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ML Work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3849624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efforts still ahead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19856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2559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46320" y="36255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5559552" y="351129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559552" y="3849624"/>
            <a:ext cx="2898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app &amp; overall timeline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 Project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a prototype tool (Streamlit app) that transcribes real ATC audio and extracts structured operational information for pilots and controllers, not just a transcript.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1965960"/>
            <a:ext cx="914400" cy="91440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5" name="Image 0" descr="/tmp/claude-1000/-home-ballen-GitHub/10f2e268-ec1d-4d6f-8dc8-6cf2617b3162/scratchpad/pptx_work/icons/mic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488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ATC Audio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+ simulated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controller/pilot speech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032760" y="1965960"/>
            <a:ext cx="914400" cy="91440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10" name="Image 1" descr="/tmp/claude-1000/-home-ballen-GitHub/10f2e268-ec1d-4d6f-8dc8-6cf2617b3162/scratchpad/pptx_work/icons/robo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640" y="214884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2128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62128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Whisper-family ASR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(baseline, adapted, fine-tuned)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35864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5196840" y="1965960"/>
            <a:ext cx="914400" cy="91440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5" name="Image 2" descr="/tmp/claude-1000/-home-ballen-GitHub/10f2e268-ec1d-4d6f-8dc8-6cf2617b3162/scratchpad/pptx_work/icons/tag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720" y="214884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8536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Info Extraction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78536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Callsigns, commands,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altitudes, headings (NER)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6522720" y="2194560"/>
            <a:ext cx="42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7360920" y="1965960"/>
            <a:ext cx="914400" cy="91440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20" name="Image 3" descr="/tmp/claude-1000/-home-ballen-GitHub/10f2e268-ec1d-4d6f-8dc8-6cf2617b3162/scratchpad/pptx_work/icons/chart-lin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48840"/>
            <a:ext cx="548640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49440" y="29900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Analysis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949440" y="35021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vs. acoustic/linguistic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Questions:   RQ1 ASR accuracy  ·  RQ2 aviation information extraction  ·  RQ3 what drives transcription error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EDA Results: Complete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0642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5" name="Image 0" descr="/tmp/claude-1000/-home-ballen-GitHub/10f2e268-ec1d-4d6f-8dc8-6cf2617b3162/scratchpad/pptx_work/icons/databas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1746504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17,681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Utterances combined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both corpora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6032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954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0" name="Image 1" descr="/tmp/claude-1000/-home-ballen-GitHub/10f2e268-ec1d-4d6f-8dc8-6cf2617b3162/scratchpad/pptx_work/icons/wave-squar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746504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6032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17.9 hrs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67004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ATC audio,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resampled to 16kHz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66344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1266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5" name="Image 2" descr="/tmp/claude-1000/-home-ballen-GitHub/10f2e268-ec1d-4d6f-8dc8-6cf2617b3162/scratchpad/pptx_work/icons/layer-grou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824" y="174650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6344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77316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real (ATC-ASR-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Dataset) + simulated (ATCOSIM)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766560" y="137160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15784" y="1609344"/>
            <a:ext cx="621792" cy="621792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20" name="Image 3" descr="/tmp/claude-1000/-home-ballen-GitHub/10f2e268-ec1d-4d6f-8dc8-6cf2617b3162/scratchpad/pptx_work/icons/clipboard-che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2944" y="1746504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766560" y="230428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6876288" y="2852928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issues: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missing/duplicate rows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ingestion → cleaning → feature-derivation pipeline is reusable (src/preprocessing/) and already exposed as a standalone CLI script (see slide 07).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Key Finding: The Acoustic Domain Gap</a:t>
            </a:r>
            <a:endParaRPr lang="en-US" sz="2800" dirty="0"/>
          </a:p>
        </p:txBody>
      </p:sp>
      <p:pic>
        <p:nvPicPr>
          <p:cNvPr id="3" name="Image 0" descr="/home/ballen/GitHub/UMBC-DATA606-Capstone/res/figures/acoustic_features_by_sour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914400"/>
            <a:ext cx="5760720" cy="31722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23763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ATC audio is measurably narrower-band than simulated audio, the acoustic fingerprint of a VHF radio channel and a domain gap any model must account for.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 Key Finding: Vocabulary &amp; Phraseology</a:t>
            </a:r>
            <a:endParaRPr lang="en-US" sz="2800" dirty="0"/>
          </a:p>
        </p:txBody>
      </p:sp>
      <p:pic>
        <p:nvPicPr>
          <p:cNvPr id="3" name="Image 0" descr="/home/ballen/GitHub/UMBC-DATA606-Capstone/res/figures/wordcloud_by_sour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051560"/>
            <a:ext cx="6035040" cy="25062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068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traffic is lexically richer (nearly 2x the vocabulary type-token ratio) despite fewer total words; simulated ATCOSIM leans on a smaller, more repeated set of scripted phraseology (31.6% vs. 8.2% repeated-transcript rate).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 ML Progress: Pipeline Tooling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so the full data-curation step no longer requires running the EDA notebook end to end.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sx="100000" sy="100000" kx="0" ky="0" algn="bl" rotWithShape="0" blurRad="63500" dist="25400" dir="5400000">
              <a:srgbClr val="1B27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6" name="Image 0" descr="/tmp/claude-1000/-home-ballen-GitHub/10f2e268-ec1d-4d6f-8dc8-6cf2617b3162/scratchpad/pptx_work/icons/cod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288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00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scripts/run_ingest.py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94767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CLI for data curation/ingest, with no notebook memory overhead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086600" y="1764792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086600" y="176479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62432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sx="100000" sy="100000" kx="0" ky="0" algn="bl" rotWithShape="0" blurRad="63500" dist="25400" dir="5400000">
              <a:srgbClr val="1B2733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" y="2807208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13" name="Image 1" descr="/tmp/claude-1000/-home-ballen-GitHub/10f2e268-ec1d-4d6f-8dc8-6cf2617b3162/scratchpad/pptx_work/icons/databas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94436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71600" y="2715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--purge-raw flag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371600" y="3063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post-process purge of large raw downloads to reclaim disk space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086600" y="2880360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086600" y="288036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57200" y="3739896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3F8FC"/>
          </a:solidFill>
          <a:ln/>
          <a:effectLst>
            <a:outerShdw sx="100000" sy="100000" kx="0" ky="0" algn="bl" rotWithShape="0" blurRad="63500" dist="25400" dir="5400000">
              <a:srgbClr val="1B2733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3922776"/>
            <a:ext cx="548640" cy="548640"/>
          </a:xfrm>
          <a:prstGeom prst="ellipse">
            <a:avLst/>
          </a:prstGeom>
          <a:solidFill>
            <a:srgbClr val="384957"/>
          </a:solidFill>
          <a:ln/>
        </p:spPr>
      </p:sp>
      <p:pic>
        <p:nvPicPr>
          <p:cNvPr id="20" name="Image 2" descr="/tmp/claude-1000/-home-ballen-GitHub/10f2e268-ec1d-4d6f-8dc8-6cf2617b3162/scratchpad/pptx_work/icons/rout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05993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71600" y="38313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49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run-pipeline.sh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371600" y="4178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driver meant to orchestrate ingest → train → infer; asks per-stage questions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086600" y="3995928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8A9BA8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7086600" y="399592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READY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 ASR Prototype Results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conditions on the same 100-utterance held-out test set: openai/whisper-medium.en (baseline), jacktol’s fine-tuned medium.en (comparison), and our own whisper-small.en fine-tune.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39319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1508760"/>
          <a:ext cx="39319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251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*Baseline’s real-audio WER is dominated by two runaway-generation (hallucination) outliers (see next slide).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i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†Our Fine-Tune’s figures are approximate: exact WER shifts by a few tenths of a point each time it’s retrained (GPU non-determinism).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 ASR Prototype: Key 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4" name="Image 0" descr="/tmp/claude-1000/-home-ballen-GitHub/10f2e268-ec1d-4d6f-8dc8-6cf2617b3162/scratchpad/pptx_work/icons/scale-unbalanced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0700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15568" y="10515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beats raw size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1115568" y="1417320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small.en fine-tune (244M params, 1,000 training rows) beat the medium.en baseline (769M params) in both domains.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8" name="Image 1" descr="/tmp/claude-1000/-home-ballen-GitHub/10f2e268-ec1d-4d6f-8dc8-6cf2617b3162/scratchpad/pptx_work/icons/triangle-exclamat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207008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21808" y="10515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failure mode, caught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321808" y="1417320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generic baseline repeats itself into a 150-word loop on some real-audio clips, a documented Whisper hallucination pattern, not a bug in our code.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2679192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2" name="Image 2" descr="/tmp/claude-1000/-home-ballen-GitHub/10f2e268-ec1d-4d6f-8dc8-6cf2617b3162/scratchpad/pptx_work/icons/gea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88920"/>
            <a:ext cx="283464" cy="2834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15568" y="263347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engineering lesson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115568" y="299923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batch_size=8 fine-tuning pinned this GPU at 98% VRAM and thrashed; batch_size=4 (same effective batch via gradient accumulation) fixed it.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663440" y="2679192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16" name="Image 3" descr="/tmp/claude-1000/-home-ballen-GitHub/10f2e268-ec1d-4d6f-8dc8-6cf2617b3162/scratchpad/pptx_work/icons/clipboard-che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788920"/>
            <a:ext cx="283464" cy="28346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21808" y="263347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Disclosed, not hidden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5321808" y="299923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jacktol’s real-audio numbers carry an unverified train/test-overlap risk, flagged explicitly rather than presented as a clean win.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 Remaining ML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9446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56032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6" name="Image 0" descr="/tmp/claude-1000/-home-ballen-GitHub/10f2e268-ec1d-4d6f-8dc8-6cf2617b3162/scratchpad/pptx_work/icons/rout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9052" y="16733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Standalone Pipeline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the notebook’s training + evaluation loop into a reusable script, following the same pattern as the data-ingest CLI.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6898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0624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7210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2" name="Image 1" descr="/tmp/claude-1000/-home-ballen-GitHub/10f2e268-ec1d-4d6f-8dc8-6cf2617b3162/scratchpad/pptx_work/icons/tag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67335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614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Information Extraction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345186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an LLM to help curate aviation entity labels (callsigns, commands, altitudes, headings, frequencies), then train a NER model on them.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80760" y="1234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3F8FC"/>
          </a:solidFill>
          <a:ln/>
          <a:effectLst>
            <a:outerShdw sx="100000" sy="100000" kx="0" ky="0" algn="bl" rotWithShape="0" blurRad="76200" dist="25400" dir="5400000">
              <a:srgbClr val="1B2733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18020" y="1508760"/>
            <a:ext cx="731520" cy="731520"/>
          </a:xfrm>
          <a:prstGeom prst="ellipse">
            <a:avLst/>
          </a:prstGeom>
          <a:solidFill>
            <a:srgbClr val="384957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18388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18" name="Image 2" descr="/tmp/claude-1000/-home-ballen-GitHub/10f2e268-ec1d-4d6f-8dc8-6cf2617b3162/scratchpad/pptx_work/icons/gea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612" y="1673352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1792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 Standalone Pipeline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3017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reusable training/evaluation pipeline for the NER model, mirroring the ASR and data-ingest pipelines.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 What’s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ASR and aviation-NER pipelines are complete, the final milestone is a Streamlit prototype for real-time ATC audio analysis.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5" name="Image 0" descr="/tmp/claude-1000/-home-ballen-GitHub/10f2e268-ec1d-4d6f-8dc8-6cf2617b3162/scratchpad/pptx_work/icons/check-circ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26771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0040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645920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93976" y="2103120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pic>
        <p:nvPicPr>
          <p:cNvPr id="9" name="Image 1" descr="/tmp/claude-1000/-home-ballen-GitHub/10f2e268-ec1d-4d6f-8dc8-6cf2617b3162/scratchpad/pptx_work/icons/check-circ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2267712"/>
            <a:ext cx="402336" cy="4023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28216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Prototype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054096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502152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</p:sp>
      <p:pic>
        <p:nvPicPr>
          <p:cNvPr id="13" name="Image 2" descr="/tmp/claude-1000/-home-ballen-GitHub/10f2e268-ec1d-4d6f-8dc8-6cf2617b3162/scratchpad/pptx_work/icons/hourglass-half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267712"/>
            <a:ext cx="402336" cy="4023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136392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Pipeline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462272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</p:sp>
      <p:sp>
        <p:nvSpPr>
          <p:cNvPr id="16" name="Shape 11"/>
          <p:cNvSpPr/>
          <p:nvPr/>
        </p:nvSpPr>
        <p:spPr>
          <a:xfrm>
            <a:off x="4910328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</p:sp>
      <p:pic>
        <p:nvPicPr>
          <p:cNvPr id="17" name="Image 3" descr="/tmp/claude-1000/-home-ballen-GitHub/10f2e268-ec1d-4d6f-8dc8-6cf2617b3162/scratchpad/pptx_work/icons/hourglass-half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267712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44568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NER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870448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6318504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</p:sp>
      <p:pic>
        <p:nvPicPr>
          <p:cNvPr id="21" name="Image 4" descr="/tmp/claude-1000/-home-ballen-GitHub/10f2e268-ec1d-4d6f-8dc8-6cf2617b3162/scratchpad/pptx_work/icons/hourglass-half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2267712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952744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 Pipeline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7278624" y="2468880"/>
            <a:ext cx="219456" cy="0"/>
          </a:xfrm>
          <a:prstGeom prst="line">
            <a:avLst/>
          </a:prstGeom>
          <a:noFill/>
          <a:ln w="25400">
            <a:solidFill>
              <a:srgbClr val="C7D4DB"/>
            </a:solidFill>
            <a:prstDash val="dash"/>
          </a:ln>
        </p:spPr>
      </p:sp>
      <p:sp>
        <p:nvSpPr>
          <p:cNvPr id="24" name="Shape 17"/>
          <p:cNvSpPr/>
          <p:nvPr/>
        </p:nvSpPr>
        <p:spPr>
          <a:xfrm>
            <a:off x="7726680" y="2103120"/>
            <a:ext cx="731520" cy="731520"/>
          </a:xfrm>
          <a:prstGeom prst="ellipse">
            <a:avLst/>
          </a:prstGeom>
          <a:solidFill>
            <a:srgbClr val="B9C6CE"/>
          </a:solidFill>
          <a:ln/>
        </p:spPr>
      </p:sp>
      <p:pic>
        <p:nvPicPr>
          <p:cNvPr id="25" name="Image 5" descr="/tmp/claude-1000/-home-ballen-GitHub/10f2e268-ec1d-4d6f-8dc8-6cf2617b3162/scratchpad/pptx_work/icons/desktop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72" y="2267712"/>
            <a:ext cx="402336" cy="40233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60920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App</a:t>
            </a:r>
            <a:endParaRPr lang="en-US" sz="105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84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ahead: ASR pipeline → LLM-assisted entity labeling + NER training → NER pipeline → Streamlit integration &amp; demo.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47960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8595360" y="47960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73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ballen-GitHub/10f2e268-ec1d-4d6f-8dc8-6cf2617b3162/scratchpad/pptx_work/bg/thanks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333D">
              <a:alpha val="6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0" y="19202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697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B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0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Brett Allen  |  DATA 606 Capstone Progress Update  |  UMBC, Fall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2026-10-01T12:28:57Z</dcterms:created>
  <dcterms:modified xsi:type="dcterms:W3CDTF">2026-10-01T12:28:57Z</dcterms:modified>
</cp:coreProperties>
</file>