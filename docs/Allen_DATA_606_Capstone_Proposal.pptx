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9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embeddedFontLst>
    <p:embeddedFont>
      <p:font typeface="Alata" panose="020B0604020202020204" charset="0"/>
      <p:regular r:id="rId11"/>
    </p:embeddedFont>
    <p:embeddedFont>
      <p:font typeface="Anaheim" panose="020B0604020202020204" charset="0"/>
      <p:regular r:id="rId12"/>
      <p:bold r:id="rId13"/>
    </p:embeddedFont>
    <p:embeddedFont>
      <p:font typeface="Bebas Neue" panose="020B0606020202050201" pitchFamily="34" charset="0"/>
      <p:regular r:id="rId14"/>
    </p:embeddedFont>
    <p:embeddedFont>
      <p:font typeface="Lexend Deca" panose="020B0604020202020204" charset="0"/>
      <p:regular r:id="rId15"/>
      <p:bold r:id="rId16"/>
    </p:embeddedFont>
    <p:embeddedFont>
      <p:font typeface="Lexend Deca Light" panose="020B0604020202020204" charset="0"/>
      <p:regular r:id="rId17"/>
      <p:bold r:id="rId18"/>
    </p:embeddedFont>
    <p:embeddedFont>
      <p:font typeface="Nunito Light" pitchFamily="2" charset="0"/>
      <p:regular r:id="rId19"/>
    </p:embeddedFont>
    <p:embeddedFont>
      <p:font typeface="PT Sans" panose="020B0503020203020204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61ED30B-C7FA-409A-AEDF-4111B0C5010F}">
  <a:tblStyle styleId="{661ED30B-C7FA-409A-AEDF-4111B0C5010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font" Target="fonts/font13.fntdata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1e122c60b65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1e122c60b65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22d9761671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22d9761671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fa79ffe496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fa79ffe496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fa79ffe496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fa79ffe496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fa79ffe496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fa79ffe496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fa79ffe496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fa79ffe496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fa79ffe496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fa79ffe496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>
            <a:spLocks noGrp="1"/>
          </p:cNvSpPr>
          <p:nvPr>
            <p:ph type="pic" idx="2"/>
          </p:nvPr>
        </p:nvSpPr>
        <p:spPr>
          <a:xfrm>
            <a:off x="-50" y="10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13225" y="2061775"/>
            <a:ext cx="4879500" cy="1920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713225" y="3982375"/>
            <a:ext cx="48795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4048675" y="2574200"/>
            <a:ext cx="4382100" cy="165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title" idx="2" hasCustomPrompt="1"/>
          </p:nvPr>
        </p:nvSpPr>
        <p:spPr>
          <a:xfrm>
            <a:off x="5568025" y="1326225"/>
            <a:ext cx="1343400" cy="1034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3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" name="Google Shape;15;p3"/>
          <p:cNvSpPr txBox="1">
            <a:spLocks noGrp="1"/>
          </p:cNvSpPr>
          <p:nvPr>
            <p:ph type="subTitle" idx="1"/>
          </p:nvPr>
        </p:nvSpPr>
        <p:spPr>
          <a:xfrm>
            <a:off x="4048675" y="4229000"/>
            <a:ext cx="43821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>
            <a:spLocks noGrp="1"/>
          </p:cNvSpPr>
          <p:nvPr>
            <p:ph type="pic" idx="3"/>
          </p:nvPr>
        </p:nvSpPr>
        <p:spPr>
          <a:xfrm>
            <a:off x="0" y="0"/>
            <a:ext cx="33078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720000" y="1215752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pic>
        <p:nvPicPr>
          <p:cNvPr id="20" name="Google Shape;20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8165525" y="4471375"/>
            <a:ext cx="265251" cy="26525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" name="Google Shape;21;p4"/>
          <p:cNvCxnSpPr>
            <a:stCxn id="20" idx="2"/>
          </p:cNvCxnSpPr>
          <p:nvPr/>
        </p:nvCxnSpPr>
        <p:spPr>
          <a:xfrm rot="10800000">
            <a:off x="1925" y="4604000"/>
            <a:ext cx="8163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ubTitle" idx="1"/>
          </p:nvPr>
        </p:nvSpPr>
        <p:spPr>
          <a:xfrm>
            <a:off x="5055284" y="3680199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ubTitle" idx="2"/>
          </p:nvPr>
        </p:nvSpPr>
        <p:spPr>
          <a:xfrm>
            <a:off x="1583300" y="3680199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ubTitle" idx="3"/>
          </p:nvPr>
        </p:nvSpPr>
        <p:spPr>
          <a:xfrm>
            <a:off x="5055275" y="3372175"/>
            <a:ext cx="25056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ubTitle" idx="4"/>
          </p:nvPr>
        </p:nvSpPr>
        <p:spPr>
          <a:xfrm>
            <a:off x="1583075" y="3372175"/>
            <a:ext cx="25056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pic>
        <p:nvPicPr>
          <p:cNvPr id="30" name="Google Shape;30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8656950" y="4338750"/>
            <a:ext cx="265251" cy="26525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" name="Google Shape;31;p6"/>
          <p:cNvCxnSpPr>
            <a:endCxn id="30" idx="2"/>
          </p:cNvCxnSpPr>
          <p:nvPr/>
        </p:nvCxnSpPr>
        <p:spPr>
          <a:xfrm>
            <a:off x="8789575" y="-150"/>
            <a:ext cx="0" cy="4338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4007400" cy="117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subTitle" idx="1"/>
          </p:nvPr>
        </p:nvSpPr>
        <p:spPr>
          <a:xfrm>
            <a:off x="720000" y="1881550"/>
            <a:ext cx="4007400" cy="19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>
            <a:spLocks noGrp="1"/>
          </p:cNvSpPr>
          <p:nvPr>
            <p:ph type="title"/>
          </p:nvPr>
        </p:nvSpPr>
        <p:spPr>
          <a:xfrm>
            <a:off x="713250" y="1288450"/>
            <a:ext cx="7717500" cy="121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7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pic>
        <p:nvPicPr>
          <p:cNvPr id="37" name="Google Shape;37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8158750" y="406875"/>
            <a:ext cx="265251" cy="26525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8" name="Google Shape;38;p8"/>
          <p:cNvCxnSpPr>
            <a:endCxn id="37" idx="2"/>
          </p:cNvCxnSpPr>
          <p:nvPr/>
        </p:nvCxnSpPr>
        <p:spPr>
          <a:xfrm>
            <a:off x="11650" y="539500"/>
            <a:ext cx="8147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 txBox="1">
            <a:spLocks noGrp="1"/>
          </p:cNvSpPr>
          <p:nvPr>
            <p:ph type="title"/>
          </p:nvPr>
        </p:nvSpPr>
        <p:spPr>
          <a:xfrm>
            <a:off x="2135550" y="539500"/>
            <a:ext cx="4872900" cy="146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9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subTitle" idx="1"/>
          </p:nvPr>
        </p:nvSpPr>
        <p:spPr>
          <a:xfrm>
            <a:off x="2135550" y="2166975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>
            <a:spLocks noGrp="1"/>
          </p:cNvSpPr>
          <p:nvPr>
            <p:ph type="pic" idx="2"/>
          </p:nvPr>
        </p:nvSpPr>
        <p:spPr>
          <a:xfrm>
            <a:off x="0" y="3183325"/>
            <a:ext cx="9144000" cy="196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>
            <a:spLocks noGrp="1"/>
          </p:cNvSpPr>
          <p:nvPr>
            <p:ph type="pic" idx="2"/>
          </p:nvPr>
        </p:nvSpPr>
        <p:spPr>
          <a:xfrm>
            <a:off x="0" y="-125"/>
            <a:ext cx="9144000" cy="5304300"/>
          </a:xfrm>
          <a:prstGeom prst="rect">
            <a:avLst/>
          </a:prstGeom>
          <a:noFill/>
          <a:ln>
            <a:noFill/>
          </a:ln>
        </p:spPr>
      </p:sp>
      <p:sp>
        <p:nvSpPr>
          <p:cNvPr id="45" name="Google Shape;45;p10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4347600" cy="10005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26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>
            <a:spLocks noGrp="1"/>
          </p:cNvSpPr>
          <p:nvPr>
            <p:ph type="title" hasCustomPrompt="1"/>
          </p:nvPr>
        </p:nvSpPr>
        <p:spPr>
          <a:xfrm>
            <a:off x="1649550" y="2210775"/>
            <a:ext cx="5844900" cy="169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>
            <a:spLocks noGrp="1"/>
          </p:cNvSpPr>
          <p:nvPr>
            <p:ph type="subTitle" idx="1"/>
          </p:nvPr>
        </p:nvSpPr>
        <p:spPr>
          <a:xfrm>
            <a:off x="1649550" y="4106900"/>
            <a:ext cx="58449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6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subTitle" idx="1"/>
          </p:nvPr>
        </p:nvSpPr>
        <p:spPr>
          <a:xfrm>
            <a:off x="720000" y="2266634"/>
            <a:ext cx="2345100" cy="56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ubTitle" idx="2"/>
          </p:nvPr>
        </p:nvSpPr>
        <p:spPr>
          <a:xfrm>
            <a:off x="720000" y="4042407"/>
            <a:ext cx="2345100" cy="56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subTitle" idx="3"/>
          </p:nvPr>
        </p:nvSpPr>
        <p:spPr>
          <a:xfrm>
            <a:off x="3152504" y="4042378"/>
            <a:ext cx="2345100" cy="56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4"/>
          </p:nvPr>
        </p:nvSpPr>
        <p:spPr>
          <a:xfrm>
            <a:off x="3152504" y="2294299"/>
            <a:ext cx="2345100" cy="56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title" idx="5" hasCustomPrompt="1"/>
          </p:nvPr>
        </p:nvSpPr>
        <p:spPr>
          <a:xfrm>
            <a:off x="720000" y="1342754"/>
            <a:ext cx="701400" cy="553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7" name="Google Shape;57;p13"/>
          <p:cNvSpPr txBox="1">
            <a:spLocks noGrp="1"/>
          </p:cNvSpPr>
          <p:nvPr>
            <p:ph type="title" idx="6" hasCustomPrompt="1"/>
          </p:nvPr>
        </p:nvSpPr>
        <p:spPr>
          <a:xfrm>
            <a:off x="3152504" y="3051447"/>
            <a:ext cx="701400" cy="561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8" name="Google Shape;58;p13"/>
          <p:cNvSpPr txBox="1">
            <a:spLocks noGrp="1"/>
          </p:cNvSpPr>
          <p:nvPr>
            <p:ph type="title" idx="7" hasCustomPrompt="1"/>
          </p:nvPr>
        </p:nvSpPr>
        <p:spPr>
          <a:xfrm>
            <a:off x="720000" y="3051475"/>
            <a:ext cx="701400" cy="561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9" name="Google Shape;59;p13"/>
          <p:cNvSpPr txBox="1">
            <a:spLocks noGrp="1"/>
          </p:cNvSpPr>
          <p:nvPr>
            <p:ph type="title" idx="8" hasCustomPrompt="1"/>
          </p:nvPr>
        </p:nvSpPr>
        <p:spPr>
          <a:xfrm>
            <a:off x="3152504" y="1342746"/>
            <a:ext cx="701400" cy="553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0" name="Google Shape;60;p13"/>
          <p:cNvSpPr txBox="1">
            <a:spLocks noGrp="1"/>
          </p:cNvSpPr>
          <p:nvPr>
            <p:ph type="subTitle" idx="9"/>
          </p:nvPr>
        </p:nvSpPr>
        <p:spPr>
          <a:xfrm>
            <a:off x="720000" y="1952768"/>
            <a:ext cx="23451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subTitle" idx="13"/>
          </p:nvPr>
        </p:nvSpPr>
        <p:spPr>
          <a:xfrm>
            <a:off x="720000" y="3724067"/>
            <a:ext cx="23451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subTitle" idx="14"/>
          </p:nvPr>
        </p:nvSpPr>
        <p:spPr>
          <a:xfrm>
            <a:off x="3152504" y="3724117"/>
            <a:ext cx="23451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15"/>
          </p:nvPr>
        </p:nvSpPr>
        <p:spPr>
          <a:xfrm>
            <a:off x="3152504" y="1976030"/>
            <a:ext cx="23451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4" name="Google Shape;64;p13"/>
          <p:cNvSpPr>
            <a:spLocks noGrp="1"/>
          </p:cNvSpPr>
          <p:nvPr>
            <p:ph type="pic" idx="16"/>
          </p:nvPr>
        </p:nvSpPr>
        <p:spPr>
          <a:xfrm>
            <a:off x="5971900" y="0"/>
            <a:ext cx="3172200" cy="5143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65" name="Google Shape;6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6775" y="539500"/>
            <a:ext cx="265251" cy="26525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6" name="Google Shape;66;p13"/>
          <p:cNvCxnSpPr>
            <a:stCxn id="65" idx="2"/>
          </p:cNvCxnSpPr>
          <p:nvPr/>
        </p:nvCxnSpPr>
        <p:spPr>
          <a:xfrm>
            <a:off x="369400" y="804751"/>
            <a:ext cx="0" cy="4362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>
            <a:spLocks noGrp="1"/>
          </p:cNvSpPr>
          <p:nvPr>
            <p:ph type="title"/>
          </p:nvPr>
        </p:nvSpPr>
        <p:spPr>
          <a:xfrm>
            <a:off x="4406875" y="3489550"/>
            <a:ext cx="4023900" cy="53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subTitle" idx="1"/>
          </p:nvPr>
        </p:nvSpPr>
        <p:spPr>
          <a:xfrm>
            <a:off x="4406875" y="539500"/>
            <a:ext cx="4023900" cy="294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>
            <a:spLocks noGrp="1"/>
          </p:cNvSpPr>
          <p:nvPr>
            <p:ph type="title"/>
          </p:nvPr>
        </p:nvSpPr>
        <p:spPr>
          <a:xfrm>
            <a:off x="720000" y="1491525"/>
            <a:ext cx="2947500" cy="209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5"/>
          <p:cNvSpPr txBox="1">
            <a:spLocks noGrp="1"/>
          </p:cNvSpPr>
          <p:nvPr>
            <p:ph type="subTitle" idx="1"/>
          </p:nvPr>
        </p:nvSpPr>
        <p:spPr>
          <a:xfrm>
            <a:off x="720000" y="3590300"/>
            <a:ext cx="2947500" cy="101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5"/>
          <p:cNvSpPr>
            <a:spLocks noGrp="1"/>
          </p:cNvSpPr>
          <p:nvPr>
            <p:ph type="pic" idx="2"/>
          </p:nvPr>
        </p:nvSpPr>
        <p:spPr>
          <a:xfrm>
            <a:off x="4539871" y="0"/>
            <a:ext cx="46041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>
            <a:spLocks noGrp="1"/>
          </p:cNvSpPr>
          <p:nvPr>
            <p:ph type="title"/>
          </p:nvPr>
        </p:nvSpPr>
        <p:spPr>
          <a:xfrm>
            <a:off x="1166063" y="1988100"/>
            <a:ext cx="2898900" cy="113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6"/>
          <p:cNvSpPr txBox="1">
            <a:spLocks noGrp="1"/>
          </p:cNvSpPr>
          <p:nvPr>
            <p:ph type="subTitle" idx="1"/>
          </p:nvPr>
        </p:nvSpPr>
        <p:spPr>
          <a:xfrm>
            <a:off x="1166063" y="3121800"/>
            <a:ext cx="2898900" cy="10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77" name="Google Shape;77;p16"/>
          <p:cNvCxnSpPr>
            <a:endCxn id="78" idx="2"/>
          </p:cNvCxnSpPr>
          <p:nvPr/>
        </p:nvCxnSpPr>
        <p:spPr>
          <a:xfrm rot="10800000">
            <a:off x="978475" y="539500"/>
            <a:ext cx="8165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8" name="Google Shape;7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713225" y="406875"/>
            <a:ext cx="265251" cy="265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8165525" y="4471375"/>
            <a:ext cx="265251" cy="26525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0" name="Google Shape;80;p16"/>
          <p:cNvCxnSpPr>
            <a:stCxn id="79" idx="2"/>
          </p:cNvCxnSpPr>
          <p:nvPr/>
        </p:nvCxnSpPr>
        <p:spPr>
          <a:xfrm rot="10800000">
            <a:off x="1925" y="4604000"/>
            <a:ext cx="8163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4_2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>
            <a:spLocks noGrp="1"/>
          </p:cNvSpPr>
          <p:nvPr>
            <p:ph type="title"/>
          </p:nvPr>
        </p:nvSpPr>
        <p:spPr>
          <a:xfrm>
            <a:off x="1702163" y="1988100"/>
            <a:ext cx="2898900" cy="116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7"/>
          <p:cNvSpPr txBox="1">
            <a:spLocks noGrp="1"/>
          </p:cNvSpPr>
          <p:nvPr>
            <p:ph type="subTitle" idx="1"/>
          </p:nvPr>
        </p:nvSpPr>
        <p:spPr>
          <a:xfrm>
            <a:off x="1702163" y="3154150"/>
            <a:ext cx="2898900" cy="98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84" name="Google Shape;84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8656950" y="4338750"/>
            <a:ext cx="265251" cy="26525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5" name="Google Shape;85;p17"/>
          <p:cNvCxnSpPr>
            <a:endCxn id="84" idx="2"/>
          </p:cNvCxnSpPr>
          <p:nvPr/>
        </p:nvCxnSpPr>
        <p:spPr>
          <a:xfrm>
            <a:off x="8789575" y="-150"/>
            <a:ext cx="0" cy="4338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6" name="Google Shape;86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6775" y="539500"/>
            <a:ext cx="265251" cy="26525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7" name="Google Shape;87;p17"/>
          <p:cNvCxnSpPr>
            <a:stCxn id="86" idx="2"/>
          </p:cNvCxnSpPr>
          <p:nvPr/>
        </p:nvCxnSpPr>
        <p:spPr>
          <a:xfrm>
            <a:off x="369400" y="804751"/>
            <a:ext cx="0" cy="4362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4_1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>
            <a:spLocks noGrp="1"/>
          </p:cNvSpPr>
          <p:nvPr>
            <p:ph type="title"/>
          </p:nvPr>
        </p:nvSpPr>
        <p:spPr>
          <a:xfrm>
            <a:off x="4967775" y="1988100"/>
            <a:ext cx="2898900" cy="113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8"/>
          <p:cNvSpPr txBox="1">
            <a:spLocks noGrp="1"/>
          </p:cNvSpPr>
          <p:nvPr>
            <p:ph type="subTitle" idx="1"/>
          </p:nvPr>
        </p:nvSpPr>
        <p:spPr>
          <a:xfrm>
            <a:off x="4967925" y="3121800"/>
            <a:ext cx="2898900" cy="10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91" name="Google Shape;91;p18"/>
          <p:cNvCxnSpPr>
            <a:endCxn id="92" idx="2"/>
          </p:cNvCxnSpPr>
          <p:nvPr/>
        </p:nvCxnSpPr>
        <p:spPr>
          <a:xfrm>
            <a:off x="1925" y="539500"/>
            <a:ext cx="8165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2" name="Google Shape;92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 flipH="1">
            <a:off x="8167025" y="406875"/>
            <a:ext cx="265251" cy="265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 flipH="1">
            <a:off x="714725" y="4471375"/>
            <a:ext cx="265251" cy="26525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4" name="Google Shape;94;p18"/>
          <p:cNvCxnSpPr>
            <a:stCxn id="93" idx="2"/>
          </p:cNvCxnSpPr>
          <p:nvPr/>
        </p:nvCxnSpPr>
        <p:spPr>
          <a:xfrm>
            <a:off x="979975" y="4604000"/>
            <a:ext cx="8163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9"/>
          <p:cNvSpPr txBox="1">
            <a:spLocks noGrp="1"/>
          </p:cNvSpPr>
          <p:nvPr>
            <p:ph type="subTitle" idx="1"/>
          </p:nvPr>
        </p:nvSpPr>
        <p:spPr>
          <a:xfrm>
            <a:off x="4923249" y="3133051"/>
            <a:ext cx="2505600" cy="120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9"/>
          <p:cNvSpPr txBox="1">
            <a:spLocks noGrp="1"/>
          </p:cNvSpPr>
          <p:nvPr>
            <p:ph type="subTitle" idx="2"/>
          </p:nvPr>
        </p:nvSpPr>
        <p:spPr>
          <a:xfrm>
            <a:off x="1715375" y="3133051"/>
            <a:ext cx="2505600" cy="120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9"/>
          <p:cNvSpPr txBox="1">
            <a:spLocks noGrp="1"/>
          </p:cNvSpPr>
          <p:nvPr>
            <p:ph type="subTitle" idx="3"/>
          </p:nvPr>
        </p:nvSpPr>
        <p:spPr>
          <a:xfrm>
            <a:off x="1715375" y="2645425"/>
            <a:ext cx="25056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00" name="Google Shape;100;p19"/>
          <p:cNvSpPr txBox="1">
            <a:spLocks noGrp="1"/>
          </p:cNvSpPr>
          <p:nvPr>
            <p:ph type="subTitle" idx="4"/>
          </p:nvPr>
        </p:nvSpPr>
        <p:spPr>
          <a:xfrm>
            <a:off x="4923250" y="2645425"/>
            <a:ext cx="25056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pic>
        <p:nvPicPr>
          <p:cNvPr id="101" name="Google Shape;101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6775" y="539500"/>
            <a:ext cx="265251" cy="26525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2" name="Google Shape;102;p19"/>
          <p:cNvCxnSpPr>
            <a:stCxn id="101" idx="2"/>
          </p:cNvCxnSpPr>
          <p:nvPr/>
        </p:nvCxnSpPr>
        <p:spPr>
          <a:xfrm>
            <a:off x="369400" y="804751"/>
            <a:ext cx="0" cy="4362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3" name="Google Shape;103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8656950" y="4338750"/>
            <a:ext cx="265251" cy="26525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4" name="Google Shape;104;p19"/>
          <p:cNvCxnSpPr>
            <a:endCxn id="103" idx="2"/>
          </p:cNvCxnSpPr>
          <p:nvPr/>
        </p:nvCxnSpPr>
        <p:spPr>
          <a:xfrm>
            <a:off x="8789575" y="-150"/>
            <a:ext cx="0" cy="4338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20"/>
          <p:cNvSpPr txBox="1">
            <a:spLocks noGrp="1"/>
          </p:cNvSpPr>
          <p:nvPr>
            <p:ph type="subTitle" idx="1"/>
          </p:nvPr>
        </p:nvSpPr>
        <p:spPr>
          <a:xfrm>
            <a:off x="4298852" y="1444025"/>
            <a:ext cx="3316200" cy="266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0"/>
          <p:cNvSpPr txBox="1">
            <a:spLocks noGrp="1"/>
          </p:cNvSpPr>
          <p:nvPr>
            <p:ph type="subTitle" idx="2"/>
          </p:nvPr>
        </p:nvSpPr>
        <p:spPr>
          <a:xfrm>
            <a:off x="720000" y="1444025"/>
            <a:ext cx="3316200" cy="266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09" name="Google Shape;109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8158750" y="4471375"/>
            <a:ext cx="265251" cy="26525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0" name="Google Shape;110;p20"/>
          <p:cNvCxnSpPr>
            <a:endCxn id="109" idx="2"/>
          </p:cNvCxnSpPr>
          <p:nvPr/>
        </p:nvCxnSpPr>
        <p:spPr>
          <a:xfrm>
            <a:off x="11650" y="4604000"/>
            <a:ext cx="8147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21"/>
          <p:cNvSpPr txBox="1">
            <a:spLocks noGrp="1"/>
          </p:cNvSpPr>
          <p:nvPr>
            <p:ph type="subTitle" idx="1"/>
          </p:nvPr>
        </p:nvSpPr>
        <p:spPr>
          <a:xfrm>
            <a:off x="720001" y="3017801"/>
            <a:ext cx="23388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21"/>
          <p:cNvSpPr txBox="1">
            <a:spLocks noGrp="1"/>
          </p:cNvSpPr>
          <p:nvPr>
            <p:ph type="subTitle" idx="2"/>
          </p:nvPr>
        </p:nvSpPr>
        <p:spPr>
          <a:xfrm>
            <a:off x="3402596" y="3017801"/>
            <a:ext cx="23388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1"/>
          <p:cNvSpPr txBox="1">
            <a:spLocks noGrp="1"/>
          </p:cNvSpPr>
          <p:nvPr>
            <p:ph type="subTitle" idx="3"/>
          </p:nvPr>
        </p:nvSpPr>
        <p:spPr>
          <a:xfrm>
            <a:off x="6085198" y="3017801"/>
            <a:ext cx="23388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21"/>
          <p:cNvSpPr txBox="1">
            <a:spLocks noGrp="1"/>
          </p:cNvSpPr>
          <p:nvPr>
            <p:ph type="subTitle" idx="4"/>
          </p:nvPr>
        </p:nvSpPr>
        <p:spPr>
          <a:xfrm>
            <a:off x="720000" y="2563225"/>
            <a:ext cx="23388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7" name="Google Shape;117;p21"/>
          <p:cNvSpPr txBox="1">
            <a:spLocks noGrp="1"/>
          </p:cNvSpPr>
          <p:nvPr>
            <p:ph type="subTitle" idx="5"/>
          </p:nvPr>
        </p:nvSpPr>
        <p:spPr>
          <a:xfrm>
            <a:off x="3402600" y="2563225"/>
            <a:ext cx="23388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8" name="Google Shape;118;p21"/>
          <p:cNvSpPr txBox="1">
            <a:spLocks noGrp="1"/>
          </p:cNvSpPr>
          <p:nvPr>
            <p:ph type="subTitle" idx="6"/>
          </p:nvPr>
        </p:nvSpPr>
        <p:spPr>
          <a:xfrm>
            <a:off x="6085199" y="2563225"/>
            <a:ext cx="23388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pic>
        <p:nvPicPr>
          <p:cNvPr id="119" name="Google Shape;119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8158750" y="4471375"/>
            <a:ext cx="265251" cy="26525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0" name="Google Shape;120;p21"/>
          <p:cNvCxnSpPr>
            <a:endCxn id="119" idx="2"/>
          </p:cNvCxnSpPr>
          <p:nvPr/>
        </p:nvCxnSpPr>
        <p:spPr>
          <a:xfrm>
            <a:off x="11650" y="4604000"/>
            <a:ext cx="8147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2"/>
          <p:cNvSpPr txBox="1">
            <a:spLocks noGrp="1"/>
          </p:cNvSpPr>
          <p:nvPr>
            <p:ph type="subTitle" idx="1"/>
          </p:nvPr>
        </p:nvSpPr>
        <p:spPr>
          <a:xfrm>
            <a:off x="1481700" y="1971400"/>
            <a:ext cx="20166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2"/>
          <p:cNvSpPr txBox="1">
            <a:spLocks noGrp="1"/>
          </p:cNvSpPr>
          <p:nvPr>
            <p:ph type="subTitle" idx="2"/>
          </p:nvPr>
        </p:nvSpPr>
        <p:spPr>
          <a:xfrm>
            <a:off x="4752428" y="1971400"/>
            <a:ext cx="20166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22"/>
          <p:cNvSpPr txBox="1">
            <a:spLocks noGrp="1"/>
          </p:cNvSpPr>
          <p:nvPr>
            <p:ph type="subTitle" idx="3"/>
          </p:nvPr>
        </p:nvSpPr>
        <p:spPr>
          <a:xfrm>
            <a:off x="1481700" y="3589525"/>
            <a:ext cx="20166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22"/>
          <p:cNvSpPr txBox="1">
            <a:spLocks noGrp="1"/>
          </p:cNvSpPr>
          <p:nvPr>
            <p:ph type="subTitle" idx="4"/>
          </p:nvPr>
        </p:nvSpPr>
        <p:spPr>
          <a:xfrm>
            <a:off x="4752428" y="3589525"/>
            <a:ext cx="20166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22"/>
          <p:cNvSpPr txBox="1">
            <a:spLocks noGrp="1"/>
          </p:cNvSpPr>
          <p:nvPr>
            <p:ph type="subTitle" idx="5"/>
          </p:nvPr>
        </p:nvSpPr>
        <p:spPr>
          <a:xfrm>
            <a:off x="1481700" y="1559550"/>
            <a:ext cx="20166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28" name="Google Shape;128;p22"/>
          <p:cNvSpPr txBox="1">
            <a:spLocks noGrp="1"/>
          </p:cNvSpPr>
          <p:nvPr>
            <p:ph type="subTitle" idx="6"/>
          </p:nvPr>
        </p:nvSpPr>
        <p:spPr>
          <a:xfrm>
            <a:off x="1481700" y="3177600"/>
            <a:ext cx="20166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29" name="Google Shape;129;p22"/>
          <p:cNvSpPr txBox="1">
            <a:spLocks noGrp="1"/>
          </p:cNvSpPr>
          <p:nvPr>
            <p:ph type="subTitle" idx="7"/>
          </p:nvPr>
        </p:nvSpPr>
        <p:spPr>
          <a:xfrm>
            <a:off x="4752424" y="1559550"/>
            <a:ext cx="20166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30" name="Google Shape;130;p22"/>
          <p:cNvSpPr txBox="1">
            <a:spLocks noGrp="1"/>
          </p:cNvSpPr>
          <p:nvPr>
            <p:ph type="subTitle" idx="8"/>
          </p:nvPr>
        </p:nvSpPr>
        <p:spPr>
          <a:xfrm>
            <a:off x="4752424" y="3177600"/>
            <a:ext cx="20166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pic>
        <p:nvPicPr>
          <p:cNvPr id="131" name="Google Shape;131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656950" y="539500"/>
            <a:ext cx="265251" cy="26525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2" name="Google Shape;132;p22"/>
          <p:cNvCxnSpPr>
            <a:stCxn id="131" idx="2"/>
          </p:cNvCxnSpPr>
          <p:nvPr/>
        </p:nvCxnSpPr>
        <p:spPr>
          <a:xfrm>
            <a:off x="8789575" y="804751"/>
            <a:ext cx="0" cy="4362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23"/>
          <p:cNvSpPr txBox="1">
            <a:spLocks noGrp="1"/>
          </p:cNvSpPr>
          <p:nvPr>
            <p:ph type="subTitle" idx="1"/>
          </p:nvPr>
        </p:nvSpPr>
        <p:spPr>
          <a:xfrm>
            <a:off x="714886" y="1906316"/>
            <a:ext cx="21876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23"/>
          <p:cNvSpPr txBox="1">
            <a:spLocks noGrp="1"/>
          </p:cNvSpPr>
          <p:nvPr>
            <p:ph type="subTitle" idx="2"/>
          </p:nvPr>
        </p:nvSpPr>
        <p:spPr>
          <a:xfrm>
            <a:off x="3477686" y="1906316"/>
            <a:ext cx="21876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23"/>
          <p:cNvSpPr txBox="1">
            <a:spLocks noGrp="1"/>
          </p:cNvSpPr>
          <p:nvPr>
            <p:ph type="subTitle" idx="3"/>
          </p:nvPr>
        </p:nvSpPr>
        <p:spPr>
          <a:xfrm>
            <a:off x="714886" y="3492100"/>
            <a:ext cx="21876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23"/>
          <p:cNvSpPr txBox="1">
            <a:spLocks noGrp="1"/>
          </p:cNvSpPr>
          <p:nvPr>
            <p:ph type="subTitle" idx="4"/>
          </p:nvPr>
        </p:nvSpPr>
        <p:spPr>
          <a:xfrm>
            <a:off x="3477686" y="3492100"/>
            <a:ext cx="21876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23"/>
          <p:cNvSpPr txBox="1">
            <a:spLocks noGrp="1"/>
          </p:cNvSpPr>
          <p:nvPr>
            <p:ph type="subTitle" idx="5"/>
          </p:nvPr>
        </p:nvSpPr>
        <p:spPr>
          <a:xfrm>
            <a:off x="6241836" y="1906316"/>
            <a:ext cx="21876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23"/>
          <p:cNvSpPr txBox="1">
            <a:spLocks noGrp="1"/>
          </p:cNvSpPr>
          <p:nvPr>
            <p:ph type="subTitle" idx="6"/>
          </p:nvPr>
        </p:nvSpPr>
        <p:spPr>
          <a:xfrm>
            <a:off x="6241836" y="3492100"/>
            <a:ext cx="21876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23"/>
          <p:cNvSpPr txBox="1">
            <a:spLocks noGrp="1"/>
          </p:cNvSpPr>
          <p:nvPr>
            <p:ph type="subTitle" idx="7"/>
          </p:nvPr>
        </p:nvSpPr>
        <p:spPr>
          <a:xfrm>
            <a:off x="713225" y="1644825"/>
            <a:ext cx="21906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42" name="Google Shape;142;p23"/>
          <p:cNvSpPr txBox="1">
            <a:spLocks noGrp="1"/>
          </p:cNvSpPr>
          <p:nvPr>
            <p:ph type="subTitle" idx="8"/>
          </p:nvPr>
        </p:nvSpPr>
        <p:spPr>
          <a:xfrm>
            <a:off x="3476025" y="1644825"/>
            <a:ext cx="21906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43" name="Google Shape;143;p23"/>
          <p:cNvSpPr txBox="1">
            <a:spLocks noGrp="1"/>
          </p:cNvSpPr>
          <p:nvPr>
            <p:ph type="subTitle" idx="9"/>
          </p:nvPr>
        </p:nvSpPr>
        <p:spPr>
          <a:xfrm>
            <a:off x="6240175" y="1644825"/>
            <a:ext cx="21906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44" name="Google Shape;144;p23"/>
          <p:cNvSpPr txBox="1">
            <a:spLocks noGrp="1"/>
          </p:cNvSpPr>
          <p:nvPr>
            <p:ph type="subTitle" idx="13"/>
          </p:nvPr>
        </p:nvSpPr>
        <p:spPr>
          <a:xfrm>
            <a:off x="713225" y="3229471"/>
            <a:ext cx="21906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45" name="Google Shape;145;p23"/>
          <p:cNvSpPr txBox="1">
            <a:spLocks noGrp="1"/>
          </p:cNvSpPr>
          <p:nvPr>
            <p:ph type="subTitle" idx="14"/>
          </p:nvPr>
        </p:nvSpPr>
        <p:spPr>
          <a:xfrm>
            <a:off x="3476025" y="3229471"/>
            <a:ext cx="21906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46" name="Google Shape;146;p23"/>
          <p:cNvSpPr txBox="1">
            <a:spLocks noGrp="1"/>
          </p:cNvSpPr>
          <p:nvPr>
            <p:ph type="subTitle" idx="15"/>
          </p:nvPr>
        </p:nvSpPr>
        <p:spPr>
          <a:xfrm>
            <a:off x="6240175" y="3229471"/>
            <a:ext cx="21906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cxnSp>
        <p:nvCxnSpPr>
          <p:cNvPr id="147" name="Google Shape;147;p23"/>
          <p:cNvCxnSpPr>
            <a:endCxn id="148" idx="2"/>
          </p:cNvCxnSpPr>
          <p:nvPr/>
        </p:nvCxnSpPr>
        <p:spPr>
          <a:xfrm rot="10800000">
            <a:off x="978475" y="4604000"/>
            <a:ext cx="8165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48" name="Google Shape;148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713225" y="4471375"/>
            <a:ext cx="265251" cy="265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ive columns ">
  <p:cSld name="CUSTOM_7_1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24"/>
          <p:cNvSpPr txBox="1">
            <a:spLocks noGrp="1"/>
          </p:cNvSpPr>
          <p:nvPr>
            <p:ph type="subTitle" idx="1"/>
          </p:nvPr>
        </p:nvSpPr>
        <p:spPr>
          <a:xfrm>
            <a:off x="2285187" y="2239126"/>
            <a:ext cx="2038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24"/>
          <p:cNvSpPr txBox="1">
            <a:spLocks noGrp="1"/>
          </p:cNvSpPr>
          <p:nvPr>
            <p:ph type="subTitle" idx="2"/>
          </p:nvPr>
        </p:nvSpPr>
        <p:spPr>
          <a:xfrm>
            <a:off x="4820324" y="2239126"/>
            <a:ext cx="2038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24"/>
          <p:cNvSpPr txBox="1">
            <a:spLocks noGrp="1"/>
          </p:cNvSpPr>
          <p:nvPr>
            <p:ph type="subTitle" idx="3"/>
          </p:nvPr>
        </p:nvSpPr>
        <p:spPr>
          <a:xfrm>
            <a:off x="1017612" y="4031700"/>
            <a:ext cx="2038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24"/>
          <p:cNvSpPr txBox="1">
            <a:spLocks noGrp="1"/>
          </p:cNvSpPr>
          <p:nvPr>
            <p:ph type="subTitle" idx="4"/>
          </p:nvPr>
        </p:nvSpPr>
        <p:spPr>
          <a:xfrm>
            <a:off x="3552749" y="4031700"/>
            <a:ext cx="2038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24"/>
          <p:cNvSpPr txBox="1">
            <a:spLocks noGrp="1"/>
          </p:cNvSpPr>
          <p:nvPr>
            <p:ph type="subTitle" idx="5"/>
          </p:nvPr>
        </p:nvSpPr>
        <p:spPr>
          <a:xfrm>
            <a:off x="6087886" y="4031700"/>
            <a:ext cx="2038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24"/>
          <p:cNvSpPr txBox="1">
            <a:spLocks noGrp="1"/>
          </p:cNvSpPr>
          <p:nvPr>
            <p:ph type="subTitle" idx="6"/>
          </p:nvPr>
        </p:nvSpPr>
        <p:spPr>
          <a:xfrm>
            <a:off x="2289185" y="1791325"/>
            <a:ext cx="2030400" cy="52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57" name="Google Shape;157;p24"/>
          <p:cNvSpPr txBox="1">
            <a:spLocks noGrp="1"/>
          </p:cNvSpPr>
          <p:nvPr>
            <p:ph type="subTitle" idx="7"/>
          </p:nvPr>
        </p:nvSpPr>
        <p:spPr>
          <a:xfrm>
            <a:off x="4824325" y="1791325"/>
            <a:ext cx="2030400" cy="52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58" name="Google Shape;158;p24"/>
          <p:cNvSpPr txBox="1">
            <a:spLocks noGrp="1"/>
          </p:cNvSpPr>
          <p:nvPr>
            <p:ph type="subTitle" idx="8"/>
          </p:nvPr>
        </p:nvSpPr>
        <p:spPr>
          <a:xfrm>
            <a:off x="1021610" y="3583794"/>
            <a:ext cx="2030400" cy="52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59" name="Google Shape;159;p24"/>
          <p:cNvSpPr txBox="1">
            <a:spLocks noGrp="1"/>
          </p:cNvSpPr>
          <p:nvPr>
            <p:ph type="subTitle" idx="9"/>
          </p:nvPr>
        </p:nvSpPr>
        <p:spPr>
          <a:xfrm>
            <a:off x="3556751" y="3583794"/>
            <a:ext cx="2030400" cy="52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60" name="Google Shape;160;p24"/>
          <p:cNvSpPr txBox="1">
            <a:spLocks noGrp="1"/>
          </p:cNvSpPr>
          <p:nvPr>
            <p:ph type="subTitle" idx="13"/>
          </p:nvPr>
        </p:nvSpPr>
        <p:spPr>
          <a:xfrm>
            <a:off x="6091891" y="3583794"/>
            <a:ext cx="2030400" cy="52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pic>
        <p:nvPicPr>
          <p:cNvPr id="161" name="Google Shape;161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6775" y="539500"/>
            <a:ext cx="265251" cy="26525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2" name="Google Shape;162;p24"/>
          <p:cNvCxnSpPr>
            <a:stCxn id="161" idx="2"/>
          </p:cNvCxnSpPr>
          <p:nvPr/>
        </p:nvCxnSpPr>
        <p:spPr>
          <a:xfrm>
            <a:off x="369400" y="804751"/>
            <a:ext cx="0" cy="4362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63" name="Google Shape;163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8656950" y="4338750"/>
            <a:ext cx="265251" cy="26525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4" name="Google Shape;164;p24"/>
          <p:cNvCxnSpPr>
            <a:endCxn id="163" idx="2"/>
          </p:cNvCxnSpPr>
          <p:nvPr/>
        </p:nvCxnSpPr>
        <p:spPr>
          <a:xfrm>
            <a:off x="8789575" y="-150"/>
            <a:ext cx="0" cy="4338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5"/>
          <p:cNvSpPr txBox="1">
            <a:spLocks noGrp="1"/>
          </p:cNvSpPr>
          <p:nvPr>
            <p:ph type="title" hasCustomPrompt="1"/>
          </p:nvPr>
        </p:nvSpPr>
        <p:spPr>
          <a:xfrm>
            <a:off x="4474550" y="539500"/>
            <a:ext cx="3956100" cy="822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7" name="Google Shape;167;p25"/>
          <p:cNvSpPr txBox="1">
            <a:spLocks noGrp="1"/>
          </p:cNvSpPr>
          <p:nvPr>
            <p:ph type="subTitle" idx="1"/>
          </p:nvPr>
        </p:nvSpPr>
        <p:spPr>
          <a:xfrm>
            <a:off x="4474550" y="1351275"/>
            <a:ext cx="3956100" cy="37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168" name="Google Shape;168;p25"/>
          <p:cNvSpPr txBox="1">
            <a:spLocks noGrp="1"/>
          </p:cNvSpPr>
          <p:nvPr>
            <p:ph type="title" idx="2" hasCustomPrompt="1"/>
          </p:nvPr>
        </p:nvSpPr>
        <p:spPr>
          <a:xfrm>
            <a:off x="4474550" y="1794910"/>
            <a:ext cx="3956100" cy="822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9" name="Google Shape;169;p25"/>
          <p:cNvSpPr txBox="1">
            <a:spLocks noGrp="1"/>
          </p:cNvSpPr>
          <p:nvPr>
            <p:ph type="subTitle" idx="3"/>
          </p:nvPr>
        </p:nvSpPr>
        <p:spPr>
          <a:xfrm>
            <a:off x="4474550" y="2609187"/>
            <a:ext cx="3956100" cy="37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170" name="Google Shape;170;p25"/>
          <p:cNvSpPr txBox="1">
            <a:spLocks noGrp="1"/>
          </p:cNvSpPr>
          <p:nvPr>
            <p:ph type="title" idx="4" hasCustomPrompt="1"/>
          </p:nvPr>
        </p:nvSpPr>
        <p:spPr>
          <a:xfrm>
            <a:off x="4474550" y="3050296"/>
            <a:ext cx="3956100" cy="822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71" name="Google Shape;171;p25"/>
          <p:cNvSpPr txBox="1">
            <a:spLocks noGrp="1"/>
          </p:cNvSpPr>
          <p:nvPr>
            <p:ph type="subTitle" idx="5"/>
          </p:nvPr>
        </p:nvSpPr>
        <p:spPr>
          <a:xfrm>
            <a:off x="4474550" y="3867125"/>
            <a:ext cx="3956100" cy="37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CUSTOM_8_1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6"/>
          <p:cNvSpPr txBox="1">
            <a:spLocks noGrp="1"/>
          </p:cNvSpPr>
          <p:nvPr>
            <p:ph type="title" hasCustomPrompt="1"/>
          </p:nvPr>
        </p:nvSpPr>
        <p:spPr>
          <a:xfrm>
            <a:off x="1194900" y="1417650"/>
            <a:ext cx="1398900" cy="40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74" name="Google Shape;174;p26"/>
          <p:cNvSpPr txBox="1">
            <a:spLocks noGrp="1"/>
          </p:cNvSpPr>
          <p:nvPr>
            <p:ph type="subTitle" idx="1"/>
          </p:nvPr>
        </p:nvSpPr>
        <p:spPr>
          <a:xfrm>
            <a:off x="720000" y="3844400"/>
            <a:ext cx="2348700" cy="75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175" name="Google Shape;175;p26"/>
          <p:cNvSpPr txBox="1">
            <a:spLocks noGrp="1"/>
          </p:cNvSpPr>
          <p:nvPr>
            <p:ph type="subTitle" idx="2"/>
          </p:nvPr>
        </p:nvSpPr>
        <p:spPr>
          <a:xfrm>
            <a:off x="720000" y="3412325"/>
            <a:ext cx="2348700" cy="44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76" name="Google Shape;176;p26"/>
          <p:cNvSpPr txBox="1">
            <a:spLocks noGrp="1"/>
          </p:cNvSpPr>
          <p:nvPr>
            <p:ph type="title" idx="3" hasCustomPrompt="1"/>
          </p:nvPr>
        </p:nvSpPr>
        <p:spPr>
          <a:xfrm>
            <a:off x="3876825" y="1417650"/>
            <a:ext cx="1397700" cy="40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77" name="Google Shape;177;p26"/>
          <p:cNvSpPr txBox="1">
            <a:spLocks noGrp="1"/>
          </p:cNvSpPr>
          <p:nvPr>
            <p:ph type="subTitle" idx="4"/>
          </p:nvPr>
        </p:nvSpPr>
        <p:spPr>
          <a:xfrm>
            <a:off x="3401036" y="3844400"/>
            <a:ext cx="2348700" cy="75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178" name="Google Shape;178;p26"/>
          <p:cNvSpPr txBox="1">
            <a:spLocks noGrp="1"/>
          </p:cNvSpPr>
          <p:nvPr>
            <p:ph type="subTitle" idx="5"/>
          </p:nvPr>
        </p:nvSpPr>
        <p:spPr>
          <a:xfrm>
            <a:off x="3401036" y="3412325"/>
            <a:ext cx="2348700" cy="44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79" name="Google Shape;179;p26"/>
          <p:cNvSpPr txBox="1">
            <a:spLocks noGrp="1"/>
          </p:cNvSpPr>
          <p:nvPr>
            <p:ph type="title" idx="6" hasCustomPrompt="1"/>
          </p:nvPr>
        </p:nvSpPr>
        <p:spPr>
          <a:xfrm>
            <a:off x="6557575" y="1417650"/>
            <a:ext cx="1397700" cy="40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80" name="Google Shape;180;p26"/>
          <p:cNvSpPr txBox="1">
            <a:spLocks noGrp="1"/>
          </p:cNvSpPr>
          <p:nvPr>
            <p:ph type="subTitle" idx="7"/>
          </p:nvPr>
        </p:nvSpPr>
        <p:spPr>
          <a:xfrm>
            <a:off x="6082071" y="3844400"/>
            <a:ext cx="2348700" cy="75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181" name="Google Shape;181;p26"/>
          <p:cNvSpPr txBox="1">
            <a:spLocks noGrp="1"/>
          </p:cNvSpPr>
          <p:nvPr>
            <p:ph type="subTitle" idx="8"/>
          </p:nvPr>
        </p:nvSpPr>
        <p:spPr>
          <a:xfrm>
            <a:off x="6082071" y="3412325"/>
            <a:ext cx="2348700" cy="44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82" name="Google Shape;182;p26"/>
          <p:cNvSpPr txBox="1">
            <a:spLocks noGrp="1"/>
          </p:cNvSpPr>
          <p:nvPr>
            <p:ph type="title" idx="9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pic>
        <p:nvPicPr>
          <p:cNvPr id="183" name="Google Shape;183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236775" y="4338750"/>
            <a:ext cx="265251" cy="26525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4" name="Google Shape;184;p26"/>
          <p:cNvCxnSpPr>
            <a:endCxn id="183" idx="2"/>
          </p:cNvCxnSpPr>
          <p:nvPr/>
        </p:nvCxnSpPr>
        <p:spPr>
          <a:xfrm>
            <a:off x="369400" y="-150"/>
            <a:ext cx="0" cy="4338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85" name="Google Shape;185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648725" y="539500"/>
            <a:ext cx="265251" cy="26525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6" name="Google Shape;186;p26"/>
          <p:cNvCxnSpPr>
            <a:stCxn id="185" idx="2"/>
          </p:cNvCxnSpPr>
          <p:nvPr/>
        </p:nvCxnSpPr>
        <p:spPr>
          <a:xfrm>
            <a:off x="8781350" y="804751"/>
            <a:ext cx="0" cy="4362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0"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pic>
        <p:nvPicPr>
          <p:cNvPr id="189" name="Google Shape;189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656950" y="539500"/>
            <a:ext cx="265251" cy="26525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0" name="Google Shape;190;p27"/>
          <p:cNvCxnSpPr>
            <a:stCxn id="189" idx="2"/>
          </p:cNvCxnSpPr>
          <p:nvPr/>
        </p:nvCxnSpPr>
        <p:spPr>
          <a:xfrm>
            <a:off x="8789575" y="804751"/>
            <a:ext cx="0" cy="4342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91" name="Google Shape;191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236775" y="4338750"/>
            <a:ext cx="265251" cy="26525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2" name="Google Shape;192;p27"/>
          <p:cNvCxnSpPr>
            <a:stCxn id="191" idx="2"/>
          </p:cNvCxnSpPr>
          <p:nvPr/>
        </p:nvCxnSpPr>
        <p:spPr>
          <a:xfrm rot="10800000">
            <a:off x="369400" y="-5850"/>
            <a:ext cx="0" cy="4344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2"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cxnSp>
        <p:nvCxnSpPr>
          <p:cNvPr id="195" name="Google Shape;195;p28"/>
          <p:cNvCxnSpPr>
            <a:endCxn id="196" idx="2"/>
          </p:cNvCxnSpPr>
          <p:nvPr/>
        </p:nvCxnSpPr>
        <p:spPr>
          <a:xfrm>
            <a:off x="1950" y="4604000"/>
            <a:ext cx="8296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96" name="Google Shape;196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8298150" y="4471375"/>
            <a:ext cx="265251" cy="265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13"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pic>
        <p:nvPicPr>
          <p:cNvPr id="199" name="Google Shape;199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236775" y="539500"/>
            <a:ext cx="265251" cy="26525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0" name="Google Shape;200;p29"/>
          <p:cNvCxnSpPr>
            <a:stCxn id="199" idx="2"/>
          </p:cNvCxnSpPr>
          <p:nvPr/>
        </p:nvCxnSpPr>
        <p:spPr>
          <a:xfrm>
            <a:off x="369400" y="804751"/>
            <a:ext cx="0" cy="4342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01" name="Google Shape;201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8656950" y="4338750"/>
            <a:ext cx="265251" cy="26525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2" name="Google Shape;202;p29"/>
          <p:cNvCxnSpPr>
            <a:stCxn id="201" idx="2"/>
          </p:cNvCxnSpPr>
          <p:nvPr/>
        </p:nvCxnSpPr>
        <p:spPr>
          <a:xfrm rot="10800000">
            <a:off x="8789575" y="-5850"/>
            <a:ext cx="0" cy="4344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0"/>
          <p:cNvSpPr txBox="1">
            <a:spLocks noGrp="1"/>
          </p:cNvSpPr>
          <p:nvPr>
            <p:ph type="title"/>
          </p:nvPr>
        </p:nvSpPr>
        <p:spPr>
          <a:xfrm>
            <a:off x="713225" y="54000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7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05" name="Google Shape;205;p30"/>
          <p:cNvSpPr txBox="1">
            <a:spLocks noGrp="1"/>
          </p:cNvSpPr>
          <p:nvPr>
            <p:ph type="subTitle" idx="1"/>
          </p:nvPr>
        </p:nvSpPr>
        <p:spPr>
          <a:xfrm>
            <a:off x="713225" y="167615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6" name="Google Shape;206;p30"/>
          <p:cNvSpPr txBox="1"/>
          <p:nvPr/>
        </p:nvSpPr>
        <p:spPr>
          <a:xfrm>
            <a:off x="713225" y="3643050"/>
            <a:ext cx="3837600" cy="7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CREDITS:</a:t>
            </a:r>
            <a:r>
              <a:rPr lang="en" sz="120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 This presentation template was created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Lexend Deca"/>
                <a:ea typeface="Lexend Deca"/>
                <a:cs typeface="Lexend Deca"/>
                <a:sym typeface="Lexend Dec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, and includes icons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Lexend Deca"/>
                <a:ea typeface="Lexend Deca"/>
                <a:cs typeface="Lexend Deca"/>
                <a:sym typeface="Lexend Dec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, and infographics &amp; images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Lexend Deca"/>
                <a:ea typeface="Lexend Deca"/>
                <a:cs typeface="Lexend Deca"/>
                <a:sym typeface="Lexend Deca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 </a:t>
            </a:r>
            <a:endParaRPr sz="1200" b="1">
              <a:solidFill>
                <a:schemeClr val="dk1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80600" y="539500"/>
            <a:ext cx="265251" cy="26525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9" name="Google Shape;209;p31"/>
          <p:cNvCxnSpPr>
            <a:stCxn id="208" idx="2"/>
            <a:endCxn id="210" idx="2"/>
          </p:cNvCxnSpPr>
          <p:nvPr/>
        </p:nvCxnSpPr>
        <p:spPr>
          <a:xfrm>
            <a:off x="713225" y="804751"/>
            <a:ext cx="0" cy="3534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10" name="Google Shape;210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580600" y="4338750"/>
            <a:ext cx="265251" cy="265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298150" y="539500"/>
            <a:ext cx="265251" cy="26525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2" name="Google Shape;212;p31"/>
          <p:cNvCxnSpPr>
            <a:stCxn id="211" idx="2"/>
            <a:endCxn id="213" idx="2"/>
          </p:cNvCxnSpPr>
          <p:nvPr/>
        </p:nvCxnSpPr>
        <p:spPr>
          <a:xfrm>
            <a:off x="8430775" y="804751"/>
            <a:ext cx="0" cy="3534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13" name="Google Shape;213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8298150" y="4338750"/>
            <a:ext cx="265251" cy="265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580600" y="406875"/>
            <a:ext cx="265251" cy="26525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6" name="Google Shape;216;p32"/>
          <p:cNvCxnSpPr>
            <a:stCxn id="215" idx="2"/>
            <a:endCxn id="217" idx="2"/>
          </p:cNvCxnSpPr>
          <p:nvPr/>
        </p:nvCxnSpPr>
        <p:spPr>
          <a:xfrm>
            <a:off x="845851" y="539500"/>
            <a:ext cx="7452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17" name="Google Shape;217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8298150" y="406875"/>
            <a:ext cx="265251" cy="265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580600" y="4471375"/>
            <a:ext cx="265251" cy="26525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9" name="Google Shape;219;p32"/>
          <p:cNvCxnSpPr>
            <a:stCxn id="218" idx="2"/>
            <a:endCxn id="220" idx="2"/>
          </p:cNvCxnSpPr>
          <p:nvPr/>
        </p:nvCxnSpPr>
        <p:spPr>
          <a:xfrm>
            <a:off x="845851" y="4604000"/>
            <a:ext cx="7452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20" name="Google Shape;220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8298150" y="4471375"/>
            <a:ext cx="265251" cy="265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lata"/>
              <a:buNone/>
              <a:defRPr sz="32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Deca Light"/>
              <a:buChar char="●"/>
              <a:defRPr>
                <a:solidFill>
                  <a:schemeClr val="dk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Deca Light"/>
              <a:buChar char="○"/>
              <a:defRPr>
                <a:solidFill>
                  <a:schemeClr val="dk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Deca Light"/>
              <a:buChar char="■"/>
              <a:defRPr>
                <a:solidFill>
                  <a:schemeClr val="dk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Deca Light"/>
              <a:buChar char="●"/>
              <a:defRPr>
                <a:solidFill>
                  <a:schemeClr val="dk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Deca Light"/>
              <a:buChar char="○"/>
              <a:defRPr>
                <a:solidFill>
                  <a:schemeClr val="dk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Deca Light"/>
              <a:buChar char="■"/>
              <a:defRPr>
                <a:solidFill>
                  <a:schemeClr val="dk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Deca Light"/>
              <a:buChar char="●"/>
              <a:defRPr>
                <a:solidFill>
                  <a:schemeClr val="dk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Deca Light"/>
              <a:buChar char="○"/>
              <a:defRPr>
                <a:solidFill>
                  <a:schemeClr val="dk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Lexend Deca Light"/>
              <a:buChar char="■"/>
              <a:defRPr>
                <a:solidFill>
                  <a:schemeClr val="dk1"/>
                </a:solidFill>
                <a:latin typeface="Lexend Deca Light"/>
                <a:ea typeface="Lexend Deca Light"/>
                <a:cs typeface="Lexend Deca Light"/>
                <a:sym typeface="Lexend Deca Ligh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tco2.org/" TargetMode="External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Relationship Id="rId6" Type="http://schemas.openxmlformats.org/officeDocument/2006/relationships/hyperlink" Target="https://huggingface.co/datasets/jlvdoorn/atcosim" TargetMode="External"/><Relationship Id="rId5" Type="http://schemas.openxmlformats.org/officeDocument/2006/relationships/hyperlink" Target="https://huggingface.co/datasets/Jzuluaga/atcosim_corpus" TargetMode="External"/><Relationship Id="rId4" Type="http://schemas.openxmlformats.org/officeDocument/2006/relationships/hyperlink" Target="https://huggingface.co/datasets/jlvdoorn/atco2-asr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33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11095" r="7817" b="11102"/>
          <a:stretch/>
        </p:blipFill>
        <p:spPr>
          <a:xfrm>
            <a:off x="-50" y="100"/>
            <a:ext cx="9144003" cy="5143501"/>
          </a:xfrm>
          <a:prstGeom prst="rect">
            <a:avLst/>
          </a:prstGeom>
        </p:spPr>
      </p:pic>
      <p:sp>
        <p:nvSpPr>
          <p:cNvPr id="226" name="Google Shape;226;p33"/>
          <p:cNvSpPr/>
          <p:nvPr/>
        </p:nvSpPr>
        <p:spPr>
          <a:xfrm>
            <a:off x="0" y="125"/>
            <a:ext cx="9144000" cy="5143500"/>
          </a:xfrm>
          <a:prstGeom prst="rect">
            <a:avLst/>
          </a:prstGeom>
          <a:gradFill>
            <a:gsLst>
              <a:gs pos="0">
                <a:schemeClr val="lt1">
                  <a:alpha val="49690"/>
                </a:schemeClr>
              </a:gs>
              <a:gs pos="100000">
                <a:srgbClr val="384957">
                  <a:alpha val="0"/>
                  <a:alpha val="49690"/>
                </a:srgbClr>
              </a:gs>
            </a:gsLst>
            <a:lin ang="189007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27" name="Google Shape;227;p33"/>
          <p:cNvSpPr txBox="1">
            <a:spLocks noGrp="1"/>
          </p:cNvSpPr>
          <p:nvPr>
            <p:ph type="ctrTitle"/>
          </p:nvPr>
        </p:nvSpPr>
        <p:spPr>
          <a:xfrm>
            <a:off x="713225" y="2061775"/>
            <a:ext cx="5817000" cy="192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ATC Communication Intelligence</a:t>
            </a:r>
            <a:endParaRPr/>
          </a:p>
        </p:txBody>
      </p:sp>
      <p:sp>
        <p:nvSpPr>
          <p:cNvPr id="228" name="Google Shape;228;p33"/>
          <p:cNvSpPr txBox="1">
            <a:spLocks noGrp="1"/>
          </p:cNvSpPr>
          <p:nvPr>
            <p:ph type="subTitle" idx="1"/>
          </p:nvPr>
        </p:nvSpPr>
        <p:spPr>
          <a:xfrm>
            <a:off x="713225" y="3982375"/>
            <a:ext cx="59280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Speech Recognition and Information Extraction for Aviation Safety</a:t>
            </a:r>
            <a:endParaRPr sz="1400"/>
          </a:p>
        </p:txBody>
      </p:sp>
      <p:cxnSp>
        <p:nvCxnSpPr>
          <p:cNvPr id="229" name="Google Shape;229;p33"/>
          <p:cNvCxnSpPr/>
          <p:nvPr/>
        </p:nvCxnSpPr>
        <p:spPr>
          <a:xfrm>
            <a:off x="679900" y="540525"/>
            <a:ext cx="7685400" cy="8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0" name="Google Shape;230;p33"/>
          <p:cNvCxnSpPr>
            <a:endCxn id="231" idx="2"/>
          </p:cNvCxnSpPr>
          <p:nvPr/>
        </p:nvCxnSpPr>
        <p:spPr>
          <a:xfrm>
            <a:off x="721325" y="4604000"/>
            <a:ext cx="7444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31" name="Google Shape;231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8165525" y="4471375"/>
            <a:ext cx="265251" cy="265251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33"/>
          <p:cNvSpPr txBox="1">
            <a:spLocks noGrp="1"/>
          </p:cNvSpPr>
          <p:nvPr>
            <p:ph type="subTitle" idx="1"/>
          </p:nvPr>
        </p:nvSpPr>
        <p:spPr>
          <a:xfrm>
            <a:off x="713225" y="4632850"/>
            <a:ext cx="59280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5B7C6"/>
                </a:solidFill>
              </a:rPr>
              <a:t>Brett Allen | DATA 606 Capstone Proposal | UMBC, Fall 2026</a:t>
            </a:r>
            <a:endParaRPr sz="1000">
              <a:solidFill>
                <a:srgbClr val="A5B7C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5B7C6"/>
                </a:solidFill>
              </a:rPr>
              <a:t>Dr. Jay Wang</a:t>
            </a:r>
            <a:endParaRPr sz="1000">
              <a:solidFill>
                <a:srgbClr val="A5B7C6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4957"/>
        </a:solid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34"/>
          <p:cNvPicPr preferRelativeResize="0">
            <a:picLocks noGrp="1"/>
          </p:cNvPicPr>
          <p:nvPr>
            <p:ph type="pic" idx="16"/>
          </p:nvPr>
        </p:nvPicPr>
        <p:blipFill rotWithShape="1">
          <a:blip r:embed="rId3">
            <a:alphaModFix/>
          </a:blip>
          <a:srcRect l="4983" r="33342"/>
          <a:stretch/>
        </p:blipFill>
        <p:spPr>
          <a:xfrm>
            <a:off x="5981375" y="0"/>
            <a:ext cx="3162725" cy="5143500"/>
          </a:xfrm>
          <a:prstGeom prst="rect">
            <a:avLst/>
          </a:prstGeom>
        </p:spPr>
      </p:pic>
      <p:sp>
        <p:nvSpPr>
          <p:cNvPr id="238" name="Google Shape;238;p34"/>
          <p:cNvSpPr/>
          <p:nvPr/>
        </p:nvSpPr>
        <p:spPr>
          <a:xfrm>
            <a:off x="5981374" y="3350"/>
            <a:ext cx="1458300" cy="51435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3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Proposal Contents</a:t>
            </a:r>
            <a:endParaRPr/>
          </a:p>
        </p:txBody>
      </p:sp>
      <p:sp>
        <p:nvSpPr>
          <p:cNvPr id="240" name="Google Shape;240;p34"/>
          <p:cNvSpPr txBox="1">
            <a:spLocks noGrp="1"/>
          </p:cNvSpPr>
          <p:nvPr>
            <p:ph type="title" idx="5"/>
          </p:nvPr>
        </p:nvSpPr>
        <p:spPr>
          <a:xfrm>
            <a:off x="720000" y="1342754"/>
            <a:ext cx="701400" cy="55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41" name="Google Shape;241;p34"/>
          <p:cNvSpPr txBox="1">
            <a:spLocks noGrp="1"/>
          </p:cNvSpPr>
          <p:nvPr>
            <p:ph type="subTitle" idx="9"/>
          </p:nvPr>
        </p:nvSpPr>
        <p:spPr>
          <a:xfrm>
            <a:off x="1319383" y="1436032"/>
            <a:ext cx="2345100" cy="39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Why This Matters</a:t>
            </a:r>
            <a:endParaRPr sz="1800"/>
          </a:p>
        </p:txBody>
      </p:sp>
      <p:sp>
        <p:nvSpPr>
          <p:cNvPr id="242" name="Google Shape;242;p34"/>
          <p:cNvSpPr/>
          <p:nvPr/>
        </p:nvSpPr>
        <p:spPr>
          <a:xfrm>
            <a:off x="5867651" y="3350"/>
            <a:ext cx="948900" cy="51435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384957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34"/>
          <p:cNvSpPr txBox="1">
            <a:spLocks noGrp="1"/>
          </p:cNvSpPr>
          <p:nvPr>
            <p:ph type="subTitle" idx="13"/>
          </p:nvPr>
        </p:nvSpPr>
        <p:spPr>
          <a:xfrm>
            <a:off x="713225" y="4632850"/>
            <a:ext cx="5928000" cy="47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5B7C6"/>
                </a:solidFill>
              </a:rPr>
              <a:t>Brett Allen | DATA 606 Capstone Proposal | UMBC, Fall 2026</a:t>
            </a:r>
            <a:endParaRPr sz="1000">
              <a:solidFill>
                <a:srgbClr val="A5B7C6"/>
              </a:solidFill>
            </a:endParaRPr>
          </a:p>
        </p:txBody>
      </p:sp>
      <p:sp>
        <p:nvSpPr>
          <p:cNvPr id="244" name="Google Shape;244;p34"/>
          <p:cNvSpPr txBox="1">
            <a:spLocks noGrp="1"/>
          </p:cNvSpPr>
          <p:nvPr>
            <p:ph type="title" idx="5"/>
          </p:nvPr>
        </p:nvSpPr>
        <p:spPr>
          <a:xfrm>
            <a:off x="719071" y="1927263"/>
            <a:ext cx="701400" cy="55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245" name="Google Shape;245;p34"/>
          <p:cNvSpPr txBox="1">
            <a:spLocks noGrp="1"/>
          </p:cNvSpPr>
          <p:nvPr>
            <p:ph type="subTitle" idx="9"/>
          </p:nvPr>
        </p:nvSpPr>
        <p:spPr>
          <a:xfrm>
            <a:off x="1318454" y="2020541"/>
            <a:ext cx="2345100" cy="39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Research Questions</a:t>
            </a:r>
            <a:endParaRPr sz="1800"/>
          </a:p>
        </p:txBody>
      </p:sp>
      <p:sp>
        <p:nvSpPr>
          <p:cNvPr id="246" name="Google Shape;246;p34"/>
          <p:cNvSpPr txBox="1">
            <a:spLocks noGrp="1"/>
          </p:cNvSpPr>
          <p:nvPr>
            <p:ph type="title" idx="5"/>
          </p:nvPr>
        </p:nvSpPr>
        <p:spPr>
          <a:xfrm>
            <a:off x="719071" y="2491794"/>
            <a:ext cx="701400" cy="55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247" name="Google Shape;247;p34"/>
          <p:cNvSpPr txBox="1">
            <a:spLocks noGrp="1"/>
          </p:cNvSpPr>
          <p:nvPr>
            <p:ph type="subTitle" idx="9"/>
          </p:nvPr>
        </p:nvSpPr>
        <p:spPr>
          <a:xfrm>
            <a:off x="1318454" y="2585072"/>
            <a:ext cx="2345100" cy="39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The Data</a:t>
            </a:r>
            <a:endParaRPr sz="1800"/>
          </a:p>
        </p:txBody>
      </p:sp>
      <p:sp>
        <p:nvSpPr>
          <p:cNvPr id="248" name="Google Shape;248;p34"/>
          <p:cNvSpPr txBox="1">
            <a:spLocks noGrp="1"/>
          </p:cNvSpPr>
          <p:nvPr>
            <p:ph type="title" idx="5"/>
          </p:nvPr>
        </p:nvSpPr>
        <p:spPr>
          <a:xfrm>
            <a:off x="718141" y="3069334"/>
            <a:ext cx="701400" cy="55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249" name="Google Shape;249;p34"/>
          <p:cNvSpPr txBox="1">
            <a:spLocks noGrp="1"/>
          </p:cNvSpPr>
          <p:nvPr>
            <p:ph type="subTitle" idx="9"/>
          </p:nvPr>
        </p:nvSpPr>
        <p:spPr>
          <a:xfrm>
            <a:off x="1317525" y="3162600"/>
            <a:ext cx="3497700" cy="39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Preliminary EDA</a:t>
            </a:r>
            <a:endParaRPr sz="1800"/>
          </a:p>
        </p:txBody>
      </p:sp>
      <p:sp>
        <p:nvSpPr>
          <p:cNvPr id="250" name="Google Shape;250;p34"/>
          <p:cNvSpPr txBox="1">
            <a:spLocks noGrp="1"/>
          </p:cNvSpPr>
          <p:nvPr>
            <p:ph type="title" idx="5"/>
          </p:nvPr>
        </p:nvSpPr>
        <p:spPr>
          <a:xfrm>
            <a:off x="719991" y="3663377"/>
            <a:ext cx="701400" cy="55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251" name="Google Shape;251;p34"/>
          <p:cNvSpPr txBox="1">
            <a:spLocks noGrp="1"/>
          </p:cNvSpPr>
          <p:nvPr>
            <p:ph type="subTitle" idx="9"/>
          </p:nvPr>
        </p:nvSpPr>
        <p:spPr>
          <a:xfrm>
            <a:off x="1319375" y="3756650"/>
            <a:ext cx="3865200" cy="39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Modeling Plan &amp; Next Steps</a:t>
            </a:r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01. Why This Matters</a:t>
            </a:r>
            <a:endParaRPr/>
          </a:p>
        </p:txBody>
      </p:sp>
      <p:sp>
        <p:nvSpPr>
          <p:cNvPr id="257" name="Google Shape;257;p35"/>
          <p:cNvSpPr txBox="1">
            <a:spLocks noGrp="1"/>
          </p:cNvSpPr>
          <p:nvPr>
            <p:ph type="subTitle" idx="2"/>
          </p:nvPr>
        </p:nvSpPr>
        <p:spPr>
          <a:xfrm>
            <a:off x="720000" y="1137375"/>
            <a:ext cx="7545300" cy="195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" sz="1200" b="1"/>
              <a:t>Domain Challenge:</a:t>
            </a:r>
            <a:r>
              <a:rPr lang="en" sz="1200"/>
              <a:t> Air Traffic Control (ATC) requires safety-critical communication that standard Automatic Speech Recognition (ASR) frequently misinterprets (e.g., callsigns, altitudes, headings, speeds, etc.).</a:t>
            </a:r>
            <a:br>
              <a:rPr lang="en" sz="1200"/>
            </a:br>
            <a:endParaRPr sz="120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 b="1"/>
              <a:t>Operational Risk:</a:t>
            </a:r>
            <a:r>
              <a:rPr lang="en" sz="1200"/>
              <a:t> Traditional Word Error Rate (WER) metrics are insufficient. Minor transcript errors can lead to critical operational failures.</a:t>
            </a:r>
            <a:br>
              <a:rPr lang="en" sz="1200"/>
            </a:br>
            <a:endParaRPr sz="120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 b="1"/>
              <a:t>Goal:</a:t>
            </a:r>
            <a:r>
              <a:rPr lang="en" sz="1200"/>
              <a:t> Develop a prototype tool (e.g., Streamlit app) designed to analyze real-time ATC audio for pilots and controllers.</a:t>
            </a:r>
            <a:endParaRPr sz="1200"/>
          </a:p>
        </p:txBody>
      </p:sp>
      <p:pic>
        <p:nvPicPr>
          <p:cNvPr id="258" name="Google Shape;25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8475" y="3154300"/>
            <a:ext cx="5408325" cy="1442225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35"/>
          <p:cNvSpPr txBox="1">
            <a:spLocks noGrp="1"/>
          </p:cNvSpPr>
          <p:nvPr>
            <p:ph type="subTitle" idx="4294967295"/>
          </p:nvPr>
        </p:nvSpPr>
        <p:spPr>
          <a:xfrm>
            <a:off x="713225" y="4632850"/>
            <a:ext cx="59280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000">
                <a:solidFill>
                  <a:srgbClr val="A5B7C6"/>
                </a:solidFill>
              </a:rPr>
              <a:t>Brett Allen | DATA 606 Capstone Proposal | UMBC, Fall 2026</a:t>
            </a:r>
            <a:endParaRPr sz="1000">
              <a:solidFill>
                <a:srgbClr val="A5B7C6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02. Research Questions</a:t>
            </a:r>
            <a:endParaRPr/>
          </a:p>
        </p:txBody>
      </p:sp>
      <p:sp>
        <p:nvSpPr>
          <p:cNvPr id="265" name="Google Shape;265;p36"/>
          <p:cNvSpPr txBox="1">
            <a:spLocks noGrp="1"/>
          </p:cNvSpPr>
          <p:nvPr>
            <p:ph type="subTitle" idx="2"/>
          </p:nvPr>
        </p:nvSpPr>
        <p:spPr>
          <a:xfrm>
            <a:off x="720000" y="1137375"/>
            <a:ext cx="7545300" cy="309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Lexend Deca"/>
              <a:buChar char="●"/>
            </a:pPr>
            <a:r>
              <a:rPr lang="en" sz="1200" b="1">
                <a:latin typeface="Lexend Deca"/>
                <a:ea typeface="Lexend Deca"/>
                <a:cs typeface="Lexend Deca"/>
                <a:sym typeface="Lexend Deca"/>
              </a:rPr>
              <a:t>Research Question 1: </a:t>
            </a:r>
            <a:r>
              <a:rPr lang="en" sz="1200" b="1" u="sng">
                <a:latin typeface="Lexend Deca"/>
                <a:ea typeface="Lexend Deca"/>
                <a:cs typeface="Lexend Deca"/>
                <a:sym typeface="Lexend Deca"/>
              </a:rPr>
              <a:t>Automatic Speech Recognition (ASR)</a:t>
            </a:r>
            <a:br>
              <a:rPr lang="en" sz="1200">
                <a:latin typeface="Lexend Deca"/>
                <a:ea typeface="Lexend Deca"/>
                <a:cs typeface="Lexend Deca"/>
                <a:sym typeface="Lexend Deca"/>
              </a:rPr>
            </a:br>
            <a:r>
              <a:rPr lang="en" sz="1200">
                <a:latin typeface="Lexend Deca"/>
                <a:ea typeface="Lexend Deca"/>
                <a:cs typeface="Lexend Deca"/>
                <a:sym typeface="Lexend Deca"/>
              </a:rPr>
              <a:t>How accurately can general-purpose vs. aviation-adapted (pre-trained and/or fine-tuned) models transcribe ATC audio? (WER, CER, callsign/numeric/command recognition accuracy)</a:t>
            </a:r>
            <a:br>
              <a:rPr lang="en" sz="1200">
                <a:latin typeface="Lexend Deca"/>
                <a:ea typeface="Lexend Deca"/>
                <a:cs typeface="Lexend Deca"/>
                <a:sym typeface="Lexend Deca"/>
              </a:rPr>
            </a:br>
            <a:endParaRPr sz="1200">
              <a:latin typeface="Lexend Deca"/>
              <a:ea typeface="Lexend Deca"/>
              <a:cs typeface="Lexend Deca"/>
              <a:sym typeface="Lexend Deca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Lexend Deca"/>
              <a:buChar char="●"/>
            </a:pPr>
            <a:r>
              <a:rPr lang="en" sz="1200" b="1">
                <a:latin typeface="Lexend Deca"/>
                <a:ea typeface="Lexend Deca"/>
                <a:cs typeface="Lexend Deca"/>
                <a:sym typeface="Lexend Deca"/>
              </a:rPr>
              <a:t>Research Question 2: </a:t>
            </a:r>
            <a:r>
              <a:rPr lang="en" sz="1200" b="1" u="sng">
                <a:latin typeface="Lexend Deca"/>
                <a:ea typeface="Lexend Deca"/>
                <a:cs typeface="Lexend Deca"/>
                <a:sym typeface="Lexend Deca"/>
              </a:rPr>
              <a:t>Aviation Information Extraction</a:t>
            </a:r>
            <a:br>
              <a:rPr lang="en" sz="1200" b="1">
                <a:latin typeface="Lexend Deca"/>
                <a:ea typeface="Lexend Deca"/>
                <a:cs typeface="Lexend Deca"/>
                <a:sym typeface="Lexend Deca"/>
              </a:rPr>
            </a:br>
            <a:r>
              <a:rPr lang="en" sz="1200">
                <a:latin typeface="Lexend Deca"/>
                <a:ea typeface="Lexend Deca"/>
                <a:cs typeface="Lexend Deca"/>
                <a:sym typeface="Lexend Deca"/>
              </a:rPr>
              <a:t>Can NLP techniques reliably identify operational aviation information from ATC transcripts? None of the datasets inspected so far provides token-level entity labels, so the plan is to take a rule-based approach first, then possibly LLM-assisted annotation curation to train a spaCy NER model, evaluated against a small manually annotated subset. May be able to find and use a pre-trained NER model.</a:t>
            </a:r>
            <a:br>
              <a:rPr lang="en" sz="1200">
                <a:latin typeface="Lexend Deca"/>
                <a:ea typeface="Lexend Deca"/>
                <a:cs typeface="Lexend Deca"/>
                <a:sym typeface="Lexend Deca"/>
              </a:rPr>
            </a:br>
            <a:endParaRPr sz="1200">
              <a:latin typeface="Lexend Deca"/>
              <a:ea typeface="Lexend Deca"/>
              <a:cs typeface="Lexend Deca"/>
              <a:sym typeface="Lexend Deca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Lexend Deca"/>
              <a:buChar char="●"/>
            </a:pPr>
            <a:r>
              <a:rPr lang="en" sz="1200" b="1">
                <a:latin typeface="Lexend Deca"/>
                <a:ea typeface="Lexend Deca"/>
                <a:cs typeface="Lexend Deca"/>
                <a:sym typeface="Lexend Deca"/>
              </a:rPr>
              <a:t>Research Question 3: </a:t>
            </a:r>
            <a:r>
              <a:rPr lang="en" sz="1200" b="1" u="sng">
                <a:latin typeface="Lexend Deca"/>
                <a:ea typeface="Lexend Deca"/>
                <a:cs typeface="Lexend Deca"/>
                <a:sym typeface="Lexend Deca"/>
              </a:rPr>
              <a:t>Communication Characteristics and Model Performance</a:t>
            </a:r>
            <a:br>
              <a:rPr lang="en" sz="1200">
                <a:latin typeface="Lexend Deca"/>
                <a:ea typeface="Lexend Deca"/>
                <a:cs typeface="Lexend Deca"/>
                <a:sym typeface="Lexend Deca"/>
              </a:rPr>
            </a:br>
            <a:r>
              <a:rPr lang="en" sz="1200">
                <a:latin typeface="Lexend Deca"/>
                <a:ea typeface="Lexend Deca"/>
                <a:cs typeface="Lexend Deca"/>
                <a:sym typeface="Lexend Deca"/>
              </a:rPr>
              <a:t>Do acoustic properties (e.g., duration, speech rate, noise) or linguistic ones (e.g., word/content density) have an influence on model accuracy? Core features (e.g., duration, word/char count, speech rate, recording origin) are already computed as part of the preliminary EDA work.</a:t>
            </a:r>
            <a:endParaRPr sz="1200">
              <a:latin typeface="Lexend Deca"/>
              <a:ea typeface="Lexend Deca"/>
              <a:cs typeface="Lexend Deca"/>
              <a:sym typeface="Lexend Deca"/>
            </a:endParaRPr>
          </a:p>
        </p:txBody>
      </p:sp>
      <p:sp>
        <p:nvSpPr>
          <p:cNvPr id="266" name="Google Shape;266;p36"/>
          <p:cNvSpPr txBox="1">
            <a:spLocks noGrp="1"/>
          </p:cNvSpPr>
          <p:nvPr>
            <p:ph type="subTitle" idx="4294967295"/>
          </p:nvPr>
        </p:nvSpPr>
        <p:spPr>
          <a:xfrm>
            <a:off x="713225" y="4632850"/>
            <a:ext cx="59280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000">
                <a:solidFill>
                  <a:srgbClr val="A5B7C6"/>
                </a:solidFill>
              </a:rPr>
              <a:t>Brett Allen | DATA 606 Capstone Proposal | UMBC, Fall 2026</a:t>
            </a:r>
            <a:endParaRPr sz="1000">
              <a:solidFill>
                <a:srgbClr val="A5B7C6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03. The Data</a:t>
            </a:r>
            <a:endParaRPr/>
          </a:p>
        </p:txBody>
      </p:sp>
      <p:sp>
        <p:nvSpPr>
          <p:cNvPr id="272" name="Google Shape;272;p37"/>
          <p:cNvSpPr txBox="1">
            <a:spLocks noGrp="1"/>
          </p:cNvSpPr>
          <p:nvPr>
            <p:ph type="subTitle" idx="4294967295"/>
          </p:nvPr>
        </p:nvSpPr>
        <p:spPr>
          <a:xfrm>
            <a:off x="713225" y="4632850"/>
            <a:ext cx="59280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000">
                <a:solidFill>
                  <a:srgbClr val="A5B7C6"/>
                </a:solidFill>
              </a:rPr>
              <a:t>Brett Allen | DATA 606 Capstone Proposal | UMBC, Fall 2026</a:t>
            </a:r>
            <a:endParaRPr sz="1000">
              <a:solidFill>
                <a:srgbClr val="A5B7C6"/>
              </a:solidFill>
            </a:endParaRPr>
          </a:p>
        </p:txBody>
      </p:sp>
      <p:graphicFrame>
        <p:nvGraphicFramePr>
          <p:cNvPr id="273" name="Google Shape;273;p37"/>
          <p:cNvGraphicFramePr/>
          <p:nvPr>
            <p:extLst>
              <p:ext uri="{D42A27DB-BD31-4B8C-83A1-F6EECF244321}">
                <p14:modId xmlns:p14="http://schemas.microsoft.com/office/powerpoint/2010/main" val="2923593172"/>
              </p:ext>
            </p:extLst>
          </p:nvPr>
        </p:nvGraphicFramePr>
        <p:xfrm>
          <a:off x="713225" y="1264850"/>
          <a:ext cx="4988125" cy="1795650"/>
        </p:xfrm>
        <a:graphic>
          <a:graphicData uri="http://schemas.openxmlformats.org/drawingml/2006/table">
            <a:tbl>
              <a:tblPr>
                <a:noFill/>
                <a:tableStyleId>{661ED30B-C7FA-409A-AEDF-4111B0C5010F}</a:tableStyleId>
              </a:tblPr>
              <a:tblGrid>
                <a:gridCol w="1253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2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92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>
                        <a:latin typeface="Lexend Deca"/>
                        <a:ea typeface="Lexend Deca"/>
                        <a:cs typeface="Lexend Deca"/>
                        <a:sym typeface="Lexend Deca"/>
                      </a:endParaRPr>
                    </a:p>
                  </a:txBody>
                  <a:tcPr marL="95250" marR="95250" marT="47625" marB="47625"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 sz="750" b="1">
                          <a:solidFill>
                            <a:schemeClr val="dk1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ATCO2-ASR (real)</a:t>
                      </a:r>
                      <a:endParaRPr sz="750" b="1">
                        <a:solidFill>
                          <a:schemeClr val="dk1"/>
                        </a:solidFill>
                        <a:latin typeface="Lexend Deca"/>
                        <a:ea typeface="Lexend Deca"/>
                        <a:cs typeface="Lexend Deca"/>
                        <a:sym typeface="Lexend Deca"/>
                      </a:endParaRPr>
                    </a:p>
                  </a:txBody>
                  <a:tcPr marL="95250" marR="95250" marT="47625" marB="47625"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 sz="750" b="1">
                          <a:solidFill>
                            <a:schemeClr val="dk1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ATCOSIM (simulated)</a:t>
                      </a:r>
                      <a:endParaRPr sz="750" b="1">
                        <a:solidFill>
                          <a:schemeClr val="dk1"/>
                        </a:solidFill>
                        <a:latin typeface="Lexend Deca"/>
                        <a:ea typeface="Lexend Deca"/>
                        <a:cs typeface="Lexend Deca"/>
                        <a:sym typeface="Lexend Deca"/>
                      </a:endParaRPr>
                    </a:p>
                  </a:txBody>
                  <a:tcPr marL="95250" marR="95250" marT="47625" marB="47625"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92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 sz="750">
                          <a:solidFill>
                            <a:schemeClr val="dk1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Utterances</a:t>
                      </a:r>
                      <a:endParaRPr sz="750">
                        <a:solidFill>
                          <a:schemeClr val="dk1"/>
                        </a:solidFill>
                        <a:latin typeface="Lexend Deca"/>
                        <a:ea typeface="Lexend Deca"/>
                        <a:cs typeface="Lexend Deca"/>
                        <a:sym typeface="Lexend Deca"/>
                      </a:endParaRPr>
                    </a:p>
                  </a:txBody>
                  <a:tcPr marL="95250" marR="95250" marT="47625" marB="47625"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 sz="750">
                          <a:solidFill>
                            <a:schemeClr val="dk1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559 (446 train / 113 val)</a:t>
                      </a:r>
                      <a:endParaRPr sz="750">
                        <a:solidFill>
                          <a:schemeClr val="dk1"/>
                        </a:solidFill>
                        <a:latin typeface="Lexend Deca"/>
                        <a:ea typeface="Lexend Deca"/>
                        <a:cs typeface="Lexend Deca"/>
                        <a:sym typeface="Lexend Deca"/>
                      </a:endParaRPr>
                    </a:p>
                  </a:txBody>
                  <a:tcPr marL="95250" marR="95250" marT="47625" marB="47625"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 sz="750">
                          <a:solidFill>
                            <a:schemeClr val="dk1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9,559 (7,646 train / 1,913 val)</a:t>
                      </a:r>
                      <a:endParaRPr sz="750">
                        <a:solidFill>
                          <a:schemeClr val="dk1"/>
                        </a:solidFill>
                        <a:latin typeface="Lexend Deca"/>
                        <a:ea typeface="Lexend Deca"/>
                        <a:cs typeface="Lexend Deca"/>
                        <a:sym typeface="Lexend Deca"/>
                      </a:endParaRPr>
                    </a:p>
                  </a:txBody>
                  <a:tcPr marL="95250" marR="95250" marT="47625" marB="47625"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92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 sz="750">
                          <a:solidFill>
                            <a:schemeClr val="dk1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Audio hours</a:t>
                      </a:r>
                      <a:endParaRPr sz="750">
                        <a:solidFill>
                          <a:schemeClr val="dk1"/>
                        </a:solidFill>
                        <a:latin typeface="Lexend Deca"/>
                        <a:ea typeface="Lexend Deca"/>
                        <a:cs typeface="Lexend Deca"/>
                        <a:sym typeface="Lexend Deca"/>
                      </a:endParaRPr>
                    </a:p>
                  </a:txBody>
                  <a:tcPr marL="95250" marR="95250" marT="47625" marB="47625"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 sz="750">
                          <a:solidFill>
                            <a:schemeClr val="dk1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~1.10</a:t>
                      </a:r>
                      <a:endParaRPr sz="750">
                        <a:solidFill>
                          <a:schemeClr val="dk1"/>
                        </a:solidFill>
                        <a:latin typeface="Lexend Deca"/>
                        <a:ea typeface="Lexend Deca"/>
                        <a:cs typeface="Lexend Deca"/>
                        <a:sym typeface="Lexend Deca"/>
                      </a:endParaRPr>
                    </a:p>
                  </a:txBody>
                  <a:tcPr marL="95250" marR="95250" marT="47625" marB="47625"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 sz="750">
                          <a:solidFill>
                            <a:schemeClr val="dk1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~10.46</a:t>
                      </a:r>
                      <a:endParaRPr sz="750">
                        <a:solidFill>
                          <a:schemeClr val="dk1"/>
                        </a:solidFill>
                        <a:latin typeface="Lexend Deca"/>
                        <a:ea typeface="Lexend Deca"/>
                        <a:cs typeface="Lexend Deca"/>
                        <a:sym typeface="Lexend Deca"/>
                      </a:endParaRPr>
                    </a:p>
                  </a:txBody>
                  <a:tcPr marL="95250" marR="95250" marT="47625" marB="47625"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92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 sz="750">
                          <a:solidFill>
                            <a:schemeClr val="dk1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Native sample rate</a:t>
                      </a:r>
                      <a:endParaRPr sz="750">
                        <a:solidFill>
                          <a:schemeClr val="dk1"/>
                        </a:solidFill>
                        <a:latin typeface="Lexend Deca"/>
                        <a:ea typeface="Lexend Deca"/>
                        <a:cs typeface="Lexend Deca"/>
                        <a:sym typeface="Lexend Deca"/>
                      </a:endParaRPr>
                    </a:p>
                  </a:txBody>
                  <a:tcPr marL="95250" marR="95250" marT="47625" marB="47625"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 sz="750">
                          <a:solidFill>
                            <a:schemeClr val="dk1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16kHz</a:t>
                      </a:r>
                      <a:endParaRPr sz="750">
                        <a:solidFill>
                          <a:schemeClr val="dk1"/>
                        </a:solidFill>
                        <a:latin typeface="Lexend Deca"/>
                        <a:ea typeface="Lexend Deca"/>
                        <a:cs typeface="Lexend Deca"/>
                        <a:sym typeface="Lexend Deca"/>
                      </a:endParaRPr>
                    </a:p>
                  </a:txBody>
                  <a:tcPr marL="95250" marR="95250" marT="47625" marB="47625"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 sz="750">
                          <a:solidFill>
                            <a:schemeClr val="dk1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32kHz (resampled to 16kHz)</a:t>
                      </a:r>
                      <a:endParaRPr sz="750">
                        <a:solidFill>
                          <a:schemeClr val="dk1"/>
                        </a:solidFill>
                        <a:latin typeface="Lexend Deca"/>
                        <a:ea typeface="Lexend Deca"/>
                        <a:cs typeface="Lexend Deca"/>
                        <a:sym typeface="Lexend Deca"/>
                      </a:endParaRPr>
                    </a:p>
                  </a:txBody>
                  <a:tcPr marL="95250" marR="95250" marT="47625" marB="47625"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92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 sz="750">
                          <a:solidFill>
                            <a:schemeClr val="dk1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Avg. duration / words</a:t>
                      </a:r>
                      <a:endParaRPr sz="750">
                        <a:solidFill>
                          <a:schemeClr val="dk1"/>
                        </a:solidFill>
                        <a:latin typeface="Lexend Deca"/>
                        <a:ea typeface="Lexend Deca"/>
                        <a:cs typeface="Lexend Deca"/>
                        <a:sym typeface="Lexend Deca"/>
                      </a:endParaRPr>
                    </a:p>
                  </a:txBody>
                  <a:tcPr marL="95250" marR="95250" marT="47625" marB="47625"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 sz="750">
                          <a:solidFill>
                            <a:schemeClr val="dk1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7.06s / 19.1 words</a:t>
                      </a:r>
                      <a:endParaRPr sz="750">
                        <a:solidFill>
                          <a:schemeClr val="dk1"/>
                        </a:solidFill>
                        <a:latin typeface="Lexend Deca"/>
                        <a:ea typeface="Lexend Deca"/>
                        <a:cs typeface="Lexend Deca"/>
                        <a:sym typeface="Lexend Deca"/>
                      </a:endParaRPr>
                    </a:p>
                  </a:txBody>
                  <a:tcPr marL="95250" marR="95250" marT="47625" marB="47625"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 sz="750">
                          <a:solidFill>
                            <a:schemeClr val="dk1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3.94s / 11.3 words</a:t>
                      </a:r>
                      <a:endParaRPr sz="750">
                        <a:solidFill>
                          <a:schemeClr val="dk1"/>
                        </a:solidFill>
                        <a:latin typeface="Lexend Deca"/>
                        <a:ea typeface="Lexend Deca"/>
                        <a:cs typeface="Lexend Deca"/>
                        <a:sym typeface="Lexend Deca"/>
                      </a:endParaRPr>
                    </a:p>
                  </a:txBody>
                  <a:tcPr marL="95250" marR="95250" marT="47625" marB="47625"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92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 sz="750">
                          <a:solidFill>
                            <a:schemeClr val="dk1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Extra metadata</a:t>
                      </a:r>
                      <a:endParaRPr sz="750">
                        <a:solidFill>
                          <a:schemeClr val="dk1"/>
                        </a:solidFill>
                        <a:latin typeface="Lexend Deca"/>
                        <a:ea typeface="Lexend Deca"/>
                        <a:cs typeface="Lexend Deca"/>
                        <a:sym typeface="Lexend Deca"/>
                      </a:endParaRPr>
                    </a:p>
                  </a:txBody>
                  <a:tcPr marL="95250" marR="95250" marT="47625" marB="47625"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chemeClr val="tx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 sz="750" dirty="0">
                          <a:solidFill>
                            <a:schemeClr val="dk1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Airport, waypoints, callsigns (info)</a:t>
                      </a:r>
                      <a:endParaRPr sz="750" dirty="0">
                        <a:solidFill>
                          <a:schemeClr val="dk1"/>
                        </a:solidFill>
                        <a:latin typeface="Lexend Deca"/>
                        <a:ea typeface="Lexend Deca"/>
                        <a:cs typeface="Lexend Deca"/>
                        <a:sym typeface="Lexend Deca"/>
                      </a:endParaRPr>
                    </a:p>
                  </a:txBody>
                  <a:tcPr marL="95250" marR="95250" marT="47625" marB="47625"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chemeClr val="tx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 sz="750" dirty="0">
                          <a:solidFill>
                            <a:schemeClr val="dk1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None beyond audio + transcript</a:t>
                      </a:r>
                      <a:endParaRPr sz="750" dirty="0">
                        <a:solidFill>
                          <a:schemeClr val="dk1"/>
                        </a:solidFill>
                        <a:latin typeface="Lexend Deca"/>
                        <a:ea typeface="Lexend Deca"/>
                        <a:cs typeface="Lexend Deca"/>
                        <a:sym typeface="Lexend Deca"/>
                      </a:endParaRPr>
                    </a:p>
                  </a:txBody>
                  <a:tcPr marL="95250" marR="95250" marT="47625" marB="47625"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chemeClr val="tx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74" name="Google Shape;274;p37"/>
          <p:cNvSpPr txBox="1"/>
          <p:nvPr/>
        </p:nvSpPr>
        <p:spPr>
          <a:xfrm>
            <a:off x="543075" y="3394233"/>
            <a:ext cx="6844200" cy="11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889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Char char="●"/>
            </a:pPr>
            <a:r>
              <a:rPr lang="en" sz="950" dirty="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Combined via a reusable DataIngestPipeline: </a:t>
            </a:r>
            <a:r>
              <a:rPr lang="en" sz="950" b="1" dirty="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10,118 utterances, ~11.55 hours</a:t>
            </a:r>
            <a:r>
              <a:rPr lang="en" sz="950" dirty="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, unified to 16kHz, with derived metadata (duration_sec, word_count, speech_rate_wpm, recorded_at, etc.).</a:t>
            </a:r>
            <a:endParaRPr sz="950" dirty="0">
              <a:solidFill>
                <a:schemeClr val="dk1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marL="457200" lvl="0" indent="-2889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Lexend Deca"/>
              <a:buChar char="●"/>
            </a:pPr>
            <a:r>
              <a:rPr lang="en" sz="950" dirty="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ATCO2-ASR is the harder, real-world evaluation target while the ATCOSIM dataset is planned for training volume.</a:t>
            </a:r>
            <a:endParaRPr sz="950" dirty="0">
              <a:solidFill>
                <a:schemeClr val="dk1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marL="457200" lvl="0" indent="-2889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Char char="●"/>
            </a:pPr>
            <a:r>
              <a:rPr lang="en" sz="950" b="1" dirty="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Sources:</a:t>
            </a:r>
            <a:r>
              <a:rPr lang="en" sz="950" dirty="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 ATCO2 (</a:t>
            </a:r>
            <a:r>
              <a:rPr lang="en" sz="950" dirty="0">
                <a:solidFill>
                  <a:schemeClr val="dk1"/>
                </a:solidFill>
                <a:uFill>
                  <a:noFill/>
                </a:uFill>
                <a:latin typeface="Lexend Deca"/>
                <a:ea typeface="Lexend Deca"/>
                <a:cs typeface="Lexend Deca"/>
                <a:sym typeface="Lexend Dec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atco2.org</a:t>
            </a:r>
            <a:r>
              <a:rPr lang="en" sz="950" dirty="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), accessed via the Hugging Face mirror </a:t>
            </a:r>
            <a:r>
              <a:rPr lang="en" sz="950" dirty="0">
                <a:solidFill>
                  <a:schemeClr val="dk1"/>
                </a:solidFill>
                <a:uFill>
                  <a:noFill/>
                </a:uFill>
                <a:latin typeface="Lexend Deca"/>
                <a:ea typeface="Lexend Deca"/>
                <a:cs typeface="Lexend Deca"/>
                <a:sym typeface="Lexend Deca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jlvdoorn/atco2-asr</a:t>
            </a:r>
            <a:r>
              <a:rPr lang="en" sz="950" dirty="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; ATCOSIM (</a:t>
            </a:r>
            <a:r>
              <a:rPr lang="en" sz="950" dirty="0">
                <a:solidFill>
                  <a:schemeClr val="dk1"/>
                </a:solidFill>
                <a:uFill>
                  <a:noFill/>
                </a:uFill>
                <a:latin typeface="Lexend Deca"/>
                <a:ea typeface="Lexend Deca"/>
                <a:cs typeface="Lexend Deca"/>
                <a:sym typeface="Lexend Deca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Jzuluaga/atcosim_corpus</a:t>
            </a:r>
            <a:r>
              <a:rPr lang="en" sz="950" dirty="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), accessed via the Hugging Face mirror </a:t>
            </a:r>
            <a:r>
              <a:rPr lang="en" sz="950" dirty="0">
                <a:solidFill>
                  <a:schemeClr val="dk1"/>
                </a:solidFill>
                <a:uFill>
                  <a:noFill/>
                </a:uFill>
                <a:latin typeface="Lexend Deca"/>
                <a:ea typeface="Lexend Deca"/>
                <a:cs typeface="Lexend Deca"/>
                <a:sym typeface="Lexend Deca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jlvdoorn/atcosim</a:t>
            </a:r>
            <a:r>
              <a:rPr lang="en" sz="950" dirty="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.</a:t>
            </a:r>
            <a:endParaRPr sz="950" dirty="0">
              <a:solidFill>
                <a:schemeClr val="dk1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  <p:pic>
        <p:nvPicPr>
          <p:cNvPr id="275" name="Google Shape;275;p37" title="row_count_by_split_and_source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971500" y="1098838"/>
            <a:ext cx="2881701" cy="2142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3852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04. Preliminary EDA</a:t>
            </a:r>
            <a:endParaRPr/>
          </a:p>
        </p:txBody>
      </p:sp>
      <p:sp>
        <p:nvSpPr>
          <p:cNvPr id="281" name="Google Shape;281;p38"/>
          <p:cNvSpPr txBox="1">
            <a:spLocks noGrp="1"/>
          </p:cNvSpPr>
          <p:nvPr>
            <p:ph type="subTitle" idx="2"/>
          </p:nvPr>
        </p:nvSpPr>
        <p:spPr>
          <a:xfrm>
            <a:off x="406377" y="1137375"/>
            <a:ext cx="4185900" cy="318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 b="1">
                <a:latin typeface="Lexend Deca"/>
                <a:ea typeface="Lexend Deca"/>
                <a:cs typeface="Lexend Deca"/>
                <a:sym typeface="Lexend Deca"/>
              </a:rPr>
              <a:t>Data Integrity:</a:t>
            </a:r>
            <a:r>
              <a:rPr lang="en" sz="1000" b="1"/>
              <a:t> No missing transcripts, empty audio, or duplicates.</a:t>
            </a:r>
            <a:br>
              <a:rPr lang="en" sz="1000" b="1"/>
            </a:br>
            <a:endParaRPr sz="1000" b="1"/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 b="1">
                <a:latin typeface="Lexend Deca"/>
                <a:ea typeface="Lexend Deca"/>
                <a:cs typeface="Lexend Deca"/>
                <a:sym typeface="Lexend Deca"/>
              </a:rPr>
              <a:t>Severe Imbalance:</a:t>
            </a:r>
            <a:r>
              <a:rPr lang="en" sz="1000" b="1"/>
              <a:t> Training split heavily skewed toward ATCOSIM (~17:1 vs. ATCO2-ASR) which will require separate evaluation per source.</a:t>
            </a:r>
            <a:br>
              <a:rPr lang="en" sz="1000" b="1"/>
            </a:br>
            <a:endParaRPr sz="1000" b="1"/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 b="1">
                <a:latin typeface="Lexend Deca"/>
                <a:ea typeface="Lexend Deca"/>
                <a:cs typeface="Lexend Deca"/>
                <a:sym typeface="Lexend Deca"/>
              </a:rPr>
              <a:t>Duration vs. Speed: </a:t>
            </a:r>
            <a:r>
              <a:rPr lang="en" sz="1000" b="1"/>
              <a:t>ATCO2-ASR utterances are ~1.8x longer with ~1.7x more words but maintain a comparable speech rate (~168 vs. 174 wpm) which indicates higher information density.</a:t>
            </a:r>
            <a:br>
              <a:rPr lang="en" sz="1000" b="1"/>
            </a:br>
            <a:endParaRPr sz="1000" b="1"/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 b="1">
                <a:latin typeface="Lexend Deca"/>
                <a:ea typeface="Lexend Deca"/>
                <a:cs typeface="Lexend Deca"/>
                <a:sym typeface="Lexend Deca"/>
              </a:rPr>
              <a:t>Corpus Composition:</a:t>
            </a:r>
            <a:r>
              <a:rPr lang="en" sz="1000" b="1"/>
              <a:t> ATCO2-ASR spans two collection periods (Oct 2020, Apr-May 2021) across seven non-US airports (non-American accents).</a:t>
            </a:r>
            <a:br>
              <a:rPr lang="en" sz="1000" b="1"/>
            </a:br>
            <a:endParaRPr sz="1000" b="1"/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 b="1">
                <a:latin typeface="Lexend Deca"/>
                <a:ea typeface="Lexend Deca"/>
                <a:cs typeface="Lexend Deca"/>
                <a:sym typeface="Lexend Deca"/>
              </a:rPr>
              <a:t>Manual Validation:</a:t>
            </a:r>
            <a:r>
              <a:rPr lang="en" sz="1000" b="1"/>
              <a:t> Qualitative review revealed feedback (click) noise in an ATOCSIM sample when visualized as a waveform (otherwise undetectable by automated checks).</a:t>
            </a:r>
            <a:endParaRPr sz="1000" b="1"/>
          </a:p>
        </p:txBody>
      </p:sp>
      <p:sp>
        <p:nvSpPr>
          <p:cNvPr id="282" name="Google Shape;282;p38"/>
          <p:cNvSpPr txBox="1">
            <a:spLocks noGrp="1"/>
          </p:cNvSpPr>
          <p:nvPr>
            <p:ph type="subTitle" idx="4294967295"/>
          </p:nvPr>
        </p:nvSpPr>
        <p:spPr>
          <a:xfrm>
            <a:off x="713225" y="4632850"/>
            <a:ext cx="59280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000">
                <a:solidFill>
                  <a:srgbClr val="A5B7C6"/>
                </a:solidFill>
              </a:rPr>
              <a:t>Brett Allen | DATA 606 Capstone Proposal | UMBC, Fall 2026</a:t>
            </a:r>
            <a:endParaRPr sz="1000">
              <a:solidFill>
                <a:srgbClr val="A5B7C6"/>
              </a:solidFill>
            </a:endParaRPr>
          </a:p>
        </p:txBody>
      </p:sp>
      <p:pic>
        <p:nvPicPr>
          <p:cNvPr id="283" name="Google Shape;283;p38" title="duration_distribution_and_spread_by_sourc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19650" y="544966"/>
            <a:ext cx="4405200" cy="160505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4" name="Google Shape;284;p38" title="waveform_and_mel_spectrogram_by_sourc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19650" y="2193391"/>
            <a:ext cx="4405200" cy="2156639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05. Modeling Plan &amp; Next Steps</a:t>
            </a:r>
            <a:endParaRPr/>
          </a:p>
        </p:txBody>
      </p:sp>
      <p:sp>
        <p:nvSpPr>
          <p:cNvPr id="290" name="Google Shape;290;p39"/>
          <p:cNvSpPr txBox="1">
            <a:spLocks noGrp="1"/>
          </p:cNvSpPr>
          <p:nvPr>
            <p:ph type="subTitle" idx="2"/>
          </p:nvPr>
        </p:nvSpPr>
        <p:spPr>
          <a:xfrm>
            <a:off x="720000" y="1102525"/>
            <a:ext cx="7545300" cy="180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2100" algn="l" rtl="0">
              <a:spcBef>
                <a:spcPts val="1200"/>
              </a:spcBef>
              <a:spcAft>
                <a:spcPts val="0"/>
              </a:spcAft>
              <a:buSzPts val="1000"/>
              <a:buChar char="●"/>
            </a:pPr>
            <a:r>
              <a:rPr lang="en" sz="900" b="1" dirty="0">
                <a:latin typeface="Lexend Deca"/>
                <a:ea typeface="Lexend Deca"/>
                <a:cs typeface="Lexend Deca"/>
                <a:sym typeface="Lexend Deca"/>
              </a:rPr>
              <a:t>Evaluation</a:t>
            </a:r>
            <a:r>
              <a:rPr lang="en" sz="900" b="1" dirty="0"/>
              <a:t>: Split WER/CER by dataset source to ensure ATCOSIM volume doesn't mask poor performance on challenging ATCO2-ASR audio.</a:t>
            </a:r>
            <a:br>
              <a:rPr lang="en" sz="900" b="1" dirty="0"/>
            </a:br>
            <a:endParaRPr sz="900" b="1" dirty="0"/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900" b="1" dirty="0">
                <a:latin typeface="Lexend Deca"/>
                <a:ea typeface="Lexend Deca"/>
                <a:cs typeface="Lexend Deca"/>
                <a:sym typeface="Lexend Deca"/>
              </a:rPr>
              <a:t>Workflow</a:t>
            </a:r>
            <a:r>
              <a:rPr lang="en" sz="900" b="1" dirty="0"/>
              <a:t>: Establish zero-shot baseline (e.g., Whisper/Wav2Vec2 at 16kHz), then fine-tune on ATCOSIM and adapt to ATCO2-ASR.</a:t>
            </a:r>
            <a:br>
              <a:rPr lang="en" sz="900" b="1" dirty="0"/>
            </a:br>
            <a:endParaRPr sz="900" b="1" dirty="0"/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900" b="1" dirty="0">
                <a:latin typeface="Lexend Deca"/>
                <a:ea typeface="Lexend Deca"/>
                <a:cs typeface="Lexend Deca"/>
                <a:sym typeface="Lexend Deca"/>
              </a:rPr>
              <a:t>Data Prep</a:t>
            </a:r>
            <a:r>
              <a:rPr lang="en" sz="900" b="1" dirty="0"/>
              <a:t>: Filter/flag sub-0.5s clips and perform a corpus-wide clipping-artifact scan (in addition to further feature engineering).</a:t>
            </a:r>
            <a:br>
              <a:rPr lang="en" sz="900" b="1" dirty="0"/>
            </a:br>
            <a:endParaRPr sz="900" b="1" dirty="0"/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900" b="1" dirty="0">
                <a:latin typeface="Lexend Deca"/>
                <a:ea typeface="Lexend Deca"/>
                <a:cs typeface="Lexend Deca"/>
                <a:sym typeface="Lexend Deca"/>
              </a:rPr>
              <a:t>Parallel Tasks</a:t>
            </a:r>
            <a:r>
              <a:rPr lang="en" sz="900" b="1" dirty="0"/>
              <a:t>: Develop rule-based NER baseline (RQ2) and conduct WER-vs-characteristics analysis (RQ3).</a:t>
            </a:r>
            <a:br>
              <a:rPr lang="en" sz="900" b="1" dirty="0"/>
            </a:br>
            <a:endParaRPr sz="900" b="1" dirty="0"/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900" b="1" dirty="0">
                <a:latin typeface="Lexend Deca"/>
                <a:ea typeface="Lexend Deca"/>
                <a:cs typeface="Lexend Deca"/>
                <a:sym typeface="Lexend Deca"/>
              </a:rPr>
              <a:t>Milestones</a:t>
            </a:r>
            <a:r>
              <a:rPr lang="en" sz="900" b="1" dirty="0"/>
              <a:t>: Baseline eval, fine-tuning, RQ2/RQ3 analysis, and final writeup/prototype demo.</a:t>
            </a:r>
            <a:endParaRPr sz="900" b="1" dirty="0"/>
          </a:p>
        </p:txBody>
      </p:sp>
      <p:sp>
        <p:nvSpPr>
          <p:cNvPr id="291" name="Google Shape;291;p39"/>
          <p:cNvSpPr txBox="1">
            <a:spLocks noGrp="1"/>
          </p:cNvSpPr>
          <p:nvPr>
            <p:ph type="subTitle" idx="4294967295"/>
          </p:nvPr>
        </p:nvSpPr>
        <p:spPr>
          <a:xfrm>
            <a:off x="713225" y="4632850"/>
            <a:ext cx="59280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000">
                <a:solidFill>
                  <a:srgbClr val="A5B7C6"/>
                </a:solidFill>
              </a:rPr>
              <a:t>Brett Allen | DATA 606 Capstone Proposal | UMBC, Fall 2026</a:t>
            </a:r>
            <a:endParaRPr sz="1000">
              <a:solidFill>
                <a:srgbClr val="A5B7C6"/>
              </a:solidFill>
            </a:endParaRPr>
          </a:p>
        </p:txBody>
      </p:sp>
      <p:pic>
        <p:nvPicPr>
          <p:cNvPr id="292" name="Google Shape;292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2372" y="3089564"/>
            <a:ext cx="5299256" cy="14475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0"/>
          <p:cNvSpPr txBox="1">
            <a:spLocks noGrp="1"/>
          </p:cNvSpPr>
          <p:nvPr>
            <p:ph type="title"/>
          </p:nvPr>
        </p:nvSpPr>
        <p:spPr>
          <a:xfrm>
            <a:off x="713225" y="54000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pic>
        <p:nvPicPr>
          <p:cNvPr id="298" name="Google Shape;298;p40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16759" r="16765"/>
          <a:stretch/>
        </p:blipFill>
        <p:spPr>
          <a:xfrm>
            <a:off x="5724790" y="0"/>
            <a:ext cx="341931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40"/>
          <p:cNvSpPr/>
          <p:nvPr/>
        </p:nvSpPr>
        <p:spPr>
          <a:xfrm>
            <a:off x="5648240" y="3350"/>
            <a:ext cx="2727300" cy="51435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384957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40"/>
          <p:cNvSpPr/>
          <p:nvPr/>
        </p:nvSpPr>
        <p:spPr>
          <a:xfrm>
            <a:off x="5524650" y="3350"/>
            <a:ext cx="900600" cy="51435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384957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01" name="Google Shape;301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8165525" y="4471375"/>
            <a:ext cx="265251" cy="26525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2" name="Google Shape;302;p40"/>
          <p:cNvCxnSpPr>
            <a:stCxn id="301" idx="2"/>
          </p:cNvCxnSpPr>
          <p:nvPr/>
        </p:nvCxnSpPr>
        <p:spPr>
          <a:xfrm rot="10800000">
            <a:off x="1925" y="4604000"/>
            <a:ext cx="8163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3" name="Google Shape;303;p40"/>
          <p:cNvSpPr txBox="1">
            <a:spLocks noGrp="1"/>
          </p:cNvSpPr>
          <p:nvPr>
            <p:ph type="subTitle" idx="4294967295"/>
          </p:nvPr>
        </p:nvSpPr>
        <p:spPr>
          <a:xfrm>
            <a:off x="713225" y="4632850"/>
            <a:ext cx="59280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000">
                <a:solidFill>
                  <a:srgbClr val="A5B7C6"/>
                </a:solidFill>
              </a:rPr>
              <a:t>Brett Allen | DATA 606 Capstone Proposal | UMBC, Fall 2026</a:t>
            </a:r>
            <a:endParaRPr sz="1000">
              <a:solidFill>
                <a:srgbClr val="A5B7C6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lane Flying in the Sky by Slidesgo">
  <a:themeElements>
    <a:clrScheme name="Simple Light">
      <a:dk1>
        <a:srgbClr val="FFFFFF"/>
      </a:dk1>
      <a:lt1>
        <a:srgbClr val="384957"/>
      </a:lt1>
      <a:dk2>
        <a:srgbClr val="DBEEF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840</Words>
  <Application>Microsoft Office PowerPoint</Application>
  <PresentationFormat>On-screen Show (16:9)</PresentationFormat>
  <Paragraphs>64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Alata</vt:lpstr>
      <vt:lpstr>Nunito Light</vt:lpstr>
      <vt:lpstr>Anaheim</vt:lpstr>
      <vt:lpstr>Lexend Deca Light</vt:lpstr>
      <vt:lpstr>PT Sans</vt:lpstr>
      <vt:lpstr>Lexend Deca</vt:lpstr>
      <vt:lpstr>Arial</vt:lpstr>
      <vt:lpstr>Bebas Neue</vt:lpstr>
      <vt:lpstr>Plane Flying in the Sky by Slidesgo</vt:lpstr>
      <vt:lpstr>ATC Communication Intelligence</vt:lpstr>
      <vt:lpstr>Proposal Contents</vt:lpstr>
      <vt:lpstr>01. Why This Matters</vt:lpstr>
      <vt:lpstr>02. Research Questions</vt:lpstr>
      <vt:lpstr>03. The Data</vt:lpstr>
      <vt:lpstr>04. Preliminary EDA</vt:lpstr>
      <vt:lpstr>05. Modeling Plan &amp; Next Steps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Allen, Brett M-CTR (FAA)</cp:lastModifiedBy>
  <cp:revision>1</cp:revision>
  <dcterms:modified xsi:type="dcterms:W3CDTF">2026-09-10T18:13:23Z</dcterms:modified>
</cp:coreProperties>
</file>